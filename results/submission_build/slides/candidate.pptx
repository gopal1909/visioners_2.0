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8.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b0148a85c64910" /><Relationship Type="http://schemas.openxmlformats.org/officeDocument/2006/relationships/extended-properties" Target="/docProps/app.xml" Id="R775d53445fd54b1a" /><Relationship Type="http://schemas.openxmlformats.org/officeDocument/2006/relationships/officeDocument" Target="/ppt/presentation.xml" Id="Rff5fb5eb38714daa" /></Relationships>
</file>

<file path=ppt/presentation.xml><?xml version="1.0" encoding="utf-8"?>
<p:presentation xmlns:p="http://schemas.openxmlformats.org/presentationml/2006/main">
  <p:sldMasterIdLst>
    <p:sldMasterId xmlns:r="http://schemas.openxmlformats.org/officeDocument/2006/relationships" id="2147483648" r:id="R7ded941d040245ea"/>
  </p:sldMasterIdLst>
  <p:notesMasterIdLst>
    <p:notesMasterId xmlns:r="http://schemas.openxmlformats.org/officeDocument/2006/relationships" r:id="R96ffd3fa1c0c450a"/>
  </p:notesMasterIdLst>
  <p:sldIdLst>
    <p:sldId xmlns:r="http://schemas.openxmlformats.org/officeDocument/2006/relationships" id="256" r:id="R5158505c900b4e41"/>
    <p:sldId xmlns:r="http://schemas.openxmlformats.org/officeDocument/2006/relationships" id="257" r:id="Rcc8927b2ff8447be"/>
    <p:sldId xmlns:r="http://schemas.openxmlformats.org/officeDocument/2006/relationships" id="258" r:id="Rb0d5c4dd7f304bc7"/>
    <p:sldId xmlns:r="http://schemas.openxmlformats.org/officeDocument/2006/relationships" id="259" r:id="R64702fa45a5a4a9e"/>
    <p:sldId xmlns:r="http://schemas.openxmlformats.org/officeDocument/2006/relationships" id="260" r:id="R9f9e4288f6e04777"/>
    <p:sldId xmlns:r="http://schemas.openxmlformats.org/officeDocument/2006/relationships" id="261" r:id="R7c5cf306f03e4741"/>
    <p:sldId xmlns:r="http://schemas.openxmlformats.org/officeDocument/2006/relationships" id="262" r:id="Ra6abe1a2317b403f"/>
    <p:sldId xmlns:r="http://schemas.openxmlformats.org/officeDocument/2006/relationships" id="263" r:id="R7fc8b5379f2a4cd7"/>
    <p:sldId xmlns:r="http://schemas.openxmlformats.org/officeDocument/2006/relationships" id="264" r:id="R7d6b90e8e5484ecd"/>
    <p:sldId xmlns:r="http://schemas.openxmlformats.org/officeDocument/2006/relationships" id="265" r:id="Rd24f3a6a63834622"/>
    <p:sldId xmlns:r="http://schemas.openxmlformats.org/officeDocument/2006/relationships" id="266" r:id="R0dddaaed38d643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cebea3c5934bc8" /><Relationship Type="http://schemas.openxmlformats.org/officeDocument/2006/relationships/slideMaster" Target="/ppt/slideMasters/slideMaster1.xml" Id="R7ded941d040245ea" /><Relationship Type="http://schemas.openxmlformats.org/officeDocument/2006/relationships/notesMaster" Target="/ppt/notesMasters/notesMaster1.xml" Id="R96ffd3fa1c0c450a" /><Relationship Type="http://schemas.openxmlformats.org/officeDocument/2006/relationships/presProps" Target="/ppt/presProps.xml" Id="R92ad40b41eac49f3" /><Relationship Type="http://schemas.openxmlformats.org/officeDocument/2006/relationships/tableStyles" Target="/ppt/tableStyles.xml" Id="R950089f4f9474abe" /><Relationship Type="http://schemas.openxmlformats.org/officeDocument/2006/relationships/slide" Target="/ppt/slides/slide1.xml" Id="R5158505c900b4e41" /><Relationship Type="http://schemas.openxmlformats.org/officeDocument/2006/relationships/slide" Target="/ppt/slides/slide2.xml" Id="Rcc8927b2ff8447be" /><Relationship Type="http://schemas.openxmlformats.org/officeDocument/2006/relationships/slide" Target="/ppt/slides/slide3.xml" Id="Rb0d5c4dd7f304bc7" /><Relationship Type="http://schemas.openxmlformats.org/officeDocument/2006/relationships/slide" Target="/ppt/slides/slide4.xml" Id="R64702fa45a5a4a9e" /><Relationship Type="http://schemas.openxmlformats.org/officeDocument/2006/relationships/slide" Target="/ppt/slides/slide5.xml" Id="R9f9e4288f6e04777" /><Relationship Type="http://schemas.openxmlformats.org/officeDocument/2006/relationships/slide" Target="/ppt/slides/slide6.xml" Id="R7c5cf306f03e4741" /><Relationship Type="http://schemas.openxmlformats.org/officeDocument/2006/relationships/slide" Target="/ppt/slides/slide7.xml" Id="Ra6abe1a2317b403f" /><Relationship Type="http://schemas.openxmlformats.org/officeDocument/2006/relationships/slide" Target="/ppt/slides/slide8.xml" Id="R7fc8b5379f2a4cd7" /><Relationship Type="http://schemas.openxmlformats.org/officeDocument/2006/relationships/slide" Target="/ppt/slides/slide9.xml" Id="R7d6b90e8e5484ecd" /><Relationship Type="http://schemas.openxmlformats.org/officeDocument/2006/relationships/slide" Target="/ppt/slides/slide10.xml" Id="Rd24f3a6a63834622" /><Relationship Type="http://schemas.openxmlformats.org/officeDocument/2006/relationships/slide" Target="/ppt/slides/slide11.xml" Id="R0dddaaed38d643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991b213f75144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03651f2e5c4a05" /><Relationship Type="http://schemas.openxmlformats.org/officeDocument/2006/relationships/notesMaster" Target="/ppt/notesMasters/notesMaster1.xml" Id="Re89b2e8729174d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4c1abbdd30409f" /><Relationship Type="http://schemas.openxmlformats.org/officeDocument/2006/relationships/notesMaster" Target="/ppt/notesMasters/notesMaster1.xml" Id="R3decbf60ff8747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597b6335854eff" /><Relationship Type="http://schemas.openxmlformats.org/officeDocument/2006/relationships/notesMaster" Target="/ppt/notesMasters/notesMaster1.xml" Id="R5153efde9a2942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c2dd03674e4108" /><Relationship Type="http://schemas.openxmlformats.org/officeDocument/2006/relationships/notesMaster" Target="/ppt/notesMasters/notesMaster1.xml" Id="R7b27df27870149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a93c38ca134d8f" /><Relationship Type="http://schemas.openxmlformats.org/officeDocument/2006/relationships/notesMaster" Target="/ppt/notesMasters/notesMaster1.xml" Id="R62a814c1d8b94c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10c1f22f6004696" /><Relationship Type="http://schemas.openxmlformats.org/officeDocument/2006/relationships/notesMaster" Target="/ppt/notesMasters/notesMaster1.xml" Id="Recc6284309e343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23664322c548ca" /><Relationship Type="http://schemas.openxmlformats.org/officeDocument/2006/relationships/notesMaster" Target="/ppt/notesMasters/notesMaster1.xml" Id="Ra6dbda896c30401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2e322bcb164dfd" /><Relationship Type="http://schemas.openxmlformats.org/officeDocument/2006/relationships/notesMaster" Target="/ppt/notesMasters/notesMaster1.xml" Id="Rcfba573b455446a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277cbcbe4ce4bf2" /><Relationship Type="http://schemas.openxmlformats.org/officeDocument/2006/relationships/notesMaster" Target="/ppt/notesMasters/notesMaster1.xml" Id="R837fbf8d22844e8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df6cd9346c74541" /><Relationship Type="http://schemas.openxmlformats.org/officeDocument/2006/relationships/notesMaster" Target="/ppt/notesMasters/notesMaster1.xml" Id="R36e6e815dc9e49f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88b44491b384462" /><Relationship Type="http://schemas.openxmlformats.org/officeDocument/2006/relationships/notesMaster" Target="/ppt/notesMasters/notesMaster1.xml" Id="R65091e1b5eef4b5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Vishwanath Venugopal; 20 seconds.</a:t>
            </a:r>
          </a:p>
          <a:p xmlns:a="http://schemas.openxmlformats.org/drawingml/2006/main">
            <a:r>
              <a:t>Our project compares geometric and learned ways to locate additions and removals in repeated construction scans. We focus on controlled robustness, fair evaluation and explicit unsupported areas. The picture shows actual labelled original cores from Bike Parking Construction. We make no claim that a geometric discrepancy proves progress or structural completion.</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User proposal Robust_3D_Change_Detection_v2.pdf; artifacts/historical_pilot/primary_comparison.csv; https://3dom-fbk.github.io/multichange3d/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Vishwanath Venugopal; 35 seconds.</a:t>
            </a:r>
          </a:p>
          <a:p xmlns:a="http://schemas.openxmlformats.org/drawingml/2006/main">
            <a:r>
              <a:t>All quantitative results use MultiChange3D Bike Parking Construction pair 01, about 4.44 and 5.09 million points. The binary field is unchanged zero or changed one in each epoch. A changed earlier point means removed, and a changed later point means added. We verified the official label preparation and classical binary metric code. ConSLAM has no verified per-point change labels here. Its scans and poses provide qualitative context only. Additional official download links redirected to sign-in, so this submission contains no cross-pair or cross-scene experiment.</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artifacts/dataset_manifest.json; artifacts/data_sources_and_access.md; https://github.com/3DOM-FBK/multichange3d/blob/main/scripts/prepare_gt_labels.py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Vishwanath Venugopal; 65 seconds.</a:t>
            </a:r>
          </a:p>
          <a:p xmlns:a="http://schemas.openxmlformats.org/drawingml/2006/main">
            <a:r>
              <a:t>C2C uses Euclidean nearest-neighbour distance above 7.5 centimetres, fixed from the historical same-pair sweep. M3C2-style estimates source normals at 10, 20 and 40 centimetre radii, then compares two projected neighbourhood means in the same 10 centimetre radius cylinder of half-length one metre. At least ten projected points per epoch and stable normals are required; otherwise it abstains. We checked the population spread and registration-term placement against CloudCompare v2.13.2 source, but did not validate output equivalence. Our learned baseline shares a point MLP between paired 128-point patches, pools geometry and combines it with an NN prior. Ground-truth labels enter supervision only.</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artifacts/geometry_frozen.json; artifacts/learned/model_config.json; artifacts/historical_pilot/reference_conventions.json; https://arxiv.org/abs/1302.1183; https://arxiv.org/abs/1612.00593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Vishwanath Venugopal; 55 seconds.</a:t>
            </a:r>
          </a:p>
          <a:p xmlns:a="http://schemas.openxmlformats.org/drawingml/2006/main">
            <a:r>
              <a:t>We define these X regions using geometry, with 2.22 metre gaps. The gap exceeds twice the largest clean geometric support halo, so clean train, calibration and test patches do not share neighbourhood support. Both acquisition epochs occur in every split, which means this is a same-scene spatial holdout for the learned model, not cross-scene generalization. We sample original indices across occupied two-metre tiles and use complete clouds for geometric support. Sparse tiles therefore get relatively more weight. Calibration diagnostics freeze geometry before new test and stress scoring. Historical full-pair C2C threshold selection and the earlier exploratory pilot remain disclosed sources of test exposure.</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artifacts/split_config.json; artifacts/geometry_frozen.json; artifacts/spatial_points.json; 220 displayed original Scan 0 cores per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Vishwanath Venugopal; 65 seconds.</a:t>
            </a:r>
          </a:p>
          <a:p xmlns:a="http://schemas.openxmlformats.org/drawingml/2006/main">
            <a:r>
              <a:t>All three methods use the exact same valid original indices here: 5,350 of the requested 8,000 directional observations. C2C macro F1 is 0.4118, the learned baseline 0.3817, and M3C2-style 0.2342. M3C2 abstains on 33.125 percent. C2C and learned predictions have no detector abstentions; they are masked here for fairness, and their all-core scores are retained separately. These are lower than the earlier whole-scene pilot because the spatial region and sampled class mix differ. Only 27 removal and 86 addition labels remain after validity filtering, so recall is strongly conditional. We preserve the negative finding rather than promote a more favorable sweep row.</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artifacts/primary_comparison.csv; artifacts/all_spatial_test_metrics.csv; historical full-pair values are in a separate scope in artifacts/all_evaluated_results.csv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Shaik Koduru Asif; 50 seconds.</a:t>
            </a:r>
          </a:p>
          <a:p xmlns:a="http://schemas.openxmlformats.org/drawingml/2006/main">
            <a:r>
              <a:t>These are one-sided simulated shifts and rotations of Scan 1, with exact Stage 3 seed and directions. All method settings stay fixed. The smaller perturbation can improve scores for C2C or the learned network in this particular direction, so there is no monotonic or universal benefit from misalignment. At 20 centimetres, the longitudinal comparison on identical clean/current valid cores gives macro-F1 changes of about minus 0.105 for C2C, minus 0.139 for M3C2 and minus 0.045 for the learned network. Each severity uses a saved original-index mapping. The report gives both condition-specific scores and matched clean deltas.</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artifacts/presentation_metrics.json; artifacts/matched_clean_deltas.csv; artifacts/perturbation_geometry.json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Shaik Koduru Asif; 50 seconds.</a:t>
            </a:r>
          </a:p>
          <a:p xmlns:a="http://schemas.openxmlformats.org/drawingml/2006/main">
            <a:r>
              <a:t>Sparsity retains exactly the same seeded subset for every method, and evaluation keeps only retained Scan 1 cores. Noise is independent Gaussian displacement per coordinate. The model was trained on clean data only. M3C2 coverage falls sharply under severe noise, so a valid-only score can hide difficult abstentions. Our matched-clean table intersects clean and current validity to separate some support effects from actual prediction changes. On 10 percent retention, the learned model loses roughly 0.096 macro F1 on that longitudinal support, while the corresponding C2C change is around minus 0.005. Those observations are single realizations with changing class counts, not a universal robustness ordering.</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artifacts/matched_condition_metrics.csv; artifacts/matched_clean_deltas.csv; artifacts/coverage.png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Shaik Koduru Asif; 40 seconds.</a:t>
            </a:r>
          </a:p>
          <a:p xmlns:a="http://schemas.openxmlformats.org/drawingml/2006/main">
            <a:r>
              <a:t>The main spatial-test stripe happens to be outside both planned deletion cylinders. Its unchanged scores cannot establish occlusion robustness. We therefore add a separately labelled geometric supplement on the original whole-scene pilot indices. Strict protocol A retains all requested earlier-scan cores. Protocol B excludes cores inside the known synthetic blind cylinder; it changes evaluation support, not the detector. At radius 7.6 metres, M3C2 coverage is about 52 percent in A and 67 percent in B. Missing counterparts remain unknown, not confirmed physical removals. We do not evaluate the learned model on training-region supplement cores and call it a held-out result.</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artifacts/occlusion_supplement/geometry_metrics.csv; artifacts/occlusion_supplement/geometry_frozen.json; all-scene geometric supplement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Shaik Koduru Asif; 35 seconds.</a:t>
            </a:r>
          </a:p>
          <a:p xmlns:a="http://schemas.openxmlformats.org/drawingml/2006/main">
            <a:r>
              <a:t>We trained one small architecture for 30 predetermined epochs. Calibration loss, not test performance, selected the first epoch, and calibration F1 selected the 0.7 threshold. Training loss declines while calibration loss worsens. Calibration macro F1 is about 0.765 versus 0.394 on spatial test when both use all requested cores. The three-method common-support test score is separately 0.382. The model never receives change labels as input or absolute coordinates, but a single-scene split still shifts geometry and class balance. This compact baseline does not reproduce Siamese KPConv or characterize all learning methods.</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artifacts/learned/training_history.csv; artifacts/learned/model_frozen.json; artifacts/learned/model_config.json; artifacts/primary_comparison.csv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Shaik Koduru Asif; 35 seconds.</a:t>
            </a:r>
          </a:p>
          <a:p xmlns:a="http://schemas.openxmlformats.org/drawingml/2006/main">
            <a:r>
              <a:t>We reuse local Sequence 3 LiDAR, normalized poses and a bounded TLS sample. Only 520 available pose timestamps match the 6,014 LiDAR files exactly. We show the first two matched frames, 4.84 seconds apart, using the supplied poses. Median sampled proximity falls from 0.395 metres before pose application to 0.081 afterwards. That is neither a registration RMS nor change-detection accuracy. The frames belong to one acquisition sequence, and we did not verify a common frame against TLS. Therefore this supports qualitative discussion of alignment and coverage, not a monthly construction-change or progress claim.</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artifacts/conslam/inspection.json; https://www.repository.cam.ac.uk/items/693c260b-e145-4f01-ad88-d2031e4c0590; https://github.com/mac137/ConSLAM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Shaik Koduru Asif; 30 seconds.</a:t>
            </a:r>
          </a:p>
          <a:p xmlns:a="http://schemas.openxmlformats.org/drawingml/2006/main">
            <a:r>
              <a:t>C2C remains the strongest clean method on the matched spatial region. M3C2-style passes geometry tests but has many false positives and unknowns. The compact learned model is feasible on the laptop but exhibits a large spatial validation gap. Our strongest contribution is fair support-aware robustness analysis and an auditable negative result. Limitations include one scene and pair, one seed, historical threshold exposure, uncalibrated registration uncertainty and no independent M3C2 reference-output comparison. The offline demo runs live synthetic geometry and lets you rotate saved measured predictions. Geometry localizes candidate changes; semantic and BIM evidence would be needed to infer completed work or schedule status.</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artifacts/submission_data.json; report/project_report.pdf; README.md; demo uses saved real measurements plus live synthetic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123c3c98f9492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8b7962628b419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7185c02dda94b4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09a17b5213a4a9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fd3db5e274d4e8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9d1d297a79146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EB5945-1D6F-496E-9E96-E736D1FCBD8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1EE0A2-7B1D-48A1-9561-805067555FF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01CF26F-AF79-4546-A2DD-09C13211C4E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AA6D12-23BC-404E-809A-456ECC1DEB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7FE307D-E9AE-43D9-9500-66C858231F1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26EF705-7EAD-4862-9A46-7968D4B9F4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167844-3215-4EE8-A008-EE7A64FE947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3F5BCD8-57E8-4448-9147-FE84CE123A2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A9A39E-4591-4815-88E3-052B28F3EA8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8267BC-5769-485E-B984-803E33C9817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3528f4c9494b37" /><Relationship Type="http://schemas.openxmlformats.org/officeDocument/2006/relationships/slideLayout" Target="/ppt/slideLayouts/slideLayout1.xml" Id="R120ac76e709e4c1b" /><Relationship Type="http://schemas.openxmlformats.org/officeDocument/2006/relationships/slideLayout" Target="/ppt/slideLayouts/slideLayout2.xml" Id="R74e0ff8e76ec4b39" /><Relationship Type="http://schemas.openxmlformats.org/officeDocument/2006/relationships/slideLayout" Target="/ppt/slideLayouts/slideLayout3.xml" Id="R43456f4f28f04581" /><Relationship Type="http://schemas.openxmlformats.org/officeDocument/2006/relationships/slideLayout" Target="/ppt/slideLayouts/slideLayout4.xml" Id="R806f277666ff4027" /><Relationship Type="http://schemas.openxmlformats.org/officeDocument/2006/relationships/slideLayout" Target="/ppt/slideLayouts/slideLayout5.xml" Id="R083979ecc5d345aa" /><Relationship Type="http://schemas.openxmlformats.org/officeDocument/2006/relationships/slideLayout" Target="/ppt/slideLayouts/slideLayout6.xml" Id="Rccd73f903a174f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0ac76e709e4c1b"/>
    <p:sldLayoutId xmlns:r="http://schemas.openxmlformats.org/officeDocument/2006/relationships" id="2147483650" r:id="R74e0ff8e76ec4b39"/>
    <p:sldLayoutId xmlns:r="http://schemas.openxmlformats.org/officeDocument/2006/relationships" id="2147483651" r:id="R43456f4f28f04581"/>
    <p:sldLayoutId xmlns:r="http://schemas.openxmlformats.org/officeDocument/2006/relationships" id="2147483652" r:id="R806f277666ff4027"/>
    <p:sldLayoutId xmlns:r="http://schemas.openxmlformats.org/officeDocument/2006/relationships" id="2147483653" r:id="R083979ecc5d345aa"/>
    <p:sldLayoutId xmlns:r="http://schemas.openxmlformats.org/officeDocument/2006/relationships" id="2147483654" r:id="Rccd73f903a174f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e481cea1ef1407e" /><Relationship Type="http://schemas.openxmlformats.org/officeDocument/2006/relationships/image" Target="/ppt/media/image.png" Id="Rca98520865e6470a" /><Relationship Type="http://schemas.openxmlformats.org/officeDocument/2006/relationships/notesSlide" Target="/ppt/notesSlides/notesSlide1.xml" Id="Rd0c8efe85b1646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968e5a537fb4374" /><Relationship Type="http://schemas.openxmlformats.org/officeDocument/2006/relationships/notesSlide" Target="/ppt/notesSlides/notesSlide2.xml" Id="Rbae2ea4769224b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ceda939cfe04653" /><Relationship Type="http://schemas.openxmlformats.org/officeDocument/2006/relationships/notesSlide" Target="/ppt/notesSlides/notesSlide3.xml" Id="R10a2aea6aad349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cdb46c38ea94fdc" /><Relationship Type="http://schemas.openxmlformats.org/officeDocument/2006/relationships/chart" Target="/ppt/slides/charts/chart1.xml" Id="R4cdd979d443644a7" /><Relationship Type="http://schemas.openxmlformats.org/officeDocument/2006/relationships/notesSlide" Target="/ppt/notesSlides/notesSlide4.xml" Id="R00d40e7ba6d84f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c32314da0164350" /><Relationship Type="http://schemas.openxmlformats.org/officeDocument/2006/relationships/notesSlide" Target="/ppt/notesSlides/notesSlide5.xml" Id="R8c7b84901d2c48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ab29964712b4316" /><Relationship Type="http://schemas.openxmlformats.org/officeDocument/2006/relationships/chart" Target="/ppt/slides/charts/chart2.xml" Id="R762bb74692a94dc3" /><Relationship Type="http://schemas.openxmlformats.org/officeDocument/2006/relationships/chart" Target="/ppt/slides/charts/chart3.xml" Id="Rd20d9c02183343b0" /><Relationship Type="http://schemas.openxmlformats.org/officeDocument/2006/relationships/notesSlide" Target="/ppt/notesSlides/notesSlide6.xml" Id="R0f7ffadd60da4a6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828bc1312484dd8" /><Relationship Type="http://schemas.openxmlformats.org/officeDocument/2006/relationships/chart" Target="/ppt/slides/charts/chart4.xml" Id="R556d0ffdb9c74725" /><Relationship Type="http://schemas.openxmlformats.org/officeDocument/2006/relationships/chart" Target="/ppt/slides/charts/chart5.xml" Id="Race0b76bcc284ae8" /><Relationship Type="http://schemas.openxmlformats.org/officeDocument/2006/relationships/notesSlide" Target="/ppt/notesSlides/notesSlide7.xml" Id="Ra1805e9ce4a14f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72aa06df1a449f3" /><Relationship Type="http://schemas.openxmlformats.org/officeDocument/2006/relationships/chart" Target="/ppt/slides/charts/chart6.xml" Id="R437aefd0d9b0462b" /><Relationship Type="http://schemas.openxmlformats.org/officeDocument/2006/relationships/chart" Target="/ppt/slides/charts/chart7.xml" Id="R875e9299f17e43b5" /><Relationship Type="http://schemas.openxmlformats.org/officeDocument/2006/relationships/notesSlide" Target="/ppt/notesSlides/notesSlide8.xml" Id="Rffd0f069640840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a04df43515944bd" /><Relationship Type="http://schemas.openxmlformats.org/officeDocument/2006/relationships/chart" Target="/ppt/slides/charts/chart8.xml" Id="R3bb8b402e6cc4cbb" /><Relationship Type="http://schemas.openxmlformats.org/officeDocument/2006/relationships/notesSlide" Target="/ppt/notesSlides/notesSlide9.xml" Id="Rd405600301bc42d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475928dc1894abb" /><Relationship Type="http://schemas.openxmlformats.org/officeDocument/2006/relationships/image" Target="/ppt/media/image2.png" Id="R4803f17265e7405e" /><Relationship Type="http://schemas.openxmlformats.org/officeDocument/2006/relationships/notesSlide" Target="/ppt/notesSlides/notesSlide10.xml" Id="R42c41693f61345c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eb7630e47c8407b" /><Relationship Type="http://schemas.openxmlformats.org/officeDocument/2006/relationships/notesSlide" Target="/ppt/notesSlides/notesSlide11.xml" Id="R36ecbb7edc344fc8" /></Relationships>
</file>

<file path=ppt/slides/charts/chart1.xml><?xml version="1.0" encoding="utf-8"?>
<c:chartSpace xmlns:c="http://schemas.openxmlformats.org/drawingml/2006/chart">
  <c:lang val="en-US"/>
  <c:chart>
    <c:plotArea>
      <c:scatterChart>
        <c:scatterStyle val="marker"/>
        <c:varyColors val="0"/>
        <c:ser>
          <c:idx val="0"/>
          <c:order val="0"/>
          <c:tx>
            <c:v>train</c:v>
          </c:tx>
          <c:spPr>
            <a:solidFill xmlns:a="http://schemas.openxmlformats.org/drawingml/2006/main">
              <a:srgbClr val="2563EB"/>
            </a:solidFill>
            <a:ln xmlns:a="http://schemas.openxmlformats.org/drawingml/2006/main" w="0">
              <a:noFill/>
            </a:ln>
          </c:spPr>
          <c:marker>
            <c:symbol val="circle"/>
            <c:size val="4"/>
            <c:spPr>
              <a:solidFill xmlns:a="http://schemas.openxmlformats.org/drawingml/2006/main">
                <a:srgbClr val="2563EB"/>
              </a:solidFill>
            </c:spPr>
          </c:marker>
          <c:xVal>
            <c:numLit>
              <c:formatCode>General</c:formatCode>
              <c:ptCount val="220"/>
              <c:pt idx="0">
                <c:v>37.8988</c:v>
              </c:pt>
              <c:pt idx="1">
                <c:v>37.833</c:v>
              </c:pt>
              <c:pt idx="2">
                <c:v>37.852402</c:v>
              </c:pt>
              <c:pt idx="3">
                <c:v>37.836399</c:v>
              </c:pt>
              <c:pt idx="4">
                <c:v>37.8335</c:v>
              </c:pt>
              <c:pt idx="5">
                <c:v>37.8367</c:v>
              </c:pt>
              <c:pt idx="6">
                <c:v>37.8377</c:v>
              </c:pt>
              <c:pt idx="7">
                <c:v>37.867001</c:v>
              </c:pt>
              <c:pt idx="8">
                <c:v>39.876499</c:v>
              </c:pt>
              <c:pt idx="9">
                <c:v>39.889</c:v>
              </c:pt>
              <c:pt idx="10">
                <c:v>40.1399</c:v>
              </c:pt>
              <c:pt idx="11">
                <c:v>38.532101</c:v>
              </c:pt>
              <c:pt idx="12">
                <c:v>37.697498</c:v>
              </c:pt>
              <c:pt idx="13">
                <c:v>35.2654</c:v>
              </c:pt>
              <c:pt idx="14">
                <c:v>33.3116</c:v>
              </c:pt>
              <c:pt idx="15">
                <c:v>28.879601</c:v>
              </c:pt>
              <c:pt idx="16">
                <c:v>31.6283</c:v>
              </c:pt>
              <c:pt idx="17">
                <c:v>29.059601</c:v>
              </c:pt>
              <c:pt idx="18">
                <c:v>30.730499</c:v>
              </c:pt>
              <c:pt idx="19">
                <c:v>32.4035</c:v>
              </c:pt>
              <c:pt idx="20">
                <c:v>33.885899</c:v>
              </c:pt>
              <c:pt idx="21">
                <c:v>33.221401</c:v>
              </c:pt>
              <c:pt idx="22">
                <c:v>33.791199</c:v>
              </c:pt>
              <c:pt idx="23">
                <c:v>36.212101</c:v>
              </c:pt>
              <c:pt idx="24">
                <c:v>37.463402</c:v>
              </c:pt>
              <c:pt idx="25">
                <c:v>36.485901</c:v>
              </c:pt>
              <c:pt idx="26">
                <c:v>28.07</c:v>
              </c:pt>
              <c:pt idx="27">
                <c:v>29.475</c:v>
              </c:pt>
              <c:pt idx="28">
                <c:v>30.200199</c:v>
              </c:pt>
              <c:pt idx="29">
                <c:v>29.701401</c:v>
              </c:pt>
              <c:pt idx="30">
                <c:v>30.4652</c:v>
              </c:pt>
              <c:pt idx="31">
                <c:v>31.6763</c:v>
              </c:pt>
              <c:pt idx="32">
                <c:v>29.310301</c:v>
              </c:pt>
              <c:pt idx="33">
                <c:v>30.6509</c:v>
              </c:pt>
              <c:pt idx="34">
                <c:v>29.146099</c:v>
              </c:pt>
              <c:pt idx="35">
                <c:v>31.728701</c:v>
              </c:pt>
              <c:pt idx="36">
                <c:v>31.719601</c:v>
              </c:pt>
              <c:pt idx="37">
                <c:v>31.255699</c:v>
              </c:pt>
              <c:pt idx="38">
                <c:v>32.579399</c:v>
              </c:pt>
              <c:pt idx="39">
                <c:v>33.808998</c:v>
              </c:pt>
              <c:pt idx="40">
                <c:v>34.100498</c:v>
              </c:pt>
              <c:pt idx="41">
                <c:v>34.780899</c:v>
              </c:pt>
              <c:pt idx="42">
                <c:v>34.023499</c:v>
              </c:pt>
              <c:pt idx="43">
                <c:v>35.205898</c:v>
              </c:pt>
              <c:pt idx="44">
                <c:v>32.380001</c:v>
              </c:pt>
              <c:pt idx="45">
                <c:v>34.274899</c:v>
              </c:pt>
              <c:pt idx="46">
                <c:v>31.824499</c:v>
              </c:pt>
              <c:pt idx="47">
                <c:v>31.841101</c:v>
              </c:pt>
              <c:pt idx="48">
                <c:v>34.660301</c:v>
              </c:pt>
              <c:pt idx="49">
                <c:v>36.1455</c:v>
              </c:pt>
              <c:pt idx="50">
                <c:v>36.486698</c:v>
              </c:pt>
              <c:pt idx="51">
                <c:v>35.865002</c:v>
              </c:pt>
              <c:pt idx="52">
                <c:v>35.691002</c:v>
              </c:pt>
              <c:pt idx="53">
                <c:v>28.4163</c:v>
              </c:pt>
              <c:pt idx="54">
                <c:v>29.1945</c:v>
              </c:pt>
              <c:pt idx="55">
                <c:v>29.1026</c:v>
              </c:pt>
              <c:pt idx="56">
                <c:v>29.418699</c:v>
              </c:pt>
              <c:pt idx="57">
                <c:v>29.328699</c:v>
              </c:pt>
              <c:pt idx="58">
                <c:v>29.3099</c:v>
              </c:pt>
              <c:pt idx="59">
                <c:v>34.141602</c:v>
              </c:pt>
              <c:pt idx="60">
                <c:v>40.272598</c:v>
              </c:pt>
              <c:pt idx="61">
                <c:v>40.115002</c:v>
              </c:pt>
              <c:pt idx="62">
                <c:v>39.1567</c:v>
              </c:pt>
              <c:pt idx="63">
                <c:v>39.170799</c:v>
              </c:pt>
              <c:pt idx="64">
                <c:v>39.224499</c:v>
              </c:pt>
              <c:pt idx="65">
                <c:v>40.008598</c:v>
              </c:pt>
              <c:pt idx="66">
                <c:v>39.6726</c:v>
              </c:pt>
              <c:pt idx="67">
                <c:v>39.287998</c:v>
              </c:pt>
              <c:pt idx="68">
                <c:v>40.1045</c:v>
              </c:pt>
              <c:pt idx="69">
                <c:v>40.0825</c:v>
              </c:pt>
              <c:pt idx="70">
                <c:v>40.125702</c:v>
              </c:pt>
              <c:pt idx="71">
                <c:v>39.840099</c:v>
              </c:pt>
              <c:pt idx="72">
                <c:v>40.275902</c:v>
              </c:pt>
              <c:pt idx="73">
                <c:v>40.097599</c:v>
              </c:pt>
              <c:pt idx="74">
                <c:v>28.0189</c:v>
              </c:pt>
              <c:pt idx="75">
                <c:v>29.8503</c:v>
              </c:pt>
              <c:pt idx="76">
                <c:v>29.280199</c:v>
              </c:pt>
              <c:pt idx="77">
                <c:v>31.594299</c:v>
              </c:pt>
              <c:pt idx="78">
                <c:v>30.2178</c:v>
              </c:pt>
              <c:pt idx="79">
                <c:v>30.806999</c:v>
              </c:pt>
              <c:pt idx="80">
                <c:v>28.952499</c:v>
              </c:pt>
              <c:pt idx="81">
                <c:v>29.8421</c:v>
              </c:pt>
              <c:pt idx="82">
                <c:v>28.722601</c:v>
              </c:pt>
              <c:pt idx="83">
                <c:v>29.3563</c:v>
              </c:pt>
              <c:pt idx="84">
                <c:v>29.308001</c:v>
              </c:pt>
              <c:pt idx="85">
                <c:v>30.642099</c:v>
              </c:pt>
              <c:pt idx="86">
                <c:v>28.1028</c:v>
              </c:pt>
              <c:pt idx="87">
                <c:v>28.6483</c:v>
              </c:pt>
              <c:pt idx="88">
                <c:v>29.722401</c:v>
              </c:pt>
              <c:pt idx="89">
                <c:v>31.613001</c:v>
              </c:pt>
              <c:pt idx="90">
                <c:v>29.6262</c:v>
              </c:pt>
              <c:pt idx="91">
                <c:v>29.783899</c:v>
              </c:pt>
              <c:pt idx="92">
                <c:v>31.3979</c:v>
              </c:pt>
              <c:pt idx="93">
                <c:v>34.565201</c:v>
              </c:pt>
              <c:pt idx="94">
                <c:v>32.110802</c:v>
              </c:pt>
              <c:pt idx="95">
                <c:v>35.543499</c:v>
              </c:pt>
              <c:pt idx="96">
                <c:v>36.141701</c:v>
              </c:pt>
              <c:pt idx="97">
                <c:v>36.497501</c:v>
              </c:pt>
              <c:pt idx="98">
                <c:v>35.7061</c:v>
              </c:pt>
              <c:pt idx="99">
                <c:v>34.941799</c:v>
              </c:pt>
              <c:pt idx="100">
                <c:v>32.763699</c:v>
              </c:pt>
              <c:pt idx="101">
                <c:v>32.209599</c:v>
              </c:pt>
              <c:pt idx="102">
                <c:v>36.0788</c:v>
              </c:pt>
              <c:pt idx="103">
                <c:v>36.349899</c:v>
              </c:pt>
              <c:pt idx="104">
                <c:v>28.2131</c:v>
              </c:pt>
              <c:pt idx="105">
                <c:v>28.1194</c:v>
              </c:pt>
              <c:pt idx="106">
                <c:v>28.3953</c:v>
              </c:pt>
              <c:pt idx="107">
                <c:v>31.3307</c:v>
              </c:pt>
              <c:pt idx="108">
                <c:v>28.879</c:v>
              </c:pt>
              <c:pt idx="109">
                <c:v>29.0972</c:v>
              </c:pt>
              <c:pt idx="110">
                <c:v>29.5884</c:v>
              </c:pt>
              <c:pt idx="111">
                <c:v>30.1742</c:v>
              </c:pt>
              <c:pt idx="112">
                <c:v>30.7843</c:v>
              </c:pt>
              <c:pt idx="113">
                <c:v>30.7481</c:v>
              </c:pt>
              <c:pt idx="114">
                <c:v>31.294901</c:v>
              </c:pt>
              <c:pt idx="115">
                <c:v>31.530399</c:v>
              </c:pt>
              <c:pt idx="116">
                <c:v>31.698299</c:v>
              </c:pt>
              <c:pt idx="117">
                <c:v>33.105202</c:v>
              </c:pt>
              <c:pt idx="118">
                <c:v>33.382999</c:v>
              </c:pt>
              <c:pt idx="119">
                <c:v>31.778</c:v>
              </c:pt>
              <c:pt idx="120">
                <c:v>31.9547</c:v>
              </c:pt>
              <c:pt idx="121">
                <c:v>36.220501</c:v>
              </c:pt>
              <c:pt idx="122">
                <c:v>35.6021</c:v>
              </c:pt>
              <c:pt idx="123">
                <c:v>36.3871</c:v>
              </c:pt>
              <c:pt idx="124">
                <c:v>37.010899</c:v>
              </c:pt>
              <c:pt idx="125">
                <c:v>34.1143</c:v>
              </c:pt>
              <c:pt idx="126">
                <c:v>35.0009</c:v>
              </c:pt>
              <c:pt idx="127">
                <c:v>37.1222</c:v>
              </c:pt>
              <c:pt idx="128">
                <c:v>39.538502</c:v>
              </c:pt>
              <c:pt idx="129">
                <c:v>39.9151</c:v>
              </c:pt>
              <c:pt idx="130">
                <c:v>38.628799</c:v>
              </c:pt>
              <c:pt idx="131">
                <c:v>32.7342</c:v>
              </c:pt>
              <c:pt idx="132">
                <c:v>34.050701</c:v>
              </c:pt>
              <c:pt idx="133">
                <c:v>33.569401</c:v>
              </c:pt>
              <c:pt idx="134">
                <c:v>33.7962</c:v>
              </c:pt>
              <c:pt idx="135">
                <c:v>32.7659</c:v>
              </c:pt>
              <c:pt idx="136">
                <c:v>34.041698</c:v>
              </c:pt>
              <c:pt idx="137">
                <c:v>32.886799</c:v>
              </c:pt>
              <c:pt idx="138">
                <c:v>33.470299</c:v>
              </c:pt>
              <c:pt idx="139">
                <c:v>33.2384</c:v>
              </c:pt>
              <c:pt idx="140">
                <c:v>33.6073</c:v>
              </c:pt>
              <c:pt idx="141">
                <c:v>33.225601</c:v>
              </c:pt>
              <c:pt idx="142">
                <c:v>32.9473</c:v>
              </c:pt>
              <c:pt idx="143">
                <c:v>34.596001</c:v>
              </c:pt>
              <c:pt idx="144">
                <c:v>37.191601</c:v>
              </c:pt>
              <c:pt idx="145">
                <c:v>38.529099</c:v>
              </c:pt>
              <c:pt idx="146">
                <c:v>34.716301</c:v>
              </c:pt>
              <c:pt idx="147">
                <c:v>35.403702</c:v>
              </c:pt>
              <c:pt idx="148">
                <c:v>36.967899</c:v>
              </c:pt>
              <c:pt idx="149">
                <c:v>37.615101</c:v>
              </c:pt>
              <c:pt idx="150">
                <c:v>37.462299</c:v>
              </c:pt>
              <c:pt idx="151">
                <c:v>37.001301</c:v>
              </c:pt>
              <c:pt idx="152">
                <c:v>35.783699</c:v>
              </c:pt>
              <c:pt idx="153">
                <c:v>35.7967</c:v>
              </c:pt>
              <c:pt idx="154">
                <c:v>35.150501</c:v>
              </c:pt>
              <c:pt idx="155">
                <c:v>37.889999</c:v>
              </c:pt>
              <c:pt idx="156">
                <c:v>38.175201</c:v>
              </c:pt>
              <c:pt idx="157">
                <c:v>40.082802</c:v>
              </c:pt>
              <c:pt idx="158">
                <c:v>39.880299</c:v>
              </c:pt>
              <c:pt idx="159">
                <c:v>38.344601</c:v>
              </c:pt>
              <c:pt idx="160">
                <c:v>39.355598</c:v>
              </c:pt>
              <c:pt idx="161">
                <c:v>40.2645</c:v>
              </c:pt>
              <c:pt idx="162">
                <c:v>40.087898</c:v>
              </c:pt>
              <c:pt idx="163">
                <c:v>39.923801</c:v>
              </c:pt>
              <c:pt idx="164">
                <c:v>39.881401</c:v>
              </c:pt>
              <c:pt idx="165">
                <c:v>40</c:v>
              </c:pt>
              <c:pt idx="166">
                <c:v>39.923</c:v>
              </c:pt>
              <c:pt idx="167">
                <c:v>38.789799</c:v>
              </c:pt>
              <c:pt idx="168">
                <c:v>40.101299</c:v>
              </c:pt>
              <c:pt idx="169">
                <c:v>40.197498</c:v>
              </c:pt>
              <c:pt idx="170">
                <c:v>38.091202</c:v>
              </c:pt>
              <c:pt idx="171">
                <c:v>35.854801</c:v>
              </c:pt>
              <c:pt idx="172">
                <c:v>37.8088</c:v>
              </c:pt>
              <c:pt idx="173">
                <c:v>37.837502</c:v>
              </c:pt>
              <c:pt idx="174">
                <c:v>37.8125</c:v>
              </c:pt>
              <c:pt idx="175">
                <c:v>37.830299</c:v>
              </c:pt>
              <c:pt idx="176">
                <c:v>37.848</c:v>
              </c:pt>
              <c:pt idx="177">
                <c:v>38.508801</c:v>
              </c:pt>
              <c:pt idx="178">
                <c:v>38.767399</c:v>
              </c:pt>
              <c:pt idx="179">
                <c:v>39.947102</c:v>
              </c:pt>
              <c:pt idx="180">
                <c:v>40.138199</c:v>
              </c:pt>
              <c:pt idx="181">
                <c:v>38.948002</c:v>
              </c:pt>
              <c:pt idx="182">
                <c:v>40.117001</c:v>
              </c:pt>
              <c:pt idx="183">
                <c:v>40.184101</c:v>
              </c:pt>
              <c:pt idx="184">
                <c:v>40.177101</c:v>
              </c:pt>
              <c:pt idx="185">
                <c:v>37.523998</c:v>
              </c:pt>
              <c:pt idx="186">
                <c:v>40.003502</c:v>
              </c:pt>
              <c:pt idx="187">
                <c:v>40.0252</c:v>
              </c:pt>
              <c:pt idx="188">
                <c:v>39.9785</c:v>
              </c:pt>
              <c:pt idx="189">
                <c:v>39.747398</c:v>
              </c:pt>
              <c:pt idx="190">
                <c:v>40.216202</c:v>
              </c:pt>
              <c:pt idx="191">
                <c:v>39.9771</c:v>
              </c:pt>
              <c:pt idx="192">
                <c:v>40.074799</c:v>
              </c:pt>
              <c:pt idx="193">
                <c:v>40.277802</c:v>
              </c:pt>
              <c:pt idx="194">
                <c:v>39.879101</c:v>
              </c:pt>
              <c:pt idx="195">
                <c:v>33.110802</c:v>
              </c:pt>
              <c:pt idx="196">
                <c:v>33.067501</c:v>
              </c:pt>
              <c:pt idx="197">
                <c:v>32.966202</c:v>
              </c:pt>
              <c:pt idx="198">
                <c:v>32.984299</c:v>
              </c:pt>
              <c:pt idx="199">
                <c:v>33.147999</c:v>
              </c:pt>
              <c:pt idx="200">
                <c:v>33.277</c:v>
              </c:pt>
              <c:pt idx="201">
                <c:v>33.356098</c:v>
              </c:pt>
              <c:pt idx="202">
                <c:v>33.190701</c:v>
              </c:pt>
              <c:pt idx="203">
                <c:v>34.333401</c:v>
              </c:pt>
              <c:pt idx="204">
                <c:v>34.660301</c:v>
              </c:pt>
              <c:pt idx="205">
                <c:v>33.084999</c:v>
              </c:pt>
              <c:pt idx="206">
                <c:v>33.316399</c:v>
              </c:pt>
              <c:pt idx="207">
                <c:v>39.488602</c:v>
              </c:pt>
              <c:pt idx="208">
                <c:v>39.409599</c:v>
              </c:pt>
              <c:pt idx="209">
                <c:v>40.054901</c:v>
              </c:pt>
              <c:pt idx="210">
                <c:v>37.8428</c:v>
              </c:pt>
              <c:pt idx="211">
                <c:v>37.883598</c:v>
              </c:pt>
              <c:pt idx="212">
                <c:v>38.268398</c:v>
              </c:pt>
              <c:pt idx="213">
                <c:v>38.2938</c:v>
              </c:pt>
              <c:pt idx="214">
                <c:v>38.3078</c:v>
              </c:pt>
              <c:pt idx="215">
                <c:v>38.309502</c:v>
              </c:pt>
              <c:pt idx="216">
                <c:v>38.301201</c:v>
              </c:pt>
              <c:pt idx="217">
                <c:v>40.181099</c:v>
              </c:pt>
              <c:pt idx="218">
                <c:v>36.5112</c:v>
              </c:pt>
              <c:pt idx="219">
                <c:v>34.5443</c:v>
              </c:pt>
            </c:numLit>
          </c:xVal>
          <c:yVal>
            <c:numLit>
              <c:formatCode>General</c:formatCode>
              <c:ptCount val="220"/>
              <c:pt idx="0">
                <c:v>17.5033</c:v>
              </c:pt>
              <c:pt idx="1">
                <c:v>12.056</c:v>
              </c:pt>
              <c:pt idx="2">
                <c:v>12.6393</c:v>
              </c:pt>
              <c:pt idx="3">
                <c:v>13.6703</c:v>
              </c:pt>
              <c:pt idx="4">
                <c:v>14.2738</c:v>
              </c:pt>
              <c:pt idx="5">
                <c:v>14.5147</c:v>
              </c:pt>
              <c:pt idx="6">
                <c:v>15.1647</c:v>
              </c:pt>
              <c:pt idx="7">
                <c:v>15.3177</c:v>
              </c:pt>
              <c:pt idx="8">
                <c:v>13.43</c:v>
              </c:pt>
              <c:pt idx="9">
                <c:v>15.4544</c:v>
              </c:pt>
              <c:pt idx="10">
                <c:v>14.7149</c:v>
              </c:pt>
              <c:pt idx="11">
                <c:v>15.4494</c:v>
              </c:pt>
              <c:pt idx="12">
                <c:v>11.0259</c:v>
              </c:pt>
              <c:pt idx="13">
                <c:v>16.326799</c:v>
              </c:pt>
              <c:pt idx="14">
                <c:v>5.7243</c:v>
              </c:pt>
              <c:pt idx="15">
                <c:v>0.2285</c:v>
              </c:pt>
              <c:pt idx="16">
                <c:v>0.6585</c:v>
              </c:pt>
              <c:pt idx="17">
                <c:v>2.3865</c:v>
              </c:pt>
              <c:pt idx="18">
                <c:v>2.1044</c:v>
              </c:pt>
              <c:pt idx="19">
                <c:v>0.1341</c:v>
              </c:pt>
              <c:pt idx="20">
                <c:v>0.3579</c:v>
              </c:pt>
              <c:pt idx="21">
                <c:v>1.2571</c:v>
              </c:pt>
              <c:pt idx="22">
                <c:v>1.6541</c:v>
              </c:pt>
              <c:pt idx="23">
                <c:v>0.1272</c:v>
              </c:pt>
              <c:pt idx="24">
                <c:v>0.2042</c:v>
              </c:pt>
              <c:pt idx="25">
                <c:v>1.0983</c:v>
              </c:pt>
              <c:pt idx="26">
                <c:v>5.7216</c:v>
              </c:pt>
              <c:pt idx="27">
                <c:v>3.9855</c:v>
              </c:pt>
              <c:pt idx="28">
                <c:v>4.2198</c:v>
              </c:pt>
              <c:pt idx="29">
                <c:v>4.7423</c:v>
              </c:pt>
              <c:pt idx="30">
                <c:v>4.4896</c:v>
              </c:pt>
              <c:pt idx="31">
                <c:v>5.6204</c:v>
              </c:pt>
              <c:pt idx="32">
                <c:v>6.958</c:v>
              </c:pt>
              <c:pt idx="33">
                <c:v>6.7749</c:v>
              </c:pt>
              <c:pt idx="34">
                <c:v>8.0251</c:v>
              </c:pt>
              <c:pt idx="35">
                <c:v>7.8302</c:v>
              </c:pt>
              <c:pt idx="36">
                <c:v>8.3191</c:v>
              </c:pt>
              <c:pt idx="37">
                <c:v>7.6801</c:v>
              </c:pt>
              <c:pt idx="38">
                <c:v>3.3677</c:v>
              </c:pt>
              <c:pt idx="39">
                <c:v>3.1407</c:v>
              </c:pt>
              <c:pt idx="40">
                <c:v>4.1884</c:v>
              </c:pt>
              <c:pt idx="41">
                <c:v>4.5992</c:v>
              </c:pt>
              <c:pt idx="42">
                <c:v>4.6108</c:v>
              </c:pt>
              <c:pt idx="43">
                <c:v>4.6729</c:v>
              </c:pt>
              <c:pt idx="44">
                <c:v>6.6266</c:v>
              </c:pt>
              <c:pt idx="45">
                <c:v>6.0403</c:v>
              </c:pt>
              <c:pt idx="46">
                <c:v>7.9498</c:v>
              </c:pt>
              <c:pt idx="47">
                <c:v>8.0214</c:v>
              </c:pt>
              <c:pt idx="48">
                <c:v>8.7194</c:v>
              </c:pt>
              <c:pt idx="49">
                <c:v>7.3826</c:v>
              </c:pt>
              <c:pt idx="50">
                <c:v>8.8547</c:v>
              </c:pt>
              <c:pt idx="51">
                <c:v>6.1912</c:v>
              </c:pt>
              <c:pt idx="52">
                <c:v>9.0688</c:v>
              </c:pt>
              <c:pt idx="53">
                <c:v>8.3962</c:v>
              </c:pt>
              <c:pt idx="54">
                <c:v>7.9453</c:v>
              </c:pt>
              <c:pt idx="55">
                <c:v>8.202</c:v>
              </c:pt>
              <c:pt idx="56">
                <c:v>8.0168</c:v>
              </c:pt>
              <c:pt idx="57">
                <c:v>8.0231</c:v>
              </c:pt>
              <c:pt idx="58">
                <c:v>9.0093</c:v>
              </c:pt>
              <c:pt idx="59">
                <c:v>4.3144</c:v>
              </c:pt>
              <c:pt idx="60">
                <c:v>0.722</c:v>
              </c:pt>
              <c:pt idx="61">
                <c:v>0.8743</c:v>
              </c:pt>
              <c:pt idx="62">
                <c:v>2.3372</c:v>
              </c:pt>
              <c:pt idx="63">
                <c:v>2.1076</c:v>
              </c:pt>
              <c:pt idx="64">
                <c:v>2.5933</c:v>
              </c:pt>
              <c:pt idx="65">
                <c:v>1.3391</c:v>
              </c:pt>
              <c:pt idx="66">
                <c:v>1.663</c:v>
              </c:pt>
              <c:pt idx="67">
                <c:v>1.9959</c:v>
              </c:pt>
              <c:pt idx="68">
                <c:v>1.3224</c:v>
              </c:pt>
              <c:pt idx="69">
                <c:v>1.0994</c:v>
              </c:pt>
              <c:pt idx="70">
                <c:v>1.3342</c:v>
              </c:pt>
              <c:pt idx="71">
                <c:v>2.6753</c:v>
              </c:pt>
              <c:pt idx="72">
                <c:v>2.8911</c:v>
              </c:pt>
              <c:pt idx="73">
                <c:v>3.3005</c:v>
              </c:pt>
              <c:pt idx="74">
                <c:v>12.3209</c:v>
              </c:pt>
              <c:pt idx="75">
                <c:v>10.4461</c:v>
              </c:pt>
              <c:pt idx="76">
                <c:v>10.6011</c:v>
              </c:pt>
              <c:pt idx="77">
                <c:v>9.2436</c:v>
              </c:pt>
              <c:pt idx="78">
                <c:v>10.245</c:v>
              </c:pt>
              <c:pt idx="79">
                <c:v>10.4479</c:v>
              </c:pt>
              <c:pt idx="80">
                <c:v>11.2816</c:v>
              </c:pt>
              <c:pt idx="81">
                <c:v>11.2791</c:v>
              </c:pt>
              <c:pt idx="82">
                <c:v>12.0951</c:v>
              </c:pt>
              <c:pt idx="83">
                <c:v>11.9635</c:v>
              </c:pt>
              <c:pt idx="84">
                <c:v>10.9121</c:v>
              </c:pt>
              <c:pt idx="85">
                <c:v>11.9385</c:v>
              </c:pt>
              <c:pt idx="86">
                <c:v>12.8408</c:v>
              </c:pt>
              <c:pt idx="87">
                <c:v>13.2443</c:v>
              </c:pt>
              <c:pt idx="88">
                <c:v>13.4086</c:v>
              </c:pt>
              <c:pt idx="89">
                <c:v>13.0693</c:v>
              </c:pt>
              <c:pt idx="90">
                <c:v>14.5704</c:v>
              </c:pt>
              <c:pt idx="91">
                <c:v>15.4547</c:v>
              </c:pt>
              <c:pt idx="92">
                <c:v>15.2025</c:v>
              </c:pt>
              <c:pt idx="93">
                <c:v>11.8838</c:v>
              </c:pt>
              <c:pt idx="94">
                <c:v>11.6222</c:v>
              </c:pt>
              <c:pt idx="95">
                <c:v>9.8518</c:v>
              </c:pt>
              <c:pt idx="96">
                <c:v>10.6504</c:v>
              </c:pt>
              <c:pt idx="97">
                <c:v>11.3747</c:v>
              </c:pt>
              <c:pt idx="98">
                <c:v>12.078</c:v>
              </c:pt>
              <c:pt idx="99">
                <c:v>13.7516</c:v>
              </c:pt>
              <c:pt idx="100">
                <c:v>13.4525</c:v>
              </c:pt>
              <c:pt idx="101">
                <c:v>15.5993</c:v>
              </c:pt>
              <c:pt idx="102">
                <c:v>13.5187</c:v>
              </c:pt>
              <c:pt idx="103">
                <c:v>14.4388</c:v>
              </c:pt>
              <c:pt idx="104">
                <c:v>17.6863</c:v>
              </c:pt>
              <c:pt idx="105">
                <c:v>18.096701</c:v>
              </c:pt>
              <c:pt idx="106">
                <c:v>18.2022</c:v>
              </c:pt>
              <c:pt idx="107">
                <c:v>16.0798</c:v>
              </c:pt>
              <c:pt idx="108">
                <c:v>17.8234</c:v>
              </c:pt>
              <c:pt idx="109">
                <c:v>17.8894</c:v>
              </c:pt>
              <c:pt idx="110">
                <c:v>17.7805</c:v>
              </c:pt>
              <c:pt idx="111">
                <c:v>17.3908</c:v>
              </c:pt>
              <c:pt idx="112">
                <c:v>17.605801</c:v>
              </c:pt>
              <c:pt idx="113">
                <c:v>17.9737</c:v>
              </c:pt>
              <c:pt idx="114">
                <c:v>18.110399</c:v>
              </c:pt>
              <c:pt idx="115">
                <c:v>18.056101</c:v>
              </c:pt>
              <c:pt idx="116">
                <c:v>18.271601</c:v>
              </c:pt>
              <c:pt idx="117">
                <c:v>17.110201</c:v>
              </c:pt>
              <c:pt idx="118">
                <c:v>17.510799</c:v>
              </c:pt>
              <c:pt idx="119">
                <c:v>18.052999</c:v>
              </c:pt>
              <c:pt idx="120">
                <c:v>18.100201</c:v>
              </c:pt>
              <c:pt idx="121">
                <c:v>16.5518</c:v>
              </c:pt>
              <c:pt idx="122">
                <c:v>18.946199</c:v>
              </c:pt>
              <c:pt idx="123">
                <c:v>17.9361</c:v>
              </c:pt>
              <c:pt idx="124">
                <c:v>18.4457</c:v>
              </c:pt>
              <c:pt idx="125">
                <c:v>20.064199</c:v>
              </c:pt>
              <c:pt idx="126">
                <c:v>19.313101</c:v>
              </c:pt>
              <c:pt idx="127">
                <c:v>19.3612</c:v>
              </c:pt>
              <c:pt idx="128">
                <c:v>18.4942</c:v>
              </c:pt>
              <c:pt idx="129">
                <c:v>18.3962</c:v>
              </c:pt>
              <c:pt idx="130">
                <c:v>19.260799</c:v>
              </c:pt>
              <c:pt idx="131">
                <c:v>5.5408</c:v>
              </c:pt>
              <c:pt idx="132">
                <c:v>5.7282</c:v>
              </c:pt>
              <c:pt idx="133">
                <c:v>6.0209</c:v>
              </c:pt>
              <c:pt idx="134">
                <c:v>6.001</c:v>
              </c:pt>
              <c:pt idx="135">
                <c:v>7.8629</c:v>
              </c:pt>
              <c:pt idx="136">
                <c:v>11.8738</c:v>
              </c:pt>
              <c:pt idx="137">
                <c:v>11.3222</c:v>
              </c:pt>
              <c:pt idx="138">
                <c:v>14.613</c:v>
              </c:pt>
              <c:pt idx="139">
                <c:v>14.28</c:v>
              </c:pt>
              <c:pt idx="140">
                <c:v>20.0861</c:v>
              </c:pt>
              <c:pt idx="141">
                <c:v>6.3884</c:v>
              </c:pt>
              <c:pt idx="142">
                <c:v>11.1974</c:v>
              </c:pt>
              <c:pt idx="143">
                <c:v>16.9904</c:v>
              </c:pt>
              <c:pt idx="144">
                <c:v>15.989</c:v>
              </c:pt>
              <c:pt idx="145">
                <c:v>17.5611</c:v>
              </c:pt>
              <c:pt idx="146">
                <c:v>2.5495</c:v>
              </c:pt>
              <c:pt idx="147">
                <c:v>2.2259</c:v>
              </c:pt>
              <c:pt idx="148">
                <c:v>1.8162</c:v>
              </c:pt>
              <c:pt idx="149">
                <c:v>2.3117</c:v>
              </c:pt>
              <c:pt idx="150">
                <c:v>4.2177</c:v>
              </c:pt>
              <c:pt idx="151">
                <c:v>5.6757</c:v>
              </c:pt>
              <c:pt idx="152">
                <c:v>3.5493</c:v>
              </c:pt>
              <c:pt idx="153">
                <c:v>3.9776</c:v>
              </c:pt>
              <c:pt idx="154">
                <c:v>2.9894</c:v>
              </c:pt>
              <c:pt idx="155">
                <c:v>3.6558</c:v>
              </c:pt>
              <c:pt idx="156">
                <c:v>6.1142</c:v>
              </c:pt>
              <c:pt idx="157">
                <c:v>0.3923</c:v>
              </c:pt>
              <c:pt idx="158">
                <c:v>1.1345</c:v>
              </c:pt>
              <c:pt idx="159">
                <c:v>1.5495</c:v>
              </c:pt>
              <c:pt idx="160">
                <c:v>2.5608</c:v>
              </c:pt>
              <c:pt idx="161">
                <c:v>1.9752</c:v>
              </c:pt>
              <c:pt idx="162">
                <c:v>2.1188</c:v>
              </c:pt>
              <c:pt idx="163">
                <c:v>3.9007</c:v>
              </c:pt>
              <c:pt idx="164">
                <c:v>4.7021</c:v>
              </c:pt>
              <c:pt idx="165">
                <c:v>4.65</c:v>
              </c:pt>
              <c:pt idx="166">
                <c:v>5.7275</c:v>
              </c:pt>
              <c:pt idx="167">
                <c:v>3.7915</c:v>
              </c:pt>
              <c:pt idx="168">
                <c:v>3.5203</c:v>
              </c:pt>
              <c:pt idx="169">
                <c:v>6.1625</c:v>
              </c:pt>
              <c:pt idx="170">
                <c:v>6.6803</c:v>
              </c:pt>
              <c:pt idx="171">
                <c:v>2.5174</c:v>
              </c:pt>
              <c:pt idx="172">
                <c:v>9.3377</c:v>
              </c:pt>
              <c:pt idx="173">
                <c:v>9.6641</c:v>
              </c:pt>
              <c:pt idx="174">
                <c:v>10.1958</c:v>
              </c:pt>
              <c:pt idx="175">
                <c:v>9.4124</c:v>
              </c:pt>
              <c:pt idx="176">
                <c:v>11.1924</c:v>
              </c:pt>
              <c:pt idx="177">
                <c:v>9.2542</c:v>
              </c:pt>
              <c:pt idx="178">
                <c:v>9.2935</c:v>
              </c:pt>
              <c:pt idx="179">
                <c:v>9.2138</c:v>
              </c:pt>
              <c:pt idx="180">
                <c:v>10.3672</c:v>
              </c:pt>
              <c:pt idx="181">
                <c:v>11.3338</c:v>
              </c:pt>
              <c:pt idx="182">
                <c:v>11.2769</c:v>
              </c:pt>
              <c:pt idx="183">
                <c:v>12.071</c:v>
              </c:pt>
              <c:pt idx="184">
                <c:v>13.3261</c:v>
              </c:pt>
              <c:pt idx="185">
                <c:v>10.9238</c:v>
              </c:pt>
              <c:pt idx="186">
                <c:v>8.9613</c:v>
              </c:pt>
              <c:pt idx="187">
                <c:v>9.2962</c:v>
              </c:pt>
              <c:pt idx="188">
                <c:v>10.2524</c:v>
              </c:pt>
              <c:pt idx="189">
                <c:v>11.9294</c:v>
              </c:pt>
              <c:pt idx="190">
                <c:v>12.1167</c:v>
              </c:pt>
              <c:pt idx="191">
                <c:v>12.9355</c:v>
              </c:pt>
              <c:pt idx="192">
                <c:v>14.0417</c:v>
              </c:pt>
              <c:pt idx="193">
                <c:v>14.3214</c:v>
              </c:pt>
              <c:pt idx="194">
                <c:v>15.7818</c:v>
              </c:pt>
              <c:pt idx="195">
                <c:v>6.665</c:v>
              </c:pt>
              <c:pt idx="196">
                <c:v>8.6205</c:v>
              </c:pt>
              <c:pt idx="197">
                <c:v>10.1057</c:v>
              </c:pt>
              <c:pt idx="198">
                <c:v>9.9306</c:v>
              </c:pt>
              <c:pt idx="199">
                <c:v>10.7846</c:v>
              </c:pt>
              <c:pt idx="200">
                <c:v>12.1068</c:v>
              </c:pt>
              <c:pt idx="201">
                <c:v>12.1759</c:v>
              </c:pt>
              <c:pt idx="202">
                <c:v>11.2383</c:v>
              </c:pt>
              <c:pt idx="203">
                <c:v>15.6967</c:v>
              </c:pt>
              <c:pt idx="204">
                <c:v>17.268</c:v>
              </c:pt>
              <c:pt idx="205">
                <c:v>20.105101</c:v>
              </c:pt>
              <c:pt idx="206">
                <c:v>19.792101</c:v>
              </c:pt>
              <c:pt idx="207">
                <c:v>7.4806</c:v>
              </c:pt>
              <c:pt idx="208">
                <c:v>7.9374</c:v>
              </c:pt>
              <c:pt idx="209">
                <c:v>7.9079</c:v>
              </c:pt>
              <c:pt idx="210">
                <c:v>10.4622</c:v>
              </c:pt>
              <c:pt idx="211">
                <c:v>14.2894</c:v>
              </c:pt>
              <c:pt idx="212">
                <c:v>9.8748</c:v>
              </c:pt>
              <c:pt idx="213">
                <c:v>11.596</c:v>
              </c:pt>
              <c:pt idx="214">
                <c:v>13.2844</c:v>
              </c:pt>
              <c:pt idx="215">
                <c:v>15.0973</c:v>
              </c:pt>
              <c:pt idx="216">
                <c:v>17.128599</c:v>
              </c:pt>
              <c:pt idx="217">
                <c:v>16.917</c:v>
              </c:pt>
              <c:pt idx="218">
                <c:v>2.2941</c:v>
              </c:pt>
              <c:pt idx="219">
                <c:v>9.5079</c:v>
              </c:pt>
            </c:numLit>
          </c:yVal>
        </c:ser>
        <c:ser>
          <c:idx val="1"/>
          <c:order val="1"/>
          <c:tx>
            <c:v>calibration</c:v>
          </c:tx>
          <c:spPr>
            <a:solidFill xmlns:a="http://schemas.openxmlformats.org/drawingml/2006/main">
              <a:srgbClr val="CA8A04"/>
            </a:solidFill>
            <a:ln xmlns:a="http://schemas.openxmlformats.org/drawingml/2006/main" w="0">
              <a:noFill/>
            </a:ln>
          </c:spPr>
          <c:marker>
            <c:symbol val="circle"/>
            <c:size val="4"/>
            <c:spPr>
              <a:solidFill xmlns:a="http://schemas.openxmlformats.org/drawingml/2006/main">
                <a:srgbClr val="CA8A04"/>
              </a:solidFill>
            </c:spPr>
          </c:marker>
          <c:xVal>
            <c:numLit>
              <c:formatCode>General</c:formatCode>
              <c:ptCount val="220"/>
              <c:pt idx="0">
                <c:v>42.9114</c:v>
              </c:pt>
              <c:pt idx="1">
                <c:v>44.743801</c:v>
              </c:pt>
              <c:pt idx="2">
                <c:v>45.258099</c:v>
              </c:pt>
              <c:pt idx="3">
                <c:v>44.7043</c:v>
              </c:pt>
              <c:pt idx="4">
                <c:v>44.748199</c:v>
              </c:pt>
              <c:pt idx="5">
                <c:v>44.771301</c:v>
              </c:pt>
              <c:pt idx="6">
                <c:v>45.273602</c:v>
              </c:pt>
              <c:pt idx="7">
                <c:v>44.970699</c:v>
              </c:pt>
              <c:pt idx="8">
                <c:v>44.988499</c:v>
              </c:pt>
              <c:pt idx="9">
                <c:v>45.040798</c:v>
              </c:pt>
              <c:pt idx="10">
                <c:v>45.2034</c:v>
              </c:pt>
              <c:pt idx="11">
                <c:v>45.1082</c:v>
              </c:pt>
              <c:pt idx="12">
                <c:v>45.069302</c:v>
              </c:pt>
              <c:pt idx="13">
                <c:v>45.209599</c:v>
              </c:pt>
              <c:pt idx="14">
                <c:v>44.7981</c:v>
              </c:pt>
              <c:pt idx="15">
                <c:v>44.563301</c:v>
              </c:pt>
              <c:pt idx="16">
                <c:v>45.122799</c:v>
              </c:pt>
              <c:pt idx="17">
                <c:v>44.966</c:v>
              </c:pt>
              <c:pt idx="18">
                <c:v>45.262798</c:v>
              </c:pt>
              <c:pt idx="19">
                <c:v>44.521</c:v>
              </c:pt>
              <c:pt idx="20">
                <c:v>44.606899</c:v>
              </c:pt>
              <c:pt idx="21">
                <c:v>44.297699</c:v>
              </c:pt>
              <c:pt idx="22">
                <c:v>44.6604</c:v>
              </c:pt>
              <c:pt idx="23">
                <c:v>44.6161</c:v>
              </c:pt>
              <c:pt idx="24">
                <c:v>44.633598</c:v>
              </c:pt>
              <c:pt idx="25">
                <c:v>44.5993</c:v>
              </c:pt>
              <c:pt idx="26">
                <c:v>44.570099</c:v>
              </c:pt>
              <c:pt idx="27">
                <c:v>44.627399</c:v>
              </c:pt>
              <c:pt idx="28">
                <c:v>44.613098</c:v>
              </c:pt>
              <c:pt idx="29">
                <c:v>43.3186</c:v>
              </c:pt>
              <c:pt idx="30">
                <c:v>42.958401</c:v>
              </c:pt>
              <c:pt idx="31">
                <c:v>43.4856</c:v>
              </c:pt>
              <c:pt idx="32">
                <c:v>43.907299</c:v>
              </c:pt>
              <c:pt idx="33">
                <c:v>44.633301</c:v>
              </c:pt>
              <c:pt idx="34">
                <c:v>44.2994</c:v>
              </c:pt>
              <c:pt idx="35">
                <c:v>44.5592</c:v>
              </c:pt>
              <c:pt idx="36">
                <c:v>43.775101</c:v>
              </c:pt>
              <c:pt idx="37">
                <c:v>44.601898</c:v>
              </c:pt>
              <c:pt idx="38">
                <c:v>42.749599</c:v>
              </c:pt>
              <c:pt idx="39">
                <c:v>43.283298</c:v>
              </c:pt>
              <c:pt idx="40">
                <c:v>43.739601</c:v>
              </c:pt>
              <c:pt idx="41">
                <c:v>44.985001</c:v>
              </c:pt>
              <c:pt idx="42">
                <c:v>45.180302</c:v>
              </c:pt>
              <c:pt idx="43">
                <c:v>45.2584</c:v>
              </c:pt>
              <c:pt idx="44">
                <c:v>44.993401</c:v>
              </c:pt>
              <c:pt idx="45">
                <c:v>45.1572</c:v>
              </c:pt>
              <c:pt idx="46">
                <c:v>45.0112</c:v>
              </c:pt>
              <c:pt idx="47">
                <c:v>45.134399</c:v>
              </c:pt>
              <c:pt idx="48">
                <c:v>45.153801</c:v>
              </c:pt>
              <c:pt idx="49">
                <c:v>45.082298</c:v>
              </c:pt>
              <c:pt idx="50">
                <c:v>42.969002</c:v>
              </c:pt>
              <c:pt idx="51">
                <c:v>44.0611</c:v>
              </c:pt>
              <c:pt idx="52">
                <c:v>43.882999</c:v>
              </c:pt>
              <c:pt idx="53">
                <c:v>44.518799</c:v>
              </c:pt>
              <c:pt idx="54">
                <c:v>44.528599</c:v>
              </c:pt>
              <c:pt idx="55">
                <c:v>44.710602</c:v>
              </c:pt>
              <c:pt idx="56">
                <c:v>43.278</c:v>
              </c:pt>
              <c:pt idx="57">
                <c:v>43.783699</c:v>
              </c:pt>
              <c:pt idx="58">
                <c:v>43.263</c:v>
              </c:pt>
              <c:pt idx="59">
                <c:v>43.314999</c:v>
              </c:pt>
              <c:pt idx="60">
                <c:v>43.9688</c:v>
              </c:pt>
              <c:pt idx="61">
                <c:v>43.318901</c:v>
              </c:pt>
              <c:pt idx="62">
                <c:v>43.360401</c:v>
              </c:pt>
              <c:pt idx="63">
                <c:v>43.192101</c:v>
              </c:pt>
              <c:pt idx="64">
                <c:v>43.572201</c:v>
              </c:pt>
              <c:pt idx="65">
                <c:v>43.3074</c:v>
              </c:pt>
              <c:pt idx="66">
                <c:v>44.190701</c:v>
              </c:pt>
              <c:pt idx="67">
                <c:v>44.497799</c:v>
              </c:pt>
              <c:pt idx="68">
                <c:v>44.523499</c:v>
              </c:pt>
              <c:pt idx="69">
                <c:v>44.203602</c:v>
              </c:pt>
              <c:pt idx="70">
                <c:v>44.172298</c:v>
              </c:pt>
              <c:pt idx="71">
                <c:v>44.617001</c:v>
              </c:pt>
              <c:pt idx="72">
                <c:v>44.5881</c:v>
              </c:pt>
              <c:pt idx="73">
                <c:v>45.230801</c:v>
              </c:pt>
              <c:pt idx="74">
                <c:v>45.179699</c:v>
              </c:pt>
              <c:pt idx="75">
                <c:v>44.824501</c:v>
              </c:pt>
              <c:pt idx="76">
                <c:v>44.9487</c:v>
              </c:pt>
              <c:pt idx="77">
                <c:v>44.932999</c:v>
              </c:pt>
              <c:pt idx="78">
                <c:v>45.053398</c:v>
              </c:pt>
              <c:pt idx="79">
                <c:v>45.077801</c:v>
              </c:pt>
              <c:pt idx="80">
                <c:v>44.631802</c:v>
              </c:pt>
              <c:pt idx="81">
                <c:v>44.5877</c:v>
              </c:pt>
              <c:pt idx="82">
                <c:v>43.301998</c:v>
              </c:pt>
              <c:pt idx="83">
                <c:v>43.565899</c:v>
              </c:pt>
              <c:pt idx="84">
                <c:v>42.569099</c:v>
              </c:pt>
              <c:pt idx="85">
                <c:v>42.5191</c:v>
              </c:pt>
              <c:pt idx="86">
                <c:v>44.895901</c:v>
              </c:pt>
              <c:pt idx="87">
                <c:v>45.183102</c:v>
              </c:pt>
              <c:pt idx="88">
                <c:v>43.108398</c:v>
              </c:pt>
              <c:pt idx="89">
                <c:v>42.570202</c:v>
              </c:pt>
              <c:pt idx="90">
                <c:v>42.766701</c:v>
              </c:pt>
              <c:pt idx="91">
                <c:v>42.784698</c:v>
              </c:pt>
              <c:pt idx="92">
                <c:v>43.008202</c:v>
              </c:pt>
              <c:pt idx="93">
                <c:v>42.927799</c:v>
              </c:pt>
              <c:pt idx="94">
                <c:v>42.612099</c:v>
              </c:pt>
              <c:pt idx="95">
                <c:v>43.3731</c:v>
              </c:pt>
              <c:pt idx="96">
                <c:v>43.268299</c:v>
              </c:pt>
              <c:pt idx="97">
                <c:v>43.303501</c:v>
              </c:pt>
              <c:pt idx="98">
                <c:v>43.338799</c:v>
              </c:pt>
              <c:pt idx="99">
                <c:v>42.651001</c:v>
              </c:pt>
              <c:pt idx="100">
                <c:v>42.760201</c:v>
              </c:pt>
              <c:pt idx="101">
                <c:v>42.769699</c:v>
              </c:pt>
              <c:pt idx="102">
                <c:v>42.8955</c:v>
              </c:pt>
              <c:pt idx="103">
                <c:v>42.922901</c:v>
              </c:pt>
              <c:pt idx="104">
                <c:v>42.841999</c:v>
              </c:pt>
              <c:pt idx="105">
                <c:v>42.687</c:v>
              </c:pt>
              <c:pt idx="106">
                <c:v>42.746498</c:v>
              </c:pt>
              <c:pt idx="107">
                <c:v>42.959301</c:v>
              </c:pt>
              <c:pt idx="108">
                <c:v>43.133801</c:v>
              </c:pt>
              <c:pt idx="109">
                <c:v>42.568001</c:v>
              </c:pt>
              <c:pt idx="110">
                <c:v>42.777401</c:v>
              </c:pt>
              <c:pt idx="111">
                <c:v>43.0243</c:v>
              </c:pt>
              <c:pt idx="112">
                <c:v>43.312599</c:v>
              </c:pt>
              <c:pt idx="113">
                <c:v>43.082699</c:v>
              </c:pt>
              <c:pt idx="114">
                <c:v>43.016102</c:v>
              </c:pt>
              <c:pt idx="115">
                <c:v>42.945</c:v>
              </c:pt>
              <c:pt idx="116">
                <c:v>43.2132</c:v>
              </c:pt>
              <c:pt idx="117">
                <c:v>43.306702</c:v>
              </c:pt>
              <c:pt idx="118">
                <c:v>43.059399</c:v>
              </c:pt>
              <c:pt idx="119">
                <c:v>42.879002</c:v>
              </c:pt>
              <c:pt idx="120">
                <c:v>42.868301</c:v>
              </c:pt>
              <c:pt idx="121">
                <c:v>43.910801</c:v>
              </c:pt>
              <c:pt idx="122">
                <c:v>44.382801</c:v>
              </c:pt>
              <c:pt idx="123">
                <c:v>42.6576</c:v>
              </c:pt>
              <c:pt idx="124">
                <c:v>43.250401</c:v>
              </c:pt>
              <c:pt idx="125">
                <c:v>43.584702</c:v>
              </c:pt>
              <c:pt idx="126">
                <c:v>45.140999</c:v>
              </c:pt>
              <c:pt idx="127">
                <c:v>44.802399</c:v>
              </c:pt>
              <c:pt idx="128">
                <c:v>43.582001</c:v>
              </c:pt>
              <c:pt idx="129">
                <c:v>43.278599</c:v>
              </c:pt>
              <c:pt idx="130">
                <c:v>43.974998</c:v>
              </c:pt>
              <c:pt idx="131">
                <c:v>43.421001</c:v>
              </c:pt>
              <c:pt idx="132">
                <c:v>45.172298</c:v>
              </c:pt>
              <c:pt idx="133">
                <c:v>45.262199</c:v>
              </c:pt>
              <c:pt idx="134">
                <c:v>44.221001</c:v>
              </c:pt>
              <c:pt idx="135">
                <c:v>42.932999</c:v>
              </c:pt>
              <c:pt idx="136">
                <c:v>42.887798</c:v>
              </c:pt>
              <c:pt idx="137">
                <c:v>42.9217</c:v>
              </c:pt>
              <c:pt idx="138">
                <c:v>42.9076</c:v>
              </c:pt>
              <c:pt idx="139">
                <c:v>42.936199</c:v>
              </c:pt>
              <c:pt idx="140">
                <c:v>42.991901</c:v>
              </c:pt>
              <c:pt idx="141">
                <c:v>42.934601</c:v>
              </c:pt>
              <c:pt idx="142">
                <c:v>42.943401</c:v>
              </c:pt>
              <c:pt idx="143">
                <c:v>43.145302</c:v>
              </c:pt>
              <c:pt idx="144">
                <c:v>43.454601</c:v>
              </c:pt>
              <c:pt idx="145">
                <c:v>43.250198</c:v>
              </c:pt>
              <c:pt idx="146">
                <c:v>42.548199</c:v>
              </c:pt>
              <c:pt idx="147">
                <c:v>42.840099</c:v>
              </c:pt>
              <c:pt idx="148">
                <c:v>42.873001</c:v>
              </c:pt>
              <c:pt idx="149">
                <c:v>42.855099</c:v>
              </c:pt>
              <c:pt idx="150">
                <c:v>42.920799</c:v>
              </c:pt>
              <c:pt idx="151">
                <c:v>43.334999</c:v>
              </c:pt>
              <c:pt idx="152">
                <c:v>43.558399</c:v>
              </c:pt>
              <c:pt idx="153">
                <c:v>43.645</c:v>
              </c:pt>
              <c:pt idx="154">
                <c:v>42.936901</c:v>
              </c:pt>
              <c:pt idx="155">
                <c:v>43.000198</c:v>
              </c:pt>
              <c:pt idx="156">
                <c:v>43.614799</c:v>
              </c:pt>
              <c:pt idx="157">
                <c:v>43.562</c:v>
              </c:pt>
              <c:pt idx="158">
                <c:v>43.6129</c:v>
              </c:pt>
              <c:pt idx="159">
                <c:v>42.540199</c:v>
              </c:pt>
              <c:pt idx="160">
                <c:v>43.545399</c:v>
              </c:pt>
              <c:pt idx="161">
                <c:v>43.5303</c:v>
              </c:pt>
              <c:pt idx="162">
                <c:v>43.580502</c:v>
              </c:pt>
              <c:pt idx="163">
                <c:v>43.614799</c:v>
              </c:pt>
              <c:pt idx="164">
                <c:v>42.9217</c:v>
              </c:pt>
              <c:pt idx="165">
                <c:v>43.824402</c:v>
              </c:pt>
              <c:pt idx="166">
                <c:v>45.229</c:v>
              </c:pt>
              <c:pt idx="167">
                <c:v>44.888302</c:v>
              </c:pt>
              <c:pt idx="168">
                <c:v>45.1647</c:v>
              </c:pt>
              <c:pt idx="169">
                <c:v>44.921902</c:v>
              </c:pt>
              <c:pt idx="170">
                <c:v>44.580101</c:v>
              </c:pt>
              <c:pt idx="171">
                <c:v>44.842701</c:v>
              </c:pt>
              <c:pt idx="172">
                <c:v>44.8605</c:v>
              </c:pt>
              <c:pt idx="173">
                <c:v>42.852299</c:v>
              </c:pt>
              <c:pt idx="174">
                <c:v>42.895901</c:v>
              </c:pt>
              <c:pt idx="175">
                <c:v>42.683601</c:v>
              </c:pt>
              <c:pt idx="176">
                <c:v>42.509499</c:v>
              </c:pt>
              <c:pt idx="177">
                <c:v>42.688702</c:v>
              </c:pt>
              <c:pt idx="178">
                <c:v>42.776699</c:v>
              </c:pt>
              <c:pt idx="179">
                <c:v>44.6721</c:v>
              </c:pt>
              <c:pt idx="180">
                <c:v>45.143799</c:v>
              </c:pt>
              <c:pt idx="181">
                <c:v>45.250999</c:v>
              </c:pt>
              <c:pt idx="182">
                <c:v>44.5588</c:v>
              </c:pt>
              <c:pt idx="183">
                <c:v>44.4814</c:v>
              </c:pt>
              <c:pt idx="184">
                <c:v>44.667599</c:v>
              </c:pt>
              <c:pt idx="185">
                <c:v>45.142601</c:v>
              </c:pt>
              <c:pt idx="186">
                <c:v>44.282398</c:v>
              </c:pt>
              <c:pt idx="187">
                <c:v>45.188</c:v>
              </c:pt>
              <c:pt idx="188">
                <c:v>45.225201</c:v>
              </c:pt>
              <c:pt idx="189">
                <c:v>45.259102</c:v>
              </c:pt>
              <c:pt idx="190">
                <c:v>45.283901</c:v>
              </c:pt>
              <c:pt idx="191">
                <c:v>45.276501</c:v>
              </c:pt>
              <c:pt idx="192">
                <c:v>45.2813</c:v>
              </c:pt>
              <c:pt idx="193">
                <c:v>45.2658</c:v>
              </c:pt>
              <c:pt idx="194">
                <c:v>45.2757</c:v>
              </c:pt>
              <c:pt idx="195">
                <c:v>45.251301</c:v>
              </c:pt>
              <c:pt idx="196">
                <c:v>43.0494</c:v>
              </c:pt>
              <c:pt idx="197">
                <c:v>42.628799</c:v>
              </c:pt>
              <c:pt idx="198">
                <c:v>43.222401</c:v>
              </c:pt>
              <c:pt idx="199">
                <c:v>43.189999</c:v>
              </c:pt>
              <c:pt idx="200">
                <c:v>43.187801</c:v>
              </c:pt>
              <c:pt idx="201">
                <c:v>43.592701</c:v>
              </c:pt>
              <c:pt idx="202">
                <c:v>43.185398</c:v>
              </c:pt>
              <c:pt idx="203">
                <c:v>43.096802</c:v>
              </c:pt>
              <c:pt idx="204">
                <c:v>43.2103</c:v>
              </c:pt>
              <c:pt idx="205">
                <c:v>43.210999</c:v>
              </c:pt>
              <c:pt idx="206">
                <c:v>43.227699</c:v>
              </c:pt>
              <c:pt idx="207">
                <c:v>43.204498</c:v>
              </c:pt>
              <c:pt idx="208">
                <c:v>43.6115</c:v>
              </c:pt>
              <c:pt idx="209">
                <c:v>43.193699</c:v>
              </c:pt>
              <c:pt idx="210">
                <c:v>43.225601</c:v>
              </c:pt>
              <c:pt idx="211">
                <c:v>43.233101</c:v>
              </c:pt>
              <c:pt idx="212">
                <c:v>43.473499</c:v>
              </c:pt>
              <c:pt idx="213">
                <c:v>43.208401</c:v>
              </c:pt>
              <c:pt idx="214">
                <c:v>42.733002</c:v>
              </c:pt>
              <c:pt idx="215">
                <c:v>42.9459</c:v>
              </c:pt>
              <c:pt idx="216">
                <c:v>43.206699</c:v>
              </c:pt>
              <c:pt idx="217">
                <c:v>43.217701</c:v>
              </c:pt>
              <c:pt idx="218">
                <c:v>43.224098</c:v>
              </c:pt>
              <c:pt idx="219">
                <c:v>43.235802</c:v>
              </c:pt>
            </c:numLit>
          </c:xVal>
          <c:yVal>
            <c:numLit>
              <c:formatCode>General</c:formatCode>
              <c:ptCount val="220"/>
              <c:pt idx="0">
                <c:v>12.3099</c:v>
              </c:pt>
              <c:pt idx="1">
                <c:v>7.4439</c:v>
              </c:pt>
              <c:pt idx="2">
                <c:v>7.6254</c:v>
              </c:pt>
              <c:pt idx="3">
                <c:v>10.2278</c:v>
              </c:pt>
              <c:pt idx="4">
                <c:v>12.9477</c:v>
              </c:pt>
              <c:pt idx="5">
                <c:v>13.2332</c:v>
              </c:pt>
              <c:pt idx="6">
                <c:v>9.2797</c:v>
              </c:pt>
              <c:pt idx="7">
                <c:v>10.0845</c:v>
              </c:pt>
              <c:pt idx="8">
                <c:v>10.2928</c:v>
              </c:pt>
              <c:pt idx="9">
                <c:v>10.6695</c:v>
              </c:pt>
              <c:pt idx="10">
                <c:v>11.2269</c:v>
              </c:pt>
              <c:pt idx="11">
                <c:v>12.9697</c:v>
              </c:pt>
              <c:pt idx="12">
                <c:v>13.1582</c:v>
              </c:pt>
              <c:pt idx="13">
                <c:v>13.1086</c:v>
              </c:pt>
              <c:pt idx="14">
                <c:v>13.6053</c:v>
              </c:pt>
              <c:pt idx="15">
                <c:v>17.9939</c:v>
              </c:pt>
              <c:pt idx="16">
                <c:v>17.3937</c:v>
              </c:pt>
              <c:pt idx="17">
                <c:v>17.7806</c:v>
              </c:pt>
              <c:pt idx="18">
                <c:v>18.0847</c:v>
              </c:pt>
              <c:pt idx="19">
                <c:v>8.1581</c:v>
              </c:pt>
              <c:pt idx="20">
                <c:v>8.4763</c:v>
              </c:pt>
              <c:pt idx="21">
                <c:v>9.162</c:v>
              </c:pt>
              <c:pt idx="22">
                <c:v>8.9907</c:v>
              </c:pt>
              <c:pt idx="23">
                <c:v>9.285</c:v>
              </c:pt>
              <c:pt idx="24">
                <c:v>9.8844</c:v>
              </c:pt>
              <c:pt idx="25">
                <c:v>10.5469</c:v>
              </c:pt>
              <c:pt idx="26">
                <c:v>10.6545</c:v>
              </c:pt>
              <c:pt idx="27">
                <c:v>11.5923</c:v>
              </c:pt>
              <c:pt idx="28">
                <c:v>12.2032</c:v>
              </c:pt>
              <c:pt idx="29">
                <c:v>4.1807</c:v>
              </c:pt>
              <c:pt idx="30">
                <c:v>4.6175</c:v>
              </c:pt>
              <c:pt idx="31">
                <c:v>4.6374</c:v>
              </c:pt>
              <c:pt idx="32">
                <c:v>4.6498</c:v>
              </c:pt>
              <c:pt idx="33">
                <c:v>4.3977</c:v>
              </c:pt>
              <c:pt idx="34">
                <c:v>4.777</c:v>
              </c:pt>
              <c:pt idx="35">
                <c:v>4.9176</c:v>
              </c:pt>
              <c:pt idx="36">
                <c:v>5.9216</c:v>
              </c:pt>
              <c:pt idx="37">
                <c:v>5.1425</c:v>
              </c:pt>
              <c:pt idx="38">
                <c:v>6.4957</c:v>
              </c:pt>
              <c:pt idx="39">
                <c:v>6.2599</c:v>
              </c:pt>
              <c:pt idx="40">
                <c:v>6.2453</c:v>
              </c:pt>
              <c:pt idx="41">
                <c:v>4.4747</c:v>
              </c:pt>
              <c:pt idx="42">
                <c:v>4.736</c:v>
              </c:pt>
              <c:pt idx="43">
                <c:v>5.0952</c:v>
              </c:pt>
              <c:pt idx="44">
                <c:v>5.4829</c:v>
              </c:pt>
              <c:pt idx="45">
                <c:v>5.8137</c:v>
              </c:pt>
              <c:pt idx="46">
                <c:v>6.5846</c:v>
              </c:pt>
              <c:pt idx="47">
                <c:v>6.2516</c:v>
              </c:pt>
              <c:pt idx="48">
                <c:v>6.8485</c:v>
              </c:pt>
              <c:pt idx="49">
                <c:v>7.1693</c:v>
              </c:pt>
              <c:pt idx="50">
                <c:v>17.8498</c:v>
              </c:pt>
              <c:pt idx="51">
                <c:v>17.7033</c:v>
              </c:pt>
              <c:pt idx="52">
                <c:v>18.8971</c:v>
              </c:pt>
              <c:pt idx="53">
                <c:v>18.6124</c:v>
              </c:pt>
              <c:pt idx="54">
                <c:v>18.7393</c:v>
              </c:pt>
              <c:pt idx="55">
                <c:v>18.788</c:v>
              </c:pt>
              <c:pt idx="56">
                <c:v>19.3367</c:v>
              </c:pt>
              <c:pt idx="57">
                <c:v>19.287901</c:v>
              </c:pt>
              <c:pt idx="58">
                <c:v>19.401501</c:v>
              </c:pt>
              <c:pt idx="59">
                <c:v>19.247</c:v>
              </c:pt>
              <c:pt idx="60">
                <c:v>19.0453</c:v>
              </c:pt>
              <c:pt idx="61">
                <c:v>19.292</c:v>
              </c:pt>
              <c:pt idx="62">
                <c:v>19.376301</c:v>
              </c:pt>
              <c:pt idx="63">
                <c:v>19.589899</c:v>
              </c:pt>
              <c:pt idx="64">
                <c:v>19.3111</c:v>
              </c:pt>
              <c:pt idx="65">
                <c:v>19.5291</c:v>
              </c:pt>
              <c:pt idx="66">
                <c:v>18.998199</c:v>
              </c:pt>
              <c:pt idx="67">
                <c:v>19.033899</c:v>
              </c:pt>
              <c:pt idx="68">
                <c:v>19.2022</c:v>
              </c:pt>
              <c:pt idx="69">
                <c:v>19.017</c:v>
              </c:pt>
              <c:pt idx="70">
                <c:v>19.263599</c:v>
              </c:pt>
              <c:pt idx="71">
                <c:v>19.336901</c:v>
              </c:pt>
              <c:pt idx="72">
                <c:v>19.3909</c:v>
              </c:pt>
              <c:pt idx="73">
                <c:v>18.957199</c:v>
              </c:pt>
              <c:pt idx="74">
                <c:v>19.125099</c:v>
              </c:pt>
              <c:pt idx="75">
                <c:v>19.135201</c:v>
              </c:pt>
              <c:pt idx="76">
                <c:v>19.174999</c:v>
              </c:pt>
              <c:pt idx="77">
                <c:v>19.308201</c:v>
              </c:pt>
              <c:pt idx="78">
                <c:v>19.454599</c:v>
              </c:pt>
              <c:pt idx="79">
                <c:v>18.789499</c:v>
              </c:pt>
              <c:pt idx="80">
                <c:v>0.6804</c:v>
              </c:pt>
              <c:pt idx="81">
                <c:v>1.1085</c:v>
              </c:pt>
              <c:pt idx="82">
                <c:v>0.7567</c:v>
              </c:pt>
              <c:pt idx="83">
                <c:v>0.9786</c:v>
              </c:pt>
              <c:pt idx="84">
                <c:v>2.2512</c:v>
              </c:pt>
              <c:pt idx="85">
                <c:v>2.2254</c:v>
              </c:pt>
              <c:pt idx="86">
                <c:v>0.3102</c:v>
              </c:pt>
              <c:pt idx="87">
                <c:v>0.6645</c:v>
              </c:pt>
              <c:pt idx="88">
                <c:v>3.7623</c:v>
              </c:pt>
              <c:pt idx="89">
                <c:v>2.8681</c:v>
              </c:pt>
              <c:pt idx="90">
                <c:v>2.7353</c:v>
              </c:pt>
              <c:pt idx="91">
                <c:v>0.8902</c:v>
              </c:pt>
              <c:pt idx="92">
                <c:v>0.6453</c:v>
              </c:pt>
              <c:pt idx="93">
                <c:v>2.54</c:v>
              </c:pt>
              <c:pt idx="94">
                <c:v>2.1558</c:v>
              </c:pt>
              <c:pt idx="95">
                <c:v>2.0878</c:v>
              </c:pt>
              <c:pt idx="96">
                <c:v>1.1046</c:v>
              </c:pt>
              <c:pt idx="97">
                <c:v>2.5064</c:v>
              </c:pt>
              <c:pt idx="98">
                <c:v>2.3843</c:v>
              </c:pt>
              <c:pt idx="99">
                <c:v>0.8694</c:v>
              </c:pt>
              <c:pt idx="100">
                <c:v>0.8599</c:v>
              </c:pt>
              <c:pt idx="101">
                <c:v>2.1724</c:v>
              </c:pt>
              <c:pt idx="102">
                <c:v>2.4874</c:v>
              </c:pt>
              <c:pt idx="103">
                <c:v>2.6484</c:v>
              </c:pt>
              <c:pt idx="104">
                <c:v>2.2207</c:v>
              </c:pt>
              <c:pt idx="105">
                <c:v>2.0128</c:v>
              </c:pt>
              <c:pt idx="106">
                <c:v>2.8967</c:v>
              </c:pt>
              <c:pt idx="107">
                <c:v>2.8648</c:v>
              </c:pt>
              <c:pt idx="108">
                <c:v>2.8441</c:v>
              </c:pt>
              <c:pt idx="109">
                <c:v>2.9034</c:v>
              </c:pt>
              <c:pt idx="110">
                <c:v>1.5792</c:v>
              </c:pt>
              <c:pt idx="111">
                <c:v>1.7069</c:v>
              </c:pt>
              <c:pt idx="112">
                <c:v>1.512</c:v>
              </c:pt>
              <c:pt idx="113">
                <c:v>1.7267</c:v>
              </c:pt>
              <c:pt idx="114">
                <c:v>1.3796</c:v>
              </c:pt>
              <c:pt idx="115">
                <c:v>1.2607</c:v>
              </c:pt>
              <c:pt idx="116">
                <c:v>1.4721</c:v>
              </c:pt>
              <c:pt idx="117">
                <c:v>1.9429</c:v>
              </c:pt>
              <c:pt idx="118">
                <c:v>1.2567</c:v>
              </c:pt>
              <c:pt idx="119">
                <c:v>1.1521</c:v>
              </c:pt>
              <c:pt idx="120">
                <c:v>1.8623</c:v>
              </c:pt>
              <c:pt idx="121">
                <c:v>1.8259</c:v>
              </c:pt>
              <c:pt idx="122">
                <c:v>7.5503</c:v>
              </c:pt>
              <c:pt idx="123">
                <c:v>7.0502</c:v>
              </c:pt>
              <c:pt idx="124">
                <c:v>7.1179</c:v>
              </c:pt>
              <c:pt idx="125">
                <c:v>2.5755</c:v>
              </c:pt>
              <c:pt idx="126">
                <c:v>1.6491</c:v>
              </c:pt>
              <c:pt idx="127">
                <c:v>2.3536</c:v>
              </c:pt>
              <c:pt idx="128">
                <c:v>3.3124</c:v>
              </c:pt>
              <c:pt idx="129">
                <c:v>3.6276</c:v>
              </c:pt>
              <c:pt idx="130">
                <c:v>3.8602</c:v>
              </c:pt>
              <c:pt idx="131">
                <c:v>3.1856</c:v>
              </c:pt>
              <c:pt idx="132">
                <c:v>2.9214</c:v>
              </c:pt>
              <c:pt idx="133">
                <c:v>3.1061</c:v>
              </c:pt>
              <c:pt idx="134">
                <c:v>1.8724</c:v>
              </c:pt>
              <c:pt idx="135">
                <c:v>9.1762</c:v>
              </c:pt>
              <c:pt idx="136">
                <c:v>9.2033</c:v>
              </c:pt>
              <c:pt idx="137">
                <c:v>12.2847</c:v>
              </c:pt>
              <c:pt idx="138">
                <c:v>12.3269</c:v>
              </c:pt>
              <c:pt idx="139">
                <c:v>15.4537</c:v>
              </c:pt>
              <c:pt idx="140">
                <c:v>15.4521</c:v>
              </c:pt>
              <c:pt idx="141">
                <c:v>9.2706</c:v>
              </c:pt>
              <c:pt idx="142">
                <c:v>9.2741</c:v>
              </c:pt>
              <c:pt idx="143">
                <c:v>9.2377</c:v>
              </c:pt>
              <c:pt idx="144">
                <c:v>9.2643</c:v>
              </c:pt>
              <c:pt idx="145">
                <c:v>9.2043</c:v>
              </c:pt>
              <c:pt idx="146">
                <c:v>11.2667</c:v>
              </c:pt>
              <c:pt idx="147">
                <c:v>11.2692</c:v>
              </c:pt>
              <c:pt idx="148">
                <c:v>11.6391</c:v>
              </c:pt>
              <c:pt idx="149">
                <c:v>11.6994</c:v>
              </c:pt>
              <c:pt idx="150">
                <c:v>12.0993</c:v>
              </c:pt>
              <c:pt idx="151">
                <c:v>11.2987</c:v>
              </c:pt>
              <c:pt idx="152">
                <c:v>11.2805</c:v>
              </c:pt>
              <c:pt idx="153">
                <c:v>11.7268</c:v>
              </c:pt>
              <c:pt idx="154">
                <c:v>13.2471</c:v>
              </c:pt>
              <c:pt idx="155">
                <c:v>13.3838</c:v>
              </c:pt>
              <c:pt idx="156">
                <c:v>12.7393</c:v>
              </c:pt>
              <c:pt idx="157">
                <c:v>13.6242</c:v>
              </c:pt>
              <c:pt idx="158">
                <c:v>13.9739</c:v>
              </c:pt>
              <c:pt idx="159">
                <c:v>15.0151</c:v>
              </c:pt>
              <c:pt idx="160">
                <c:v>14.3308</c:v>
              </c:pt>
              <c:pt idx="161">
                <c:v>14.5887</c:v>
              </c:pt>
              <c:pt idx="162">
                <c:v>14.6168</c:v>
              </c:pt>
              <c:pt idx="163">
                <c:v>14.9307</c:v>
              </c:pt>
              <c:pt idx="164">
                <c:v>9.2681</c:v>
              </c:pt>
              <c:pt idx="165">
                <c:v>9.6897</c:v>
              </c:pt>
              <c:pt idx="166">
                <c:v>13.7983</c:v>
              </c:pt>
              <c:pt idx="167">
                <c:v>16.5308</c:v>
              </c:pt>
              <c:pt idx="168">
                <c:v>16.503201</c:v>
              </c:pt>
              <c:pt idx="169">
                <c:v>17.195101</c:v>
              </c:pt>
              <c:pt idx="170">
                <c:v>13.7681</c:v>
              </c:pt>
              <c:pt idx="171">
                <c:v>14.3178</c:v>
              </c:pt>
              <c:pt idx="172">
                <c:v>15.8667</c:v>
              </c:pt>
              <c:pt idx="173">
                <c:v>8.7916</c:v>
              </c:pt>
              <c:pt idx="174">
                <c:v>9.9143</c:v>
              </c:pt>
              <c:pt idx="175">
                <c:v>12.4439</c:v>
              </c:pt>
              <c:pt idx="176">
                <c:v>12.975</c:v>
              </c:pt>
              <c:pt idx="177">
                <c:v>13.9987</c:v>
              </c:pt>
              <c:pt idx="178">
                <c:v>16.2915</c:v>
              </c:pt>
              <c:pt idx="179">
                <c:v>15.094</c:v>
              </c:pt>
              <c:pt idx="180">
                <c:v>14.3802</c:v>
              </c:pt>
              <c:pt idx="181">
                <c:v>14.5056</c:v>
              </c:pt>
              <c:pt idx="182">
                <c:v>14.8857</c:v>
              </c:pt>
              <c:pt idx="183">
                <c:v>14.9743</c:v>
              </c:pt>
              <c:pt idx="184">
                <c:v>2.3549</c:v>
              </c:pt>
              <c:pt idx="185">
                <c:v>1.7247</c:v>
              </c:pt>
              <c:pt idx="186">
                <c:v>1.8818</c:v>
              </c:pt>
              <c:pt idx="187">
                <c:v>2.0053</c:v>
              </c:pt>
              <c:pt idx="188">
                <c:v>2.0136</c:v>
              </c:pt>
              <c:pt idx="189">
                <c:v>2.0145</c:v>
              </c:pt>
              <c:pt idx="190">
                <c:v>2.0101</c:v>
              </c:pt>
              <c:pt idx="191">
                <c:v>2.0051</c:v>
              </c:pt>
              <c:pt idx="192">
                <c:v>2.0465</c:v>
              </c:pt>
              <c:pt idx="193">
                <c:v>2.0268</c:v>
              </c:pt>
              <c:pt idx="194">
                <c:v>2.0239</c:v>
              </c:pt>
              <c:pt idx="195">
                <c:v>2.0366</c:v>
              </c:pt>
              <c:pt idx="196">
                <c:v>7.9008</c:v>
              </c:pt>
              <c:pt idx="197">
                <c:v>7.9852</c:v>
              </c:pt>
              <c:pt idx="198">
                <c:v>8.1488</c:v>
              </c:pt>
              <c:pt idx="199">
                <c:v>8.959</c:v>
              </c:pt>
              <c:pt idx="200">
                <c:v>10.0072</c:v>
              </c:pt>
              <c:pt idx="201">
                <c:v>9.81</c:v>
              </c:pt>
              <c:pt idx="202">
                <c:v>10.6431</c:v>
              </c:pt>
              <c:pt idx="203">
                <c:v>11.3902</c:v>
              </c:pt>
              <c:pt idx="204">
                <c:v>11.2357</c:v>
              </c:pt>
              <c:pt idx="205">
                <c:v>11.9979</c:v>
              </c:pt>
              <c:pt idx="206">
                <c:v>12.3089</c:v>
              </c:pt>
              <c:pt idx="207">
                <c:v>13.259</c:v>
              </c:pt>
              <c:pt idx="208">
                <c:v>12.993</c:v>
              </c:pt>
              <c:pt idx="209">
                <c:v>13.9999</c:v>
              </c:pt>
              <c:pt idx="210">
                <c:v>14.3499</c:v>
              </c:pt>
              <c:pt idx="211">
                <c:v>14.2106</c:v>
              </c:pt>
              <c:pt idx="212">
                <c:v>15.0166</c:v>
              </c:pt>
              <c:pt idx="213">
                <c:v>15.1005</c:v>
              </c:pt>
              <c:pt idx="214">
                <c:v>16.911301</c:v>
              </c:pt>
              <c:pt idx="215">
                <c:v>16.6612</c:v>
              </c:pt>
              <c:pt idx="216">
                <c:v>16.0639</c:v>
              </c:pt>
              <c:pt idx="217">
                <c:v>16.531</c:v>
              </c:pt>
              <c:pt idx="218">
                <c:v>16.3706</c:v>
              </c:pt>
              <c:pt idx="219">
                <c:v>16.5599</c:v>
              </c:pt>
            </c:numLit>
          </c:yVal>
        </c:ser>
        <c:ser>
          <c:idx val="2"/>
          <c:order val="2"/>
          <c:tx>
            <c:v>test</c:v>
          </c:tx>
          <c:spPr>
            <a:solidFill xmlns:a="http://schemas.openxmlformats.org/drawingml/2006/main">
              <a:srgbClr val="0F766E"/>
            </a:solidFill>
            <a:ln xmlns:a="http://schemas.openxmlformats.org/drawingml/2006/main" w="0">
              <a:noFill/>
            </a:ln>
          </c:spPr>
          <c:marker>
            <c:symbol val="circle"/>
            <c:size val="4"/>
            <c:spPr>
              <a:solidFill xmlns:a="http://schemas.openxmlformats.org/drawingml/2006/main">
                <a:srgbClr val="0F766E"/>
              </a:solidFill>
            </c:spPr>
          </c:marker>
          <c:xVal>
            <c:numLit>
              <c:formatCode>General</c:formatCode>
              <c:ptCount val="220"/>
              <c:pt idx="0">
                <c:v>47.622002</c:v>
              </c:pt>
              <c:pt idx="1">
                <c:v>47.620602</c:v>
              </c:pt>
              <c:pt idx="2">
                <c:v>47.6078</c:v>
              </c:pt>
              <c:pt idx="3">
                <c:v>47.9478</c:v>
              </c:pt>
              <c:pt idx="4">
                <c:v>48.241501</c:v>
              </c:pt>
              <c:pt idx="5">
                <c:v>49.294601</c:v>
              </c:pt>
              <c:pt idx="6">
                <c:v>49.664101</c:v>
              </c:pt>
              <c:pt idx="7">
                <c:v>50.031399</c:v>
              </c:pt>
              <c:pt idx="8">
                <c:v>49.976299</c:v>
              </c:pt>
              <c:pt idx="9">
                <c:v>49.754101</c:v>
              </c:pt>
              <c:pt idx="10">
                <c:v>50.8475</c:v>
              </c:pt>
              <c:pt idx="11">
                <c:v>48.488602</c:v>
              </c:pt>
              <c:pt idx="12">
                <c:v>49.629902</c:v>
              </c:pt>
              <c:pt idx="13">
                <c:v>49.6339</c:v>
              </c:pt>
              <c:pt idx="14">
                <c:v>48.571999</c:v>
              </c:pt>
              <c:pt idx="15">
                <c:v>48.908901</c:v>
              </c:pt>
              <c:pt idx="16">
                <c:v>50.002602</c:v>
              </c:pt>
              <c:pt idx="17">
                <c:v>49.8223</c:v>
              </c:pt>
              <c:pt idx="18">
                <c:v>50.371201</c:v>
              </c:pt>
              <c:pt idx="19">
                <c:v>49.973499</c:v>
              </c:pt>
              <c:pt idx="20">
                <c:v>50.6922</c:v>
              </c:pt>
              <c:pt idx="21">
                <c:v>50.562199</c:v>
              </c:pt>
              <c:pt idx="22">
                <c:v>48.252899</c:v>
              </c:pt>
              <c:pt idx="23">
                <c:v>48.98</c:v>
              </c:pt>
              <c:pt idx="24">
                <c:v>48.790901</c:v>
              </c:pt>
              <c:pt idx="25">
                <c:v>49.644901</c:v>
              </c:pt>
              <c:pt idx="26">
                <c:v>50.7658</c:v>
              </c:pt>
              <c:pt idx="27">
                <c:v>49.699299</c:v>
              </c:pt>
              <c:pt idx="28">
                <c:v>48.8978</c:v>
              </c:pt>
              <c:pt idx="29">
                <c:v>53.676399</c:v>
              </c:pt>
              <c:pt idx="30">
                <c:v>53.717999</c:v>
              </c:pt>
              <c:pt idx="31">
                <c:v>53.983799</c:v>
              </c:pt>
              <c:pt idx="32">
                <c:v>54.091801</c:v>
              </c:pt>
              <c:pt idx="33">
                <c:v>55.298302</c:v>
              </c:pt>
              <c:pt idx="34">
                <c:v>54.622601</c:v>
              </c:pt>
              <c:pt idx="35">
                <c:v>53.818401</c:v>
              </c:pt>
              <c:pt idx="36">
                <c:v>53.6269</c:v>
              </c:pt>
              <c:pt idx="37">
                <c:v>51.5742</c:v>
              </c:pt>
              <c:pt idx="38">
                <c:v>51.645901</c:v>
              </c:pt>
              <c:pt idx="39">
                <c:v>53.143101</c:v>
              </c:pt>
              <c:pt idx="40">
                <c:v>53.378799</c:v>
              </c:pt>
              <c:pt idx="41">
                <c:v>54.394798</c:v>
              </c:pt>
              <c:pt idx="42">
                <c:v>54.703899</c:v>
              </c:pt>
              <c:pt idx="43">
                <c:v>52.0411</c:v>
              </c:pt>
              <c:pt idx="44">
                <c:v>53.476898</c:v>
              </c:pt>
              <c:pt idx="45">
                <c:v>54.286999</c:v>
              </c:pt>
              <c:pt idx="46">
                <c:v>53.4576</c:v>
              </c:pt>
              <c:pt idx="47">
                <c:v>53.166401</c:v>
              </c:pt>
              <c:pt idx="48">
                <c:v>54.311401</c:v>
              </c:pt>
              <c:pt idx="49">
                <c:v>53.695301</c:v>
              </c:pt>
              <c:pt idx="50">
                <c:v>53.6991</c:v>
              </c:pt>
              <c:pt idx="51">
                <c:v>54.396099</c:v>
              </c:pt>
              <c:pt idx="52">
                <c:v>53.9664</c:v>
              </c:pt>
              <c:pt idx="53">
                <c:v>54.548199</c:v>
              </c:pt>
              <c:pt idx="54">
                <c:v>54.381802</c:v>
              </c:pt>
              <c:pt idx="55">
                <c:v>53.126598</c:v>
              </c:pt>
              <c:pt idx="56">
                <c:v>54.585999</c:v>
              </c:pt>
              <c:pt idx="57">
                <c:v>54.623001</c:v>
              </c:pt>
              <c:pt idx="58">
                <c:v>54.678398</c:v>
              </c:pt>
              <c:pt idx="59">
                <c:v>52.868401</c:v>
              </c:pt>
              <c:pt idx="60">
                <c:v>54.540001</c:v>
              </c:pt>
              <c:pt idx="61">
                <c:v>53.8274</c:v>
              </c:pt>
              <c:pt idx="62">
                <c:v>53.895199</c:v>
              </c:pt>
              <c:pt idx="63">
                <c:v>53.773899</c:v>
              </c:pt>
              <c:pt idx="64">
                <c:v>53.320202</c:v>
              </c:pt>
              <c:pt idx="65">
                <c:v>53.131001</c:v>
              </c:pt>
              <c:pt idx="66">
                <c:v>54.648998</c:v>
              </c:pt>
              <c:pt idx="67">
                <c:v>54.677101</c:v>
              </c:pt>
              <c:pt idx="68">
                <c:v>48.3946</c:v>
              </c:pt>
              <c:pt idx="69">
                <c:v>48.874901</c:v>
              </c:pt>
              <c:pt idx="70">
                <c:v>48.3894</c:v>
              </c:pt>
              <c:pt idx="71">
                <c:v>49.07</c:v>
              </c:pt>
              <c:pt idx="72">
                <c:v>50.063599</c:v>
              </c:pt>
              <c:pt idx="73">
                <c:v>50.847599</c:v>
              </c:pt>
              <c:pt idx="74">
                <c:v>50.7005</c:v>
              </c:pt>
              <c:pt idx="75">
                <c:v>50.939201</c:v>
              </c:pt>
              <c:pt idx="76">
                <c:v>50.495602</c:v>
              </c:pt>
              <c:pt idx="77">
                <c:v>48.214199</c:v>
              </c:pt>
              <c:pt idx="78">
                <c:v>48.526402</c:v>
              </c:pt>
              <c:pt idx="79">
                <c:v>48.0788</c:v>
              </c:pt>
              <c:pt idx="80">
                <c:v>48.058701</c:v>
              </c:pt>
              <c:pt idx="81">
                <c:v>50.4538</c:v>
              </c:pt>
              <c:pt idx="82">
                <c:v>50.234901</c:v>
              </c:pt>
              <c:pt idx="83">
                <c:v>50.679798</c:v>
              </c:pt>
              <c:pt idx="84">
                <c:v>48.6968</c:v>
              </c:pt>
              <c:pt idx="85">
                <c:v>47.941299</c:v>
              </c:pt>
              <c:pt idx="86">
                <c:v>49.465099</c:v>
              </c:pt>
              <c:pt idx="87">
                <c:v>49.8773</c:v>
              </c:pt>
              <c:pt idx="88">
                <c:v>50.171101</c:v>
              </c:pt>
              <c:pt idx="89">
                <c:v>48.764999</c:v>
              </c:pt>
              <c:pt idx="90">
                <c:v>49.214001</c:v>
              </c:pt>
              <c:pt idx="91">
                <c:v>48.9375</c:v>
              </c:pt>
              <c:pt idx="92">
                <c:v>49.3312</c:v>
              </c:pt>
              <c:pt idx="93">
                <c:v>49.368698</c:v>
              </c:pt>
              <c:pt idx="94">
                <c:v>49.0056</c:v>
              </c:pt>
              <c:pt idx="95">
                <c:v>50.428001</c:v>
              </c:pt>
              <c:pt idx="96">
                <c:v>51.034801</c:v>
              </c:pt>
              <c:pt idx="97">
                <c:v>50.1203</c:v>
              </c:pt>
              <c:pt idx="98">
                <c:v>51.227798</c:v>
              </c:pt>
              <c:pt idx="99">
                <c:v>50.484798</c:v>
              </c:pt>
              <c:pt idx="100">
                <c:v>47.865601</c:v>
              </c:pt>
              <c:pt idx="101">
                <c:v>49.121601</c:v>
              </c:pt>
              <c:pt idx="102">
                <c:v>49.094299</c:v>
              </c:pt>
              <c:pt idx="103">
                <c:v>51.285801</c:v>
              </c:pt>
              <c:pt idx="104">
                <c:v>51.198002</c:v>
              </c:pt>
              <c:pt idx="105">
                <c:v>51.1437</c:v>
              </c:pt>
              <c:pt idx="106">
                <c:v>48.133701</c:v>
              </c:pt>
              <c:pt idx="107">
                <c:v>49.101898</c:v>
              </c:pt>
              <c:pt idx="108">
                <c:v>49.8997</c:v>
              </c:pt>
              <c:pt idx="109">
                <c:v>49.9058</c:v>
              </c:pt>
              <c:pt idx="110">
                <c:v>49.7477</c:v>
              </c:pt>
              <c:pt idx="111">
                <c:v>49.723301</c:v>
              </c:pt>
              <c:pt idx="112">
                <c:v>48.796299</c:v>
              </c:pt>
              <c:pt idx="113">
                <c:v>49.029701</c:v>
              </c:pt>
              <c:pt idx="114">
                <c:v>48.513901</c:v>
              </c:pt>
              <c:pt idx="115">
                <c:v>48.593899</c:v>
              </c:pt>
              <c:pt idx="116">
                <c:v>49.015202</c:v>
              </c:pt>
              <c:pt idx="117">
                <c:v>48.5275</c:v>
              </c:pt>
              <c:pt idx="118">
                <c:v>47.7635</c:v>
              </c:pt>
              <c:pt idx="119">
                <c:v>49.245399</c:v>
              </c:pt>
              <c:pt idx="120">
                <c:v>51.246101</c:v>
              </c:pt>
              <c:pt idx="121">
                <c:v>51.222</c:v>
              </c:pt>
              <c:pt idx="122">
                <c:v>51.212898</c:v>
              </c:pt>
              <c:pt idx="123">
                <c:v>52.7981</c:v>
              </c:pt>
              <c:pt idx="124">
                <c:v>52.659698</c:v>
              </c:pt>
              <c:pt idx="125">
                <c:v>51.576801</c:v>
              </c:pt>
              <c:pt idx="126">
                <c:v>51.820801</c:v>
              </c:pt>
              <c:pt idx="127">
                <c:v>51.3288</c:v>
              </c:pt>
              <c:pt idx="128">
                <c:v>52.305901</c:v>
              </c:pt>
              <c:pt idx="129">
                <c:v>53.093201</c:v>
              </c:pt>
              <c:pt idx="130">
                <c:v>53.354301</c:v>
              </c:pt>
              <c:pt idx="131">
                <c:v>53.938499</c:v>
              </c:pt>
              <c:pt idx="132">
                <c:v>54.224201</c:v>
              </c:pt>
              <c:pt idx="133">
                <c:v>54.5252</c:v>
              </c:pt>
              <c:pt idx="134">
                <c:v>54.310001</c:v>
              </c:pt>
              <c:pt idx="135">
                <c:v>53.950401</c:v>
              </c:pt>
              <c:pt idx="136">
                <c:v>51.415798</c:v>
              </c:pt>
              <c:pt idx="137">
                <c:v>52.235401</c:v>
              </c:pt>
              <c:pt idx="138">
                <c:v>52.321201</c:v>
              </c:pt>
              <c:pt idx="139">
                <c:v>52.3377</c:v>
              </c:pt>
              <c:pt idx="140">
                <c:v>51.735802</c:v>
              </c:pt>
              <c:pt idx="141">
                <c:v>51.6735</c:v>
              </c:pt>
              <c:pt idx="142">
                <c:v>53.493801</c:v>
              </c:pt>
              <c:pt idx="143">
                <c:v>54.235802</c:v>
              </c:pt>
              <c:pt idx="144">
                <c:v>53.811501</c:v>
              </c:pt>
              <c:pt idx="145">
                <c:v>54.367001</c:v>
              </c:pt>
              <c:pt idx="146">
                <c:v>51.618698</c:v>
              </c:pt>
              <c:pt idx="147">
                <c:v>51.751301</c:v>
              </c:pt>
              <c:pt idx="148">
                <c:v>51.7911</c:v>
              </c:pt>
              <c:pt idx="149">
                <c:v>52.425598</c:v>
              </c:pt>
              <c:pt idx="150">
                <c:v>51.733002</c:v>
              </c:pt>
              <c:pt idx="151">
                <c:v>51.348202</c:v>
              </c:pt>
              <c:pt idx="152">
                <c:v>51.361599</c:v>
              </c:pt>
              <c:pt idx="153">
                <c:v>51.610001</c:v>
              </c:pt>
              <c:pt idx="154">
                <c:v>53.666199</c:v>
              </c:pt>
              <c:pt idx="155">
                <c:v>53.9613</c:v>
              </c:pt>
              <c:pt idx="156">
                <c:v>53.835899</c:v>
              </c:pt>
              <c:pt idx="157">
                <c:v>53.823299</c:v>
              </c:pt>
              <c:pt idx="158">
                <c:v>53.903599</c:v>
              </c:pt>
              <c:pt idx="159">
                <c:v>54.185501</c:v>
              </c:pt>
              <c:pt idx="160">
                <c:v>51.8694</c:v>
              </c:pt>
              <c:pt idx="161">
                <c:v>53.754101</c:v>
              </c:pt>
              <c:pt idx="162">
                <c:v>53.3269</c:v>
              </c:pt>
              <c:pt idx="163">
                <c:v>53.519199</c:v>
              </c:pt>
              <c:pt idx="164">
                <c:v>53.394901</c:v>
              </c:pt>
              <c:pt idx="165">
                <c:v>53.699501</c:v>
              </c:pt>
              <c:pt idx="166">
                <c:v>53.9697</c:v>
              </c:pt>
              <c:pt idx="167">
                <c:v>53.896198</c:v>
              </c:pt>
              <c:pt idx="168">
                <c:v>52.2234</c:v>
              </c:pt>
              <c:pt idx="169">
                <c:v>51.9221</c:v>
              </c:pt>
              <c:pt idx="170">
                <c:v>51.731098</c:v>
              </c:pt>
              <c:pt idx="171">
                <c:v>51.576199</c:v>
              </c:pt>
              <c:pt idx="172">
                <c:v>51.4842</c:v>
              </c:pt>
              <c:pt idx="173">
                <c:v>51.4445</c:v>
              </c:pt>
              <c:pt idx="174">
                <c:v>51.313599</c:v>
              </c:pt>
              <c:pt idx="175">
                <c:v>51.4091</c:v>
              </c:pt>
              <c:pt idx="176">
                <c:v>51.4744</c:v>
              </c:pt>
              <c:pt idx="177">
                <c:v>51.506302</c:v>
              </c:pt>
              <c:pt idx="178">
                <c:v>51.4408</c:v>
              </c:pt>
              <c:pt idx="179">
                <c:v>52.0294</c:v>
              </c:pt>
              <c:pt idx="180">
                <c:v>52.382801</c:v>
              </c:pt>
              <c:pt idx="181">
                <c:v>53.027302</c:v>
              </c:pt>
              <c:pt idx="182">
                <c:v>53.307999</c:v>
              </c:pt>
              <c:pt idx="183">
                <c:v>53.669601</c:v>
              </c:pt>
              <c:pt idx="184">
                <c:v>53.564701</c:v>
              </c:pt>
              <c:pt idx="185">
                <c:v>53.243599</c:v>
              </c:pt>
              <c:pt idx="186">
                <c:v>53.6912</c:v>
              </c:pt>
              <c:pt idx="187">
                <c:v>53.896099</c:v>
              </c:pt>
              <c:pt idx="188">
                <c:v>47.919102</c:v>
              </c:pt>
              <c:pt idx="189">
                <c:v>48.839699</c:v>
              </c:pt>
              <c:pt idx="190">
                <c:v>48.6166</c:v>
              </c:pt>
              <c:pt idx="191">
                <c:v>48.680401</c:v>
              </c:pt>
              <c:pt idx="192">
                <c:v>50.131001</c:v>
              </c:pt>
              <c:pt idx="193">
                <c:v>48.297001</c:v>
              </c:pt>
              <c:pt idx="194">
                <c:v>50.978199</c:v>
              </c:pt>
              <c:pt idx="195">
                <c:v>47.508202</c:v>
              </c:pt>
              <c:pt idx="196">
                <c:v>49.251202</c:v>
              </c:pt>
              <c:pt idx="197">
                <c:v>48.056599</c:v>
              </c:pt>
              <c:pt idx="198">
                <c:v>49.069599</c:v>
              </c:pt>
              <c:pt idx="199">
                <c:v>48.9254</c:v>
              </c:pt>
              <c:pt idx="200">
                <c:v>49.491501</c:v>
              </c:pt>
              <c:pt idx="201">
                <c:v>49.371601</c:v>
              </c:pt>
              <c:pt idx="202">
                <c:v>49.705502</c:v>
              </c:pt>
              <c:pt idx="203">
                <c:v>49.7346</c:v>
              </c:pt>
              <c:pt idx="204">
                <c:v>49.885899</c:v>
              </c:pt>
              <c:pt idx="205">
                <c:v>50.552799</c:v>
              </c:pt>
              <c:pt idx="206">
                <c:v>51.3368</c:v>
              </c:pt>
              <c:pt idx="207">
                <c:v>51.9156</c:v>
              </c:pt>
              <c:pt idx="208">
                <c:v>51.818401</c:v>
              </c:pt>
              <c:pt idx="209">
                <c:v>52.812199</c:v>
              </c:pt>
              <c:pt idx="210">
                <c:v>47.7687</c:v>
              </c:pt>
              <c:pt idx="211">
                <c:v>47.528099</c:v>
              </c:pt>
              <c:pt idx="212">
                <c:v>48.987801</c:v>
              </c:pt>
              <c:pt idx="213">
                <c:v>47.512001</c:v>
              </c:pt>
              <c:pt idx="214">
                <c:v>47.574299</c:v>
              </c:pt>
              <c:pt idx="215">
                <c:v>48.709</c:v>
              </c:pt>
              <c:pt idx="216">
                <c:v>48.430901</c:v>
              </c:pt>
              <c:pt idx="217">
                <c:v>49.156101</c:v>
              </c:pt>
              <c:pt idx="218">
                <c:v>50.658501</c:v>
              </c:pt>
              <c:pt idx="219">
                <c:v>50.978901</c:v>
              </c:pt>
            </c:numLit>
          </c:xVal>
          <c:yVal>
            <c:numLit>
              <c:formatCode>General</c:formatCode>
              <c:ptCount val="220"/>
              <c:pt idx="0">
                <c:v>7.772</c:v>
              </c:pt>
              <c:pt idx="1">
                <c:v>8.7415</c:v>
              </c:pt>
              <c:pt idx="2">
                <c:v>10.0197</c:v>
              </c:pt>
              <c:pt idx="3">
                <c:v>4.9366</c:v>
              </c:pt>
              <c:pt idx="4">
                <c:v>4.5531</c:v>
              </c:pt>
              <c:pt idx="5">
                <c:v>4.7885</c:v>
              </c:pt>
              <c:pt idx="6">
                <c:v>5.8399</c:v>
              </c:pt>
              <c:pt idx="7">
                <c:v>4.5349</c:v>
              </c:pt>
              <c:pt idx="8">
                <c:v>4.9071</c:v>
              </c:pt>
              <c:pt idx="9">
                <c:v>5.516</c:v>
              </c:pt>
              <c:pt idx="10">
                <c:v>5.7281</c:v>
              </c:pt>
              <c:pt idx="11">
                <c:v>6.3068</c:v>
              </c:pt>
              <c:pt idx="12">
                <c:v>6.0948</c:v>
              </c:pt>
              <c:pt idx="13">
                <c:v>6.7315</c:v>
              </c:pt>
              <c:pt idx="14">
                <c:v>6.9669</c:v>
              </c:pt>
              <c:pt idx="15">
                <c:v>7.269</c:v>
              </c:pt>
              <c:pt idx="16">
                <c:v>6.2017</c:v>
              </c:pt>
              <c:pt idx="17">
                <c:v>6.3413</c:v>
              </c:pt>
              <c:pt idx="18">
                <c:v>6.699</c:v>
              </c:pt>
              <c:pt idx="19">
                <c:v>7.0712</c:v>
              </c:pt>
              <c:pt idx="20">
                <c:v>6.8495</c:v>
              </c:pt>
              <c:pt idx="21">
                <c:v>7.3998</c:v>
              </c:pt>
              <c:pt idx="22">
                <c:v>7.6806</c:v>
              </c:pt>
              <c:pt idx="23">
                <c:v>8.2337</c:v>
              </c:pt>
              <c:pt idx="24">
                <c:v>9.0656</c:v>
              </c:pt>
              <c:pt idx="25">
                <c:v>9.1419</c:v>
              </c:pt>
              <c:pt idx="26">
                <c:v>7.5993</c:v>
              </c:pt>
              <c:pt idx="27">
                <c:v>8.9718</c:v>
              </c:pt>
              <c:pt idx="28">
                <c:v>8.4371</c:v>
              </c:pt>
              <c:pt idx="29">
                <c:v>0.3892</c:v>
              </c:pt>
              <c:pt idx="30">
                <c:v>1.1264</c:v>
              </c:pt>
              <c:pt idx="31">
                <c:v>1.7549</c:v>
              </c:pt>
              <c:pt idx="32">
                <c:v>2.3685</c:v>
              </c:pt>
              <c:pt idx="33">
                <c:v>0.7909</c:v>
              </c:pt>
              <c:pt idx="34">
                <c:v>2.6059</c:v>
              </c:pt>
              <c:pt idx="35">
                <c:v>2.8947</c:v>
              </c:pt>
              <c:pt idx="36">
                <c:v>3.7477</c:v>
              </c:pt>
              <c:pt idx="37">
                <c:v>5.0476</c:v>
              </c:pt>
              <c:pt idx="38">
                <c:v>5.279</c:v>
              </c:pt>
              <c:pt idx="39">
                <c:v>4.6622</c:v>
              </c:pt>
              <c:pt idx="40">
                <c:v>5.4518</c:v>
              </c:pt>
              <c:pt idx="41">
                <c:v>5.8198</c:v>
              </c:pt>
              <c:pt idx="42">
                <c:v>5.245</c:v>
              </c:pt>
              <c:pt idx="43">
                <c:v>6.227</c:v>
              </c:pt>
              <c:pt idx="44">
                <c:v>6.6972</c:v>
              </c:pt>
              <c:pt idx="45">
                <c:v>6.3551</c:v>
              </c:pt>
              <c:pt idx="46">
                <c:v>7.5487</c:v>
              </c:pt>
              <c:pt idx="47">
                <c:v>7.9058</c:v>
              </c:pt>
              <c:pt idx="48">
                <c:v>8.0133</c:v>
              </c:pt>
              <c:pt idx="49">
                <c:v>8.8076</c:v>
              </c:pt>
              <c:pt idx="50">
                <c:v>8.8213</c:v>
              </c:pt>
              <c:pt idx="51">
                <c:v>8.3881</c:v>
              </c:pt>
              <c:pt idx="52">
                <c:v>8.6879</c:v>
              </c:pt>
              <c:pt idx="53">
                <c:v>7.8829</c:v>
              </c:pt>
              <c:pt idx="54">
                <c:v>7.9741</c:v>
              </c:pt>
              <c:pt idx="55">
                <c:v>8.7972</c:v>
              </c:pt>
              <c:pt idx="56">
                <c:v>6.3955</c:v>
              </c:pt>
              <c:pt idx="57">
                <c:v>8.2571</c:v>
              </c:pt>
              <c:pt idx="58">
                <c:v>7.8302</c:v>
              </c:pt>
              <c:pt idx="59">
                <c:v>9.0312</c:v>
              </c:pt>
              <c:pt idx="60">
                <c:v>7.9111</c:v>
              </c:pt>
              <c:pt idx="61">
                <c:v>8.292</c:v>
              </c:pt>
              <c:pt idx="62">
                <c:v>8.2459</c:v>
              </c:pt>
              <c:pt idx="63">
                <c:v>8.2705</c:v>
              </c:pt>
              <c:pt idx="64">
                <c:v>8.6294</c:v>
              </c:pt>
              <c:pt idx="65">
                <c:v>8.7669</c:v>
              </c:pt>
              <c:pt idx="66">
                <c:v>7.8573</c:v>
              </c:pt>
              <c:pt idx="67">
                <c:v>7.822</c:v>
              </c:pt>
              <c:pt idx="68">
                <c:v>9.5445</c:v>
              </c:pt>
              <c:pt idx="69">
                <c:v>9.5959</c:v>
              </c:pt>
              <c:pt idx="70">
                <c:v>10.3521</c:v>
              </c:pt>
              <c:pt idx="71">
                <c:v>10.1416</c:v>
              </c:pt>
              <c:pt idx="72">
                <c:v>9.4466</c:v>
              </c:pt>
              <c:pt idx="73">
                <c:v>9.997</c:v>
              </c:pt>
              <c:pt idx="74">
                <c:v>10.3399</c:v>
              </c:pt>
              <c:pt idx="75">
                <c:v>10.0216</c:v>
              </c:pt>
              <c:pt idx="76">
                <c:v>10.8254</c:v>
              </c:pt>
              <c:pt idx="77">
                <c:v>11.0016</c:v>
              </c:pt>
              <c:pt idx="78">
                <c:v>11.3423</c:v>
              </c:pt>
              <c:pt idx="79">
                <c:v>12.1759</c:v>
              </c:pt>
              <c:pt idx="80">
                <c:v>12.3282</c:v>
              </c:pt>
              <c:pt idx="81">
                <c:v>10.9224</c:v>
              </c:pt>
              <c:pt idx="82">
                <c:v>11.9474</c:v>
              </c:pt>
              <c:pt idx="83">
                <c:v>10.2796</c:v>
              </c:pt>
              <c:pt idx="84">
                <c:v>11.8907</c:v>
              </c:pt>
              <c:pt idx="85">
                <c:v>12.4734</c:v>
              </c:pt>
              <c:pt idx="86">
                <c:v>12.9163</c:v>
              </c:pt>
              <c:pt idx="87">
                <c:v>12.4795</c:v>
              </c:pt>
              <c:pt idx="88">
                <c:v>12.9602</c:v>
              </c:pt>
              <c:pt idx="89">
                <c:v>14.384</c:v>
              </c:pt>
              <c:pt idx="90">
                <c:v>14.3689</c:v>
              </c:pt>
              <c:pt idx="91">
                <c:v>14.1549</c:v>
              </c:pt>
              <c:pt idx="92">
                <c:v>14.2422</c:v>
              </c:pt>
              <c:pt idx="93">
                <c:v>14.4121</c:v>
              </c:pt>
              <c:pt idx="94">
                <c:v>14.7019</c:v>
              </c:pt>
              <c:pt idx="95">
                <c:v>14.5958</c:v>
              </c:pt>
              <c:pt idx="96">
                <c:v>15.6072</c:v>
              </c:pt>
              <c:pt idx="97">
                <c:v>12.5565</c:v>
              </c:pt>
              <c:pt idx="98">
                <c:v>12.7197</c:v>
              </c:pt>
              <c:pt idx="99">
                <c:v>14.7034</c:v>
              </c:pt>
              <c:pt idx="100">
                <c:v>17.9522</c:v>
              </c:pt>
              <c:pt idx="101">
                <c:v>17.2178</c:v>
              </c:pt>
              <c:pt idx="102">
                <c:v>17.3339</c:v>
              </c:pt>
              <c:pt idx="103">
                <c:v>16.302299</c:v>
              </c:pt>
              <c:pt idx="104">
                <c:v>15.9607</c:v>
              </c:pt>
              <c:pt idx="105">
                <c:v>15.7916</c:v>
              </c:pt>
              <c:pt idx="106">
                <c:v>18.9683</c:v>
              </c:pt>
              <c:pt idx="107">
                <c:v>18.9016</c:v>
              </c:pt>
              <c:pt idx="108">
                <c:v>17.895201</c:v>
              </c:pt>
              <c:pt idx="109">
                <c:v>18.270201</c:v>
              </c:pt>
              <c:pt idx="110">
                <c:v>18.614401</c:v>
              </c:pt>
              <c:pt idx="111">
                <c:v>18.647301</c:v>
              </c:pt>
              <c:pt idx="112">
                <c:v>17.763399</c:v>
              </c:pt>
              <c:pt idx="113">
                <c:v>17.449301</c:v>
              </c:pt>
              <c:pt idx="114">
                <c:v>18.2638</c:v>
              </c:pt>
              <c:pt idx="115">
                <c:v>18.0525</c:v>
              </c:pt>
              <c:pt idx="116">
                <c:v>17.436899</c:v>
              </c:pt>
              <c:pt idx="117">
                <c:v>18.189301</c:v>
              </c:pt>
              <c:pt idx="118">
                <c:v>19.341</c:v>
              </c:pt>
              <c:pt idx="119">
                <c:v>19.2721</c:v>
              </c:pt>
              <c:pt idx="120">
                <c:v>12.4272</c:v>
              </c:pt>
              <c:pt idx="121">
                <c:v>12.9603</c:v>
              </c:pt>
              <c:pt idx="122">
                <c:v>13.342</c:v>
              </c:pt>
              <c:pt idx="123">
                <c:v>9.7153</c:v>
              </c:pt>
              <c:pt idx="124">
                <c:v>9.8427</c:v>
              </c:pt>
              <c:pt idx="125">
                <c:v>10.4062</c:v>
              </c:pt>
              <c:pt idx="126">
                <c:v>10.5205</c:v>
              </c:pt>
              <c:pt idx="127">
                <c:v>10.2249</c:v>
              </c:pt>
              <c:pt idx="128">
                <c:v>10.4504</c:v>
              </c:pt>
              <c:pt idx="129">
                <c:v>9.3348</c:v>
              </c:pt>
              <c:pt idx="130">
                <c:v>12.2353</c:v>
              </c:pt>
              <c:pt idx="131">
                <c:v>11.9204</c:v>
              </c:pt>
              <c:pt idx="132">
                <c:v>11.8259</c:v>
              </c:pt>
              <c:pt idx="133">
                <c:v>12.0335</c:v>
              </c:pt>
              <c:pt idx="134">
                <c:v>12.1468</c:v>
              </c:pt>
              <c:pt idx="135">
                <c:v>12.3291</c:v>
              </c:pt>
              <c:pt idx="136">
                <c:v>10.2926</c:v>
              </c:pt>
              <c:pt idx="137">
                <c:v>10.6332</c:v>
              </c:pt>
              <c:pt idx="138">
                <c:v>9.6487</c:v>
              </c:pt>
              <c:pt idx="139">
                <c:v>10.3304</c:v>
              </c:pt>
              <c:pt idx="140">
                <c:v>11.9154</c:v>
              </c:pt>
              <c:pt idx="141">
                <c:v>12.3367</c:v>
              </c:pt>
              <c:pt idx="142">
                <c:v>12.5288</c:v>
              </c:pt>
              <c:pt idx="143">
                <c:v>12.5615</c:v>
              </c:pt>
              <c:pt idx="144">
                <c:v>13.1381</c:v>
              </c:pt>
              <c:pt idx="145">
                <c:v>13.1724</c:v>
              </c:pt>
              <c:pt idx="146">
                <c:v>12.6009</c:v>
              </c:pt>
              <c:pt idx="147">
                <c:v>13.8474</c:v>
              </c:pt>
              <c:pt idx="148">
                <c:v>13.822</c:v>
              </c:pt>
              <c:pt idx="149">
                <c:v>14.9468</c:v>
              </c:pt>
              <c:pt idx="150">
                <c:v>14.7567</c:v>
              </c:pt>
              <c:pt idx="151">
                <c:v>16.146799</c:v>
              </c:pt>
              <c:pt idx="152">
                <c:v>16.449499</c:v>
              </c:pt>
              <c:pt idx="153">
                <c:v>17.0832</c:v>
              </c:pt>
              <c:pt idx="154">
                <c:v>15.8837</c:v>
              </c:pt>
              <c:pt idx="155">
                <c:v>15.976</c:v>
              </c:pt>
              <c:pt idx="156">
                <c:v>16.5732</c:v>
              </c:pt>
              <c:pt idx="157">
                <c:v>15.9832</c:v>
              </c:pt>
              <c:pt idx="158">
                <c:v>16.038</c:v>
              </c:pt>
              <c:pt idx="159">
                <c:v>16.070101</c:v>
              </c:pt>
              <c:pt idx="160">
                <c:v>17.433399</c:v>
              </c:pt>
              <c:pt idx="161">
                <c:v>15.9547</c:v>
              </c:pt>
              <c:pt idx="162">
                <c:v>16.205299</c:v>
              </c:pt>
              <c:pt idx="163">
                <c:v>16.274799</c:v>
              </c:pt>
              <c:pt idx="164">
                <c:v>16.277201</c:v>
              </c:pt>
              <c:pt idx="165">
                <c:v>16.349001</c:v>
              </c:pt>
              <c:pt idx="166">
                <c:v>16.471901</c:v>
              </c:pt>
              <c:pt idx="167">
                <c:v>16.415701</c:v>
              </c:pt>
              <c:pt idx="168">
                <c:v>9.7891</c:v>
              </c:pt>
              <c:pt idx="169">
                <c:v>10.2313</c:v>
              </c:pt>
              <c:pt idx="170">
                <c:v>10.6896</c:v>
              </c:pt>
              <c:pt idx="171">
                <c:v>11.0104</c:v>
              </c:pt>
              <c:pt idx="172">
                <c:v>11.239</c:v>
              </c:pt>
              <c:pt idx="173">
                <c:v>11.2586</c:v>
              </c:pt>
              <c:pt idx="174">
                <c:v>11.9858</c:v>
              </c:pt>
              <c:pt idx="175">
                <c:v>14.1545</c:v>
              </c:pt>
              <c:pt idx="176">
                <c:v>14.2863</c:v>
              </c:pt>
              <c:pt idx="177">
                <c:v>14.3383</c:v>
              </c:pt>
              <c:pt idx="178">
                <c:v>14.2961</c:v>
              </c:pt>
              <c:pt idx="179">
                <c:v>15.1712</c:v>
              </c:pt>
              <c:pt idx="180">
                <c:v>15.6235</c:v>
              </c:pt>
              <c:pt idx="181">
                <c:v>16.047501</c:v>
              </c:pt>
              <c:pt idx="182">
                <c:v>16.170601</c:v>
              </c:pt>
              <c:pt idx="183">
                <c:v>16.314899</c:v>
              </c:pt>
              <c:pt idx="184">
                <c:v>16.253099</c:v>
              </c:pt>
              <c:pt idx="185">
                <c:v>16.1381</c:v>
              </c:pt>
              <c:pt idx="186">
                <c:v>16.373899</c:v>
              </c:pt>
              <c:pt idx="187">
                <c:v>16.416901</c:v>
              </c:pt>
              <c:pt idx="188">
                <c:v>12.7668</c:v>
              </c:pt>
              <c:pt idx="189">
                <c:v>12.9821</c:v>
              </c:pt>
              <c:pt idx="190">
                <c:v>14.2062</c:v>
              </c:pt>
              <c:pt idx="191">
                <c:v>0.4782</c:v>
              </c:pt>
              <c:pt idx="192">
                <c:v>0.1619</c:v>
              </c:pt>
              <c:pt idx="193">
                <c:v>1.0723</c:v>
              </c:pt>
              <c:pt idx="194">
                <c:v>1.156</c:v>
              </c:pt>
              <c:pt idx="195">
                <c:v>4.2875</c:v>
              </c:pt>
              <c:pt idx="196">
                <c:v>2.7312</c:v>
              </c:pt>
              <c:pt idx="197">
                <c:v>4.1831</c:v>
              </c:pt>
              <c:pt idx="198">
                <c:v>3.9056</c:v>
              </c:pt>
              <c:pt idx="199">
                <c:v>4.0994</c:v>
              </c:pt>
              <c:pt idx="200">
                <c:v>4.0147</c:v>
              </c:pt>
              <c:pt idx="201">
                <c:v>4.1453</c:v>
              </c:pt>
              <c:pt idx="202">
                <c:v>3.751</c:v>
              </c:pt>
              <c:pt idx="203">
                <c:v>3.7761</c:v>
              </c:pt>
              <c:pt idx="204">
                <c:v>4.0994</c:v>
              </c:pt>
              <c:pt idx="205">
                <c:v>4.0357</c:v>
              </c:pt>
              <c:pt idx="206">
                <c:v>0.3795</c:v>
              </c:pt>
              <c:pt idx="207">
                <c:v>1.8911</c:v>
              </c:pt>
              <c:pt idx="208">
                <c:v>1.3645</c:v>
              </c:pt>
              <c:pt idx="209">
                <c:v>3.364</c:v>
              </c:pt>
              <c:pt idx="210">
                <c:v>13.1013</c:v>
              </c:pt>
              <c:pt idx="211">
                <c:v>1.9974</c:v>
              </c:pt>
              <c:pt idx="212">
                <c:v>2.1012</c:v>
              </c:pt>
              <c:pt idx="213">
                <c:v>13.0878</c:v>
              </c:pt>
              <c:pt idx="214">
                <c:v>1.7474</c:v>
              </c:pt>
              <c:pt idx="215">
                <c:v>1.5214</c:v>
              </c:pt>
              <c:pt idx="216">
                <c:v>1.698</c:v>
              </c:pt>
              <c:pt idx="217">
                <c:v>1.9939</c:v>
              </c:pt>
              <c:pt idx="218">
                <c:v>3.34</c:v>
              </c:pt>
              <c:pt idx="219">
                <c:v>3.6564</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1"/>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Y (m)</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max val="56"/>
          <c:min val="27"/>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X (m)</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valAx>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2100" b="1">
                <a:solidFill>
                  <a:srgbClr val="0F172A"/>
                </a:solidFill>
                <a:latin typeface="Arial"/>
                <a:ea typeface="Arial"/>
                <a:cs typeface="Arial"/>
              </a:rPr>
              <a:t>Translation</a:t>
            </a:r>
          </a:p>
        </c:rich>
      </c:tx>
      <c:overlay val="0"/>
      <c:txPr>
        <a:bodyPr xmlns:a="http://schemas.openxmlformats.org/drawingml/2006/main" anchorCtr="1"/>
        <a:lstStyle xmlns:a="http://schemas.openxmlformats.org/drawingml/2006/main"/>
        <a:p xmlns:a="http://schemas.openxmlformats.org/drawingml/2006/main">
          <a:pPr>
            <a:defRPr sz="2100" b="1">
              <a:solidFill>
                <a:srgbClr val="0F172A"/>
              </a:solidFill>
              <a:latin typeface="Arial"/>
              <a:ea typeface="Arial"/>
              <a:cs typeface="Arial"/>
            </a:defRPr>
          </a:pPr>
        </a:p>
      </c:txPr>
    </c:title>
    <c:plotArea>
      <c:scatterChart>
        <c:scatterStyle val="lineMarker"/>
        <c:varyColors val="0"/>
        <c:ser>
          <c:idx val="0"/>
          <c:order val="0"/>
          <c:tx>
            <c:v>C2C</c:v>
          </c:tx>
          <c:spPr>
            <a:solidFill xmlns:a="http://schemas.openxmlformats.org/drawingml/2006/main">
              <a:srgbClr val="2563EB"/>
            </a:solidFill>
            <a:ln xmlns:a="http://schemas.openxmlformats.org/drawingml/2006/main" w="28575">
              <a:solidFill>
                <a:srgbClr val="2563EB"/>
              </a:solidFill>
            </a:ln>
          </c:spPr>
          <c:marker>
            <c:symbol val="circle"/>
            <c:size val="7"/>
            <c:spPr>
              <a:solidFill xmlns:a="http://schemas.openxmlformats.org/drawingml/2006/main">
                <a:srgbClr val="2563EB"/>
              </a:solidFill>
            </c:spPr>
          </c:marker>
          <c:xVal>
            <c:numLit>
              <c:formatCode>General</c:formatCode>
              <c:ptCount val="3"/>
              <c:pt idx="0">
                <c:v>0</c:v>
              </c:pt>
              <c:pt idx="1">
                <c:v>10</c:v>
              </c:pt>
              <c:pt idx="2">
                <c:v>20</c:v>
              </c:pt>
            </c:numLit>
          </c:xVal>
          <c:yVal>
            <c:numLit>
              <c:formatCode>0.0</c:formatCode>
              <c:ptCount val="3"/>
              <c:pt idx="0">
                <c:v>0.411778</c:v>
              </c:pt>
              <c:pt idx="1">
                <c:v>0.447555</c:v>
              </c:pt>
              <c:pt idx="2">
                <c:v>0.343199</c:v>
              </c:pt>
            </c:numLit>
          </c:yVal>
        </c:ser>
        <c:ser>
          <c:idx val="1"/>
          <c:order val="1"/>
          <c:tx>
            <c:v>M3C2-style</c:v>
          </c:tx>
          <c:spPr>
            <a:solidFill xmlns:a="http://schemas.openxmlformats.org/drawingml/2006/main">
              <a:srgbClr val="EA580C"/>
            </a:solidFill>
            <a:ln xmlns:a="http://schemas.openxmlformats.org/drawingml/2006/main" w="28575">
              <a:solidFill>
                <a:srgbClr val="EA580C"/>
              </a:solidFill>
            </a:ln>
          </c:spPr>
          <c:marker>
            <c:symbol val="circle"/>
            <c:size val="7"/>
            <c:spPr>
              <a:solidFill xmlns:a="http://schemas.openxmlformats.org/drawingml/2006/main">
                <a:srgbClr val="EA580C"/>
              </a:solidFill>
            </c:spPr>
          </c:marker>
          <c:xVal>
            <c:numLit>
              <c:formatCode>General</c:formatCode>
              <c:ptCount val="3"/>
              <c:pt idx="0">
                <c:v>0</c:v>
              </c:pt>
              <c:pt idx="1">
                <c:v>10</c:v>
              </c:pt>
              <c:pt idx="2">
                <c:v>20</c:v>
              </c:pt>
            </c:numLit>
          </c:xVal>
          <c:yVal>
            <c:numLit>
              <c:formatCode>0.0</c:formatCode>
              <c:ptCount val="3"/>
              <c:pt idx="0">
                <c:v>0.23415</c:v>
              </c:pt>
              <c:pt idx="1">
                <c:v>0.165183</c:v>
              </c:pt>
              <c:pt idx="2">
                <c:v>0.112668</c:v>
              </c:pt>
            </c:numLit>
          </c:yVal>
        </c:ser>
        <c:ser>
          <c:idx val="2"/>
          <c:order val="2"/>
          <c:tx>
            <c:v>Siamese PointNet + NN</c:v>
          </c:tx>
          <c:spPr>
            <a:solidFill xmlns:a="http://schemas.openxmlformats.org/drawingml/2006/main">
              <a:srgbClr val="0F766E"/>
            </a:solidFill>
            <a:ln xmlns:a="http://schemas.openxmlformats.org/drawingml/2006/main" w="28575">
              <a:solidFill>
                <a:srgbClr val="0F766E"/>
              </a:solidFill>
            </a:ln>
          </c:spPr>
          <c:marker>
            <c:symbol val="circle"/>
            <c:size val="7"/>
            <c:spPr>
              <a:solidFill xmlns:a="http://schemas.openxmlformats.org/drawingml/2006/main">
                <a:srgbClr val="0F766E"/>
              </a:solidFill>
            </c:spPr>
          </c:marker>
          <c:xVal>
            <c:numLit>
              <c:formatCode>General</c:formatCode>
              <c:ptCount val="3"/>
              <c:pt idx="0">
                <c:v>0</c:v>
              </c:pt>
              <c:pt idx="1">
                <c:v>10</c:v>
              </c:pt>
              <c:pt idx="2">
                <c:v>20</c:v>
              </c:pt>
            </c:numLit>
          </c:xVal>
          <c:yVal>
            <c:numLit>
              <c:formatCode>0.0</c:formatCode>
              <c:ptCount val="3"/>
              <c:pt idx="0">
                <c:v>0.381705</c:v>
              </c:pt>
              <c:pt idx="1">
                <c:v>0.403311</c:v>
              </c:pt>
              <c:pt idx="2">
                <c:v>0.403241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7"/>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Macro F1</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50112"/>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Shift magnitude (cm)</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2100" b="1">
                <a:solidFill>
                  <a:srgbClr val="0F172A"/>
                </a:solidFill>
                <a:latin typeface="Arial"/>
                <a:ea typeface="Arial"/>
                <a:cs typeface="Arial"/>
              </a:rPr>
              <a:t>Rotation</a:t>
            </a:r>
          </a:p>
        </c:rich>
      </c:tx>
      <c:overlay val="0"/>
      <c:txPr>
        <a:bodyPr xmlns:a="http://schemas.openxmlformats.org/drawingml/2006/main" anchorCtr="1"/>
        <a:lstStyle xmlns:a="http://schemas.openxmlformats.org/drawingml/2006/main"/>
        <a:p xmlns:a="http://schemas.openxmlformats.org/drawingml/2006/main">
          <a:pPr>
            <a:defRPr sz="2100" b="1">
              <a:solidFill>
                <a:srgbClr val="0F172A"/>
              </a:solidFill>
              <a:latin typeface="Arial"/>
              <a:ea typeface="Arial"/>
              <a:cs typeface="Arial"/>
            </a:defRPr>
          </a:pPr>
        </a:p>
      </c:txPr>
    </c:title>
    <c:plotArea>
      <c:scatterChart>
        <c:scatterStyle val="lineMarker"/>
        <c:varyColors val="0"/>
        <c:ser>
          <c:idx val="0"/>
          <c:order val="0"/>
          <c:tx>
            <c:v>C2C</c:v>
          </c:tx>
          <c:spPr>
            <a:solidFill xmlns:a="http://schemas.openxmlformats.org/drawingml/2006/main">
              <a:srgbClr val="2563EB"/>
            </a:solidFill>
            <a:ln xmlns:a="http://schemas.openxmlformats.org/drawingml/2006/main" w="28575">
              <a:solidFill>
                <a:srgbClr val="2563EB"/>
              </a:solidFill>
            </a:ln>
          </c:spPr>
          <c:marker>
            <c:symbol val="circle"/>
            <c:size val="7"/>
            <c:spPr>
              <a:solidFill xmlns:a="http://schemas.openxmlformats.org/drawingml/2006/main">
                <a:srgbClr val="2563EB"/>
              </a:solidFill>
            </c:spPr>
          </c:marker>
          <c:xVal>
            <c:numLit>
              <c:formatCode>General</c:formatCode>
              <c:ptCount val="3"/>
              <c:pt idx="0">
                <c:v>0</c:v>
              </c:pt>
              <c:pt idx="1">
                <c:v>0.5</c:v>
              </c:pt>
              <c:pt idx="2">
                <c:v>1</c:v>
              </c:pt>
            </c:numLit>
          </c:xVal>
          <c:yVal>
            <c:numLit>
              <c:formatCode>0.0</c:formatCode>
              <c:ptCount val="3"/>
              <c:pt idx="0">
                <c:v>0.411778</c:v>
              </c:pt>
              <c:pt idx="1">
                <c:v>0.46193</c:v>
              </c:pt>
              <c:pt idx="2">
                <c:v>0.330878</c:v>
              </c:pt>
            </c:numLit>
          </c:yVal>
        </c:ser>
        <c:ser>
          <c:idx val="1"/>
          <c:order val="1"/>
          <c:tx>
            <c:v>M3C2-style</c:v>
          </c:tx>
          <c:spPr>
            <a:solidFill xmlns:a="http://schemas.openxmlformats.org/drawingml/2006/main">
              <a:srgbClr val="EA580C"/>
            </a:solidFill>
            <a:ln xmlns:a="http://schemas.openxmlformats.org/drawingml/2006/main" w="28575">
              <a:solidFill>
                <a:srgbClr val="EA580C"/>
              </a:solidFill>
            </a:ln>
          </c:spPr>
          <c:marker>
            <c:symbol val="circle"/>
            <c:size val="7"/>
            <c:spPr>
              <a:solidFill xmlns:a="http://schemas.openxmlformats.org/drawingml/2006/main">
                <a:srgbClr val="EA580C"/>
              </a:solidFill>
            </c:spPr>
          </c:marker>
          <c:xVal>
            <c:numLit>
              <c:formatCode>General</c:formatCode>
              <c:ptCount val="3"/>
              <c:pt idx="0">
                <c:v>0</c:v>
              </c:pt>
              <c:pt idx="1">
                <c:v>0.5</c:v>
              </c:pt>
              <c:pt idx="2">
                <c:v>1</c:v>
              </c:pt>
            </c:numLit>
          </c:xVal>
          <c:yVal>
            <c:numLit>
              <c:formatCode>0.0</c:formatCode>
              <c:ptCount val="3"/>
              <c:pt idx="0">
                <c:v>0.23415</c:v>
              </c:pt>
              <c:pt idx="1">
                <c:v>0.122184</c:v>
              </c:pt>
              <c:pt idx="2">
                <c:v>0.104693</c:v>
              </c:pt>
            </c:numLit>
          </c:yVal>
        </c:ser>
        <c:ser>
          <c:idx val="2"/>
          <c:order val="2"/>
          <c:tx>
            <c:v>Siamese PointNet + NN</c:v>
          </c:tx>
          <c:spPr>
            <a:solidFill xmlns:a="http://schemas.openxmlformats.org/drawingml/2006/main">
              <a:srgbClr val="0F766E"/>
            </a:solidFill>
            <a:ln xmlns:a="http://schemas.openxmlformats.org/drawingml/2006/main" w="28575">
              <a:solidFill>
                <a:srgbClr val="0F766E"/>
              </a:solidFill>
            </a:ln>
          </c:spPr>
          <c:marker>
            <c:symbol val="circle"/>
            <c:size val="7"/>
            <c:spPr>
              <a:solidFill xmlns:a="http://schemas.openxmlformats.org/drawingml/2006/main">
                <a:srgbClr val="0F766E"/>
              </a:solidFill>
            </c:spPr>
          </c:marker>
          <c:xVal>
            <c:numLit>
              <c:formatCode>General</c:formatCode>
              <c:ptCount val="3"/>
              <c:pt idx="0">
                <c:v>0</c:v>
              </c:pt>
              <c:pt idx="1">
                <c:v>0.5</c:v>
              </c:pt>
              <c:pt idx="2">
                <c:v>1</c:v>
              </c:pt>
            </c:numLit>
          </c:xVal>
          <c:yVal>
            <c:numLit>
              <c:formatCode>0.0</c:formatCode>
              <c:ptCount val="3"/>
              <c:pt idx="0">
                <c:v>0.381705</c:v>
              </c:pt>
              <c:pt idx="1">
                <c:v>0.431362</c:v>
              </c:pt>
              <c:pt idx="2">
                <c:v>0.396774</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7"/>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Macro F1</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5011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Angle (degrees)</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2100" b="1">
                <a:solidFill>
                  <a:srgbClr val="0F172A"/>
                </a:solidFill>
                <a:latin typeface="Arial"/>
                <a:ea typeface="Arial"/>
                <a:cs typeface="Arial"/>
              </a:rPr>
              <a:t>Point retention</a:t>
            </a:r>
          </a:p>
        </c:rich>
      </c:tx>
      <c:overlay val="0"/>
      <c:txPr>
        <a:bodyPr xmlns:a="http://schemas.openxmlformats.org/drawingml/2006/main" anchorCtr="1"/>
        <a:lstStyle xmlns:a="http://schemas.openxmlformats.org/drawingml/2006/main"/>
        <a:p xmlns:a="http://schemas.openxmlformats.org/drawingml/2006/main">
          <a:pPr>
            <a:defRPr sz="2100" b="1">
              <a:solidFill>
                <a:srgbClr val="0F172A"/>
              </a:solidFill>
              <a:latin typeface="Arial"/>
              <a:ea typeface="Arial"/>
              <a:cs typeface="Arial"/>
            </a:defRPr>
          </a:pPr>
        </a:p>
      </c:txPr>
    </c:title>
    <c:plotArea>
      <c:scatterChart>
        <c:scatterStyle val="lineMarker"/>
        <c:varyColors val="0"/>
        <c:ser>
          <c:idx val="0"/>
          <c:order val="0"/>
          <c:tx>
            <c:v>C2C</c:v>
          </c:tx>
          <c:spPr>
            <a:solidFill xmlns:a="http://schemas.openxmlformats.org/drawingml/2006/main">
              <a:srgbClr val="2563EB"/>
            </a:solidFill>
            <a:ln xmlns:a="http://schemas.openxmlformats.org/drawingml/2006/main" w="28575">
              <a:solidFill>
                <a:srgbClr val="2563EB"/>
              </a:solidFill>
            </a:ln>
          </c:spPr>
          <c:marker>
            <c:symbol val="circle"/>
            <c:size val="7"/>
            <c:spPr>
              <a:solidFill xmlns:a="http://schemas.openxmlformats.org/drawingml/2006/main">
                <a:srgbClr val="2563EB"/>
              </a:solidFill>
            </c:spPr>
          </c:marker>
          <c:xVal>
            <c:numLit>
              <c:formatCode>General</c:formatCode>
              <c:ptCount val="3"/>
              <c:pt idx="0">
                <c:v>10</c:v>
              </c:pt>
              <c:pt idx="1">
                <c:v>25</c:v>
              </c:pt>
              <c:pt idx="2">
                <c:v>100</c:v>
              </c:pt>
            </c:numLit>
          </c:xVal>
          <c:yVal>
            <c:numLit>
              <c:formatCode>0.0</c:formatCode>
              <c:ptCount val="3"/>
              <c:pt idx="0">
                <c:v>0.439636</c:v>
              </c:pt>
              <c:pt idx="1">
                <c:v>0.435161</c:v>
              </c:pt>
              <c:pt idx="2">
                <c:v>0.411778</c:v>
              </c:pt>
            </c:numLit>
          </c:yVal>
        </c:ser>
        <c:ser>
          <c:idx val="1"/>
          <c:order val="1"/>
          <c:tx>
            <c:v>M3C2-style</c:v>
          </c:tx>
          <c:spPr>
            <a:solidFill xmlns:a="http://schemas.openxmlformats.org/drawingml/2006/main">
              <a:srgbClr val="EA580C"/>
            </a:solidFill>
            <a:ln xmlns:a="http://schemas.openxmlformats.org/drawingml/2006/main" w="28575">
              <a:solidFill>
                <a:srgbClr val="EA580C"/>
              </a:solidFill>
            </a:ln>
          </c:spPr>
          <c:marker>
            <c:symbol val="circle"/>
            <c:size val="7"/>
            <c:spPr>
              <a:solidFill xmlns:a="http://schemas.openxmlformats.org/drawingml/2006/main">
                <a:srgbClr val="EA580C"/>
              </a:solidFill>
            </c:spPr>
          </c:marker>
          <c:xVal>
            <c:numLit>
              <c:formatCode>General</c:formatCode>
              <c:ptCount val="3"/>
              <c:pt idx="0">
                <c:v>10</c:v>
              </c:pt>
              <c:pt idx="1">
                <c:v>25</c:v>
              </c:pt>
              <c:pt idx="2">
                <c:v>100</c:v>
              </c:pt>
            </c:numLit>
          </c:xVal>
          <c:yVal>
            <c:numLit>
              <c:formatCode>0.0</c:formatCode>
              <c:ptCount val="3"/>
              <c:pt idx="0">
                <c:v>0.244148</c:v>
              </c:pt>
              <c:pt idx="1">
                <c:v>0.251303</c:v>
              </c:pt>
              <c:pt idx="2">
                <c:v>0.23415</c:v>
              </c:pt>
            </c:numLit>
          </c:yVal>
        </c:ser>
        <c:ser>
          <c:idx val="2"/>
          <c:order val="2"/>
          <c:tx>
            <c:v>Siamese PointNet + NN</c:v>
          </c:tx>
          <c:spPr>
            <a:solidFill xmlns:a="http://schemas.openxmlformats.org/drawingml/2006/main">
              <a:srgbClr val="0F766E"/>
            </a:solidFill>
            <a:ln xmlns:a="http://schemas.openxmlformats.org/drawingml/2006/main" w="28575">
              <a:solidFill>
                <a:srgbClr val="0F766E"/>
              </a:solidFill>
            </a:ln>
          </c:spPr>
          <c:marker>
            <c:symbol val="circle"/>
            <c:size val="7"/>
            <c:spPr>
              <a:solidFill xmlns:a="http://schemas.openxmlformats.org/drawingml/2006/main">
                <a:srgbClr val="0F766E"/>
              </a:solidFill>
            </c:spPr>
          </c:marker>
          <c:xVal>
            <c:numLit>
              <c:formatCode>General</c:formatCode>
              <c:ptCount val="3"/>
              <c:pt idx="0">
                <c:v>10</c:v>
              </c:pt>
              <c:pt idx="1">
                <c:v>25</c:v>
              </c:pt>
              <c:pt idx="2">
                <c:v>100</c:v>
              </c:pt>
            </c:numLit>
          </c:xVal>
          <c:yVal>
            <c:numLit>
              <c:formatCode>0.0</c:formatCode>
              <c:ptCount val="3"/>
              <c:pt idx="0">
                <c:v>0.310102</c:v>
              </c:pt>
              <c:pt idx="1">
                <c:v>0.367903</c:v>
              </c:pt>
              <c:pt idx="2">
                <c:v>0.381705</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7"/>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Macro F1</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50112"/>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Scan 1 retained (%)</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2100" b="1">
                <a:solidFill>
                  <a:srgbClr val="0F172A"/>
                </a:solidFill>
                <a:latin typeface="Arial"/>
                <a:ea typeface="Arial"/>
                <a:cs typeface="Arial"/>
              </a:rPr>
              <a:t>Coordinate noise</a:t>
            </a:r>
          </a:p>
        </c:rich>
      </c:tx>
      <c:overlay val="0"/>
      <c:txPr>
        <a:bodyPr xmlns:a="http://schemas.openxmlformats.org/drawingml/2006/main" anchorCtr="1"/>
        <a:lstStyle xmlns:a="http://schemas.openxmlformats.org/drawingml/2006/main"/>
        <a:p xmlns:a="http://schemas.openxmlformats.org/drawingml/2006/main">
          <a:pPr>
            <a:defRPr sz="2100" b="1">
              <a:solidFill>
                <a:srgbClr val="0F172A"/>
              </a:solidFill>
              <a:latin typeface="Arial"/>
              <a:ea typeface="Arial"/>
              <a:cs typeface="Arial"/>
            </a:defRPr>
          </a:pPr>
        </a:p>
      </c:txPr>
    </c:title>
    <c:plotArea>
      <c:scatterChart>
        <c:scatterStyle val="lineMarker"/>
        <c:varyColors val="0"/>
        <c:ser>
          <c:idx val="0"/>
          <c:order val="0"/>
          <c:tx>
            <c:v>C2C</c:v>
          </c:tx>
          <c:spPr>
            <a:solidFill xmlns:a="http://schemas.openxmlformats.org/drawingml/2006/main">
              <a:srgbClr val="2563EB"/>
            </a:solidFill>
            <a:ln xmlns:a="http://schemas.openxmlformats.org/drawingml/2006/main" w="28575">
              <a:solidFill>
                <a:srgbClr val="2563EB"/>
              </a:solidFill>
            </a:ln>
          </c:spPr>
          <c:marker>
            <c:symbol val="circle"/>
            <c:size val="7"/>
            <c:spPr>
              <a:solidFill xmlns:a="http://schemas.openxmlformats.org/drawingml/2006/main">
                <a:srgbClr val="2563EB"/>
              </a:solidFill>
            </c:spPr>
          </c:marker>
          <c:xVal>
            <c:numLit>
              <c:formatCode>General</c:formatCode>
              <c:ptCount val="3"/>
              <c:pt idx="0">
                <c:v>0</c:v>
              </c:pt>
              <c:pt idx="1">
                <c:v>2</c:v>
              </c:pt>
              <c:pt idx="2">
                <c:v>7.5</c:v>
              </c:pt>
            </c:numLit>
          </c:xVal>
          <c:yVal>
            <c:numLit>
              <c:formatCode>0.0</c:formatCode>
              <c:ptCount val="3"/>
              <c:pt idx="0">
                <c:v>0.411778</c:v>
              </c:pt>
              <c:pt idx="1">
                <c:v>0.365802</c:v>
              </c:pt>
              <c:pt idx="2">
                <c:v>0.431538</c:v>
              </c:pt>
            </c:numLit>
          </c:yVal>
        </c:ser>
        <c:ser>
          <c:idx val="1"/>
          <c:order val="1"/>
          <c:tx>
            <c:v>M3C2-style</c:v>
          </c:tx>
          <c:spPr>
            <a:solidFill xmlns:a="http://schemas.openxmlformats.org/drawingml/2006/main">
              <a:srgbClr val="EA580C"/>
            </a:solidFill>
            <a:ln xmlns:a="http://schemas.openxmlformats.org/drawingml/2006/main" w="28575">
              <a:solidFill>
                <a:srgbClr val="EA580C"/>
              </a:solidFill>
            </a:ln>
          </c:spPr>
          <c:marker>
            <c:symbol val="circle"/>
            <c:size val="7"/>
            <c:spPr>
              <a:solidFill xmlns:a="http://schemas.openxmlformats.org/drawingml/2006/main">
                <a:srgbClr val="EA580C"/>
              </a:solidFill>
            </c:spPr>
          </c:marker>
          <c:xVal>
            <c:numLit>
              <c:formatCode>General</c:formatCode>
              <c:ptCount val="3"/>
              <c:pt idx="0">
                <c:v>0</c:v>
              </c:pt>
              <c:pt idx="1">
                <c:v>2</c:v>
              </c:pt>
              <c:pt idx="2">
                <c:v>7.5</c:v>
              </c:pt>
            </c:numLit>
          </c:xVal>
          <c:yVal>
            <c:numLit>
              <c:formatCode>0.0</c:formatCode>
              <c:ptCount val="3"/>
              <c:pt idx="0">
                <c:v>0.23415</c:v>
              </c:pt>
              <c:pt idx="1">
                <c:v>0.216579</c:v>
              </c:pt>
              <c:pt idx="2">
                <c:v>0.207672</c:v>
              </c:pt>
            </c:numLit>
          </c:yVal>
        </c:ser>
        <c:ser>
          <c:idx val="2"/>
          <c:order val="2"/>
          <c:tx>
            <c:v>Siamese PointNet + NN</c:v>
          </c:tx>
          <c:spPr>
            <a:solidFill xmlns:a="http://schemas.openxmlformats.org/drawingml/2006/main">
              <a:srgbClr val="0F766E"/>
            </a:solidFill>
            <a:ln xmlns:a="http://schemas.openxmlformats.org/drawingml/2006/main" w="28575">
              <a:solidFill>
                <a:srgbClr val="0F766E"/>
              </a:solidFill>
            </a:ln>
          </c:spPr>
          <c:marker>
            <c:symbol val="circle"/>
            <c:size val="7"/>
            <c:spPr>
              <a:solidFill xmlns:a="http://schemas.openxmlformats.org/drawingml/2006/main">
                <a:srgbClr val="0F766E"/>
              </a:solidFill>
            </c:spPr>
          </c:marker>
          <c:xVal>
            <c:numLit>
              <c:formatCode>General</c:formatCode>
              <c:ptCount val="3"/>
              <c:pt idx="0">
                <c:v>0</c:v>
              </c:pt>
              <c:pt idx="1">
                <c:v>2</c:v>
              </c:pt>
              <c:pt idx="2">
                <c:v>7.5</c:v>
              </c:pt>
            </c:numLit>
          </c:xVal>
          <c:yVal>
            <c:numLit>
              <c:formatCode>0.0</c:formatCode>
              <c:ptCount val="3"/>
              <c:pt idx="0">
                <c:v>0.381705</c:v>
              </c:pt>
              <c:pt idx="1">
                <c:v>0.346497</c:v>
              </c:pt>
              <c:pt idx="2">
                <c:v>0.374938</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7"/>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Macro F1</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50112"/>
      </c:valAx>
      <c:valAx>
        <c:axId val="48650112"/>
        <c:scaling>
          <c:orientation val="minMax"/>
          <c:max val="7.5"/>
          <c:min val="0"/>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Per-axis SD (cm)</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charts/chart6.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2100" b="1">
                <a:solidFill>
                  <a:srgbClr val="0F172A"/>
                </a:solidFill>
                <a:latin typeface="Arial"/>
                <a:ea typeface="Arial"/>
                <a:cs typeface="Arial"/>
              </a:rPr>
              <a:t>A: strict scoring</a:t>
            </a:r>
          </a:p>
        </c:rich>
      </c:tx>
      <c:overlay val="0"/>
      <c:txPr>
        <a:bodyPr xmlns:a="http://schemas.openxmlformats.org/drawingml/2006/main" anchorCtr="1"/>
        <a:lstStyle xmlns:a="http://schemas.openxmlformats.org/drawingml/2006/main"/>
        <a:p xmlns:a="http://schemas.openxmlformats.org/drawingml/2006/main">
          <a:pPr>
            <a:defRPr sz="2100" b="1">
              <a:solidFill>
                <a:srgbClr val="0F172A"/>
              </a:solidFill>
              <a:latin typeface="Arial"/>
              <a:ea typeface="Arial"/>
              <a:cs typeface="Arial"/>
            </a:defRPr>
          </a:pPr>
        </a:p>
      </c:txPr>
    </c:title>
    <c:plotArea>
      <c:scatterChart>
        <c:scatterStyle val="lineMarker"/>
        <c:varyColors val="0"/>
        <c:ser>
          <c:idx val="0"/>
          <c:order val="0"/>
          <c:tx>
            <c:v>C2C</c:v>
          </c:tx>
          <c:spPr>
            <a:solidFill xmlns:a="http://schemas.openxmlformats.org/drawingml/2006/main">
              <a:srgbClr val="2563EB"/>
            </a:solidFill>
            <a:ln xmlns:a="http://schemas.openxmlformats.org/drawingml/2006/main" w="28575">
              <a:solidFill>
                <a:srgbClr val="2563EB"/>
              </a:solidFill>
            </a:ln>
          </c:spPr>
          <c:marker>
            <c:symbol val="circle"/>
            <c:size val="7"/>
            <c:spPr>
              <a:solidFill xmlns:a="http://schemas.openxmlformats.org/drawingml/2006/main">
                <a:srgbClr val="2563EB"/>
              </a:solidFill>
            </c:spPr>
          </c:marker>
          <c:xVal>
            <c:numLit>
              <c:formatCode>General</c:formatCode>
              <c:ptCount val="3"/>
              <c:pt idx="0">
                <c:v>0</c:v>
              </c:pt>
              <c:pt idx="1">
                <c:v>4.6</c:v>
              </c:pt>
              <c:pt idx="2">
                <c:v>7.6</c:v>
              </c:pt>
            </c:numLit>
          </c:xVal>
          <c:yVal>
            <c:numLit>
              <c:formatCode>0.0</c:formatCode>
              <c:ptCount val="3"/>
              <c:pt idx="0">
                <c:v>0.627417</c:v>
              </c:pt>
              <c:pt idx="1">
                <c:v>0.620055</c:v>
              </c:pt>
              <c:pt idx="2">
                <c:v>0.592521</c:v>
              </c:pt>
            </c:numLit>
          </c:yVal>
        </c:ser>
        <c:ser>
          <c:idx val="1"/>
          <c:order val="1"/>
          <c:tx>
            <c:v>M3C2-style</c:v>
          </c:tx>
          <c:spPr>
            <a:solidFill xmlns:a="http://schemas.openxmlformats.org/drawingml/2006/main">
              <a:srgbClr val="EA580C"/>
            </a:solidFill>
            <a:ln xmlns:a="http://schemas.openxmlformats.org/drawingml/2006/main" w="28575">
              <a:solidFill>
                <a:srgbClr val="EA580C"/>
              </a:solidFill>
            </a:ln>
          </c:spPr>
          <c:marker>
            <c:symbol val="circle"/>
            <c:size val="7"/>
            <c:spPr>
              <a:solidFill xmlns:a="http://schemas.openxmlformats.org/drawingml/2006/main">
                <a:srgbClr val="EA580C"/>
              </a:solidFill>
            </c:spPr>
          </c:marker>
          <c:xVal>
            <c:numLit>
              <c:formatCode>General</c:formatCode>
              <c:ptCount val="3"/>
              <c:pt idx="0">
                <c:v>0</c:v>
              </c:pt>
              <c:pt idx="1">
                <c:v>4.6</c:v>
              </c:pt>
              <c:pt idx="2">
                <c:v>7.6</c:v>
              </c:pt>
            </c:numLit>
          </c:xVal>
          <c:yVal>
            <c:numLit>
              <c:formatCode>0.0</c:formatCode>
              <c:ptCount val="3"/>
              <c:pt idx="0">
                <c:v>0.35288</c:v>
              </c:pt>
              <c:pt idx="1">
                <c:v>0.347607</c:v>
              </c:pt>
              <c:pt idx="2">
                <c:v>0.306601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8"/>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Macro F1</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50112"/>
      </c:valAx>
      <c:valAx>
        <c:axId val="48650112"/>
        <c:scaling>
          <c:orientation val="minMax"/>
          <c:max val="7.6"/>
          <c:min val="0"/>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Deleted cylinder radius (m)</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charts/chart7.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2100" b="1">
                <a:solidFill>
                  <a:srgbClr val="0F172A"/>
                </a:solidFill>
                <a:latin typeface="Arial"/>
                <a:ea typeface="Arial"/>
                <a:cs typeface="Arial"/>
              </a:rPr>
              <a:t>B: blind cylinder excluded</a:t>
            </a:r>
          </a:p>
        </c:rich>
      </c:tx>
      <c:overlay val="0"/>
      <c:txPr>
        <a:bodyPr xmlns:a="http://schemas.openxmlformats.org/drawingml/2006/main" anchorCtr="1"/>
        <a:lstStyle xmlns:a="http://schemas.openxmlformats.org/drawingml/2006/main"/>
        <a:p xmlns:a="http://schemas.openxmlformats.org/drawingml/2006/main">
          <a:pPr>
            <a:defRPr sz="2100" b="1">
              <a:solidFill>
                <a:srgbClr val="0F172A"/>
              </a:solidFill>
              <a:latin typeface="Arial"/>
              <a:ea typeface="Arial"/>
              <a:cs typeface="Arial"/>
            </a:defRPr>
          </a:pPr>
        </a:p>
      </c:txPr>
    </c:title>
    <c:plotArea>
      <c:scatterChart>
        <c:scatterStyle val="lineMarker"/>
        <c:varyColors val="0"/>
        <c:ser>
          <c:idx val="0"/>
          <c:order val="0"/>
          <c:tx>
            <c:v>C2C</c:v>
          </c:tx>
          <c:spPr>
            <a:solidFill xmlns:a="http://schemas.openxmlformats.org/drawingml/2006/main">
              <a:srgbClr val="2563EB"/>
            </a:solidFill>
            <a:ln xmlns:a="http://schemas.openxmlformats.org/drawingml/2006/main" w="28575">
              <a:solidFill>
                <a:srgbClr val="2563EB"/>
              </a:solidFill>
            </a:ln>
          </c:spPr>
          <c:marker>
            <c:symbol val="circle"/>
            <c:size val="7"/>
            <c:spPr>
              <a:solidFill xmlns:a="http://schemas.openxmlformats.org/drawingml/2006/main">
                <a:srgbClr val="2563EB"/>
              </a:solidFill>
            </c:spPr>
          </c:marker>
          <c:xVal>
            <c:numLit>
              <c:formatCode>General</c:formatCode>
              <c:ptCount val="3"/>
              <c:pt idx="0">
                <c:v>0</c:v>
              </c:pt>
              <c:pt idx="1">
                <c:v>4.6</c:v>
              </c:pt>
              <c:pt idx="2">
                <c:v>7.6</c:v>
              </c:pt>
            </c:numLit>
          </c:xVal>
          <c:yVal>
            <c:numLit>
              <c:formatCode>0.0</c:formatCode>
              <c:ptCount val="3"/>
              <c:pt idx="0">
                <c:v>0.627417</c:v>
              </c:pt>
              <c:pt idx="1">
                <c:v>0.619099</c:v>
              </c:pt>
              <c:pt idx="2">
                <c:v>0.595029</c:v>
              </c:pt>
            </c:numLit>
          </c:yVal>
        </c:ser>
        <c:ser>
          <c:idx val="1"/>
          <c:order val="1"/>
          <c:tx>
            <c:v>M3C2-style</c:v>
          </c:tx>
          <c:spPr>
            <a:solidFill xmlns:a="http://schemas.openxmlformats.org/drawingml/2006/main">
              <a:srgbClr val="EA580C"/>
            </a:solidFill>
            <a:ln xmlns:a="http://schemas.openxmlformats.org/drawingml/2006/main" w="28575">
              <a:solidFill>
                <a:srgbClr val="EA580C"/>
              </a:solidFill>
            </a:ln>
          </c:spPr>
          <c:marker>
            <c:symbol val="circle"/>
            <c:size val="7"/>
            <c:spPr>
              <a:solidFill xmlns:a="http://schemas.openxmlformats.org/drawingml/2006/main">
                <a:srgbClr val="EA580C"/>
              </a:solidFill>
            </c:spPr>
          </c:marker>
          <c:xVal>
            <c:numLit>
              <c:formatCode>General</c:formatCode>
              <c:ptCount val="3"/>
              <c:pt idx="0">
                <c:v>0</c:v>
              </c:pt>
              <c:pt idx="1">
                <c:v>4.6</c:v>
              </c:pt>
              <c:pt idx="2">
                <c:v>7.6</c:v>
              </c:pt>
            </c:numLit>
          </c:xVal>
          <c:yVal>
            <c:numLit>
              <c:formatCode>0.0</c:formatCode>
              <c:ptCount val="3"/>
              <c:pt idx="0">
                <c:v>0.35288</c:v>
              </c:pt>
              <c:pt idx="1">
                <c:v>0.347011</c:v>
              </c:pt>
              <c:pt idx="2">
                <c:v>0.307422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8"/>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Macro F1</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50112"/>
      </c:valAx>
      <c:valAx>
        <c:axId val="48650112"/>
        <c:scaling>
          <c:orientation val="minMax"/>
          <c:max val="7.6"/>
          <c:min val="0"/>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Deleted cylinder radius (m)</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charts/chart8.xml><?xml version="1.0" encoding="utf-8"?>
<c:chartSpace xmlns:c="http://schemas.openxmlformats.org/drawingml/2006/chart">
  <c:lang val="en-US"/>
  <c:chart>
    <c:plotArea>
      <c:lineChart>
        <c:grouping val="standard"/>
        <c:varyColors val="0"/>
        <c:ser>
          <c:idx val="0"/>
          <c:order val="0"/>
          <c:tx>
            <c:v>Training BCE</c:v>
          </c:tx>
          <c:spPr>
            <a:ln xmlns:a="http://schemas.openxmlformats.org/drawingml/2006/main" w="28575">
              <a:solidFill>
                <a:srgbClr val="2563EB"/>
              </a:solidFill>
            </a:ln>
          </c:spPr>
          <c:marker>
            <c:symbol val="none"/>
          </c:marker>
          <c:cat>
            <c:numLit>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Lit>
          </c:cat>
          <c:val>
            <c:numLit>
              <c:formatCode>General</c:formatCode>
              <c:ptCount val="30"/>
              <c:pt idx="0">
                <c:v>0.742697</c:v>
              </c:pt>
              <c:pt idx="1">
                <c:v>0.421645</c:v>
              </c:pt>
              <c:pt idx="2">
                <c:v>0.371184</c:v>
              </c:pt>
              <c:pt idx="3">
                <c:v>0.350198</c:v>
              </c:pt>
              <c:pt idx="4">
                <c:v>0.336419</c:v>
              </c:pt>
              <c:pt idx="5">
                <c:v>0.325669</c:v>
              </c:pt>
              <c:pt idx="6">
                <c:v>0.319878</c:v>
              </c:pt>
              <c:pt idx="7">
                <c:v>0.304841</c:v>
              </c:pt>
              <c:pt idx="8">
                <c:v>0.293646</c:v>
              </c:pt>
              <c:pt idx="9">
                <c:v>0.283717</c:v>
              </c:pt>
              <c:pt idx="10">
                <c:v>0.277405</c:v>
              </c:pt>
              <c:pt idx="11">
                <c:v>0.27037</c:v>
              </c:pt>
              <c:pt idx="12">
                <c:v>0.270017</c:v>
              </c:pt>
              <c:pt idx="13">
                <c:v>0.256841</c:v>
              </c:pt>
              <c:pt idx="14">
                <c:v>0.253751</c:v>
              </c:pt>
              <c:pt idx="15">
                <c:v>0.248259</c:v>
              </c:pt>
              <c:pt idx="16">
                <c:v>0.246889</c:v>
              </c:pt>
              <c:pt idx="17">
                <c:v>0.245504</c:v>
              </c:pt>
              <c:pt idx="18">
                <c:v>0.234858</c:v>
              </c:pt>
              <c:pt idx="19">
                <c:v>0.231525</c:v>
              </c:pt>
              <c:pt idx="20">
                <c:v>0.231109</c:v>
              </c:pt>
              <c:pt idx="21">
                <c:v>0.22961</c:v>
              </c:pt>
              <c:pt idx="22">
                <c:v>0.219352</c:v>
              </c:pt>
              <c:pt idx="23">
                <c:v>0.214798</c:v>
              </c:pt>
              <c:pt idx="24">
                <c:v>0.213284</c:v>
              </c:pt>
              <c:pt idx="25">
                <c:v>0.208994</c:v>
              </c:pt>
              <c:pt idx="26">
                <c:v>0.214801</c:v>
              </c:pt>
              <c:pt idx="27">
                <c:v>0.208436</c:v>
              </c:pt>
              <c:pt idx="28">
                <c:v>0.203612</c:v>
              </c:pt>
              <c:pt idx="29">
                <c:v>0.200253</c:v>
              </c:pt>
            </c:numLit>
          </c:val>
        </c:ser>
        <c:ser>
          <c:idx val="1"/>
          <c:order val="1"/>
          <c:tx>
            <c:v>Calibration BCE</c:v>
          </c:tx>
          <c:spPr>
            <a:ln xmlns:a="http://schemas.openxmlformats.org/drawingml/2006/main" w="28575">
              <a:solidFill>
                <a:srgbClr val="EA580C"/>
              </a:solidFill>
            </a:ln>
          </c:spPr>
          <c:marker>
            <c:symbol val="none"/>
          </c:marker>
          <c:cat>
            <c:numLit>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Lit>
          </c:cat>
          <c:val>
            <c:numLit>
              <c:formatCode>General</c:formatCode>
              <c:ptCount val="30"/>
              <c:pt idx="0">
                <c:v>0.551486</c:v>
              </c:pt>
              <c:pt idx="1">
                <c:v>0.634005</c:v>
              </c:pt>
              <c:pt idx="2">
                <c:v>0.667157</c:v>
              </c:pt>
              <c:pt idx="3">
                <c:v>0.653285</c:v>
              </c:pt>
              <c:pt idx="4">
                <c:v>0.647427</c:v>
              </c:pt>
              <c:pt idx="5">
                <c:v>0.663232</c:v>
              </c:pt>
              <c:pt idx="6">
                <c:v>0.631847</c:v>
              </c:pt>
              <c:pt idx="7">
                <c:v>0.632301</c:v>
              </c:pt>
              <c:pt idx="8">
                <c:v>0.623901</c:v>
              </c:pt>
              <c:pt idx="9">
                <c:v>0.614168</c:v>
              </c:pt>
              <c:pt idx="10">
                <c:v>0.642088</c:v>
              </c:pt>
              <c:pt idx="11">
                <c:v>0.614664</c:v>
              </c:pt>
              <c:pt idx="12">
                <c:v>0.593386</c:v>
              </c:pt>
              <c:pt idx="13">
                <c:v>0.609548</c:v>
              </c:pt>
              <c:pt idx="14">
                <c:v>0.643676</c:v>
              </c:pt>
              <c:pt idx="15">
                <c:v>0.647651</c:v>
              </c:pt>
              <c:pt idx="16">
                <c:v>0.622264</c:v>
              </c:pt>
              <c:pt idx="17">
                <c:v>0.586242</c:v>
              </c:pt>
              <c:pt idx="18">
                <c:v>0.657523</c:v>
              </c:pt>
              <c:pt idx="19">
                <c:v>0.663742</c:v>
              </c:pt>
              <c:pt idx="20">
                <c:v>0.689757</c:v>
              </c:pt>
              <c:pt idx="21">
                <c:v>0.620722</c:v>
              </c:pt>
              <c:pt idx="22">
                <c:v>0.636641</c:v>
              </c:pt>
              <c:pt idx="23">
                <c:v>0.643474</c:v>
              </c:pt>
              <c:pt idx="24">
                <c:v>0.68758</c:v>
              </c:pt>
              <c:pt idx="25">
                <c:v>0.665994</c:v>
              </c:pt>
              <c:pt idx="26">
                <c:v>0.704251</c:v>
              </c:pt>
              <c:pt idx="27">
                <c:v>0.665512</c:v>
              </c:pt>
              <c:pt idx="28">
                <c:v>0.652059</c:v>
              </c:pt>
              <c:pt idx="29">
                <c:v>0.684563</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max val="0.9"/>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Weighted BCE</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921990-8B75-4B98-B77E-C17B91B12D0F}"/>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2" name="">
            <a:extLst xmlns:a="http://schemas.openxmlformats.org/drawingml/2006/main">
              <a:ext uri="{FF2B5EF4-FFF2-40B4-BE49-F238E27FC236}">
                <a16:creationId xmlns:a16="http://schemas.microsoft.com/office/drawing/2014/main" id="{DB5B46F9-001C-49DA-8753-C4037C2797A4}"/>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0C2BAE52-25DB-409E-98CD-1CE0DF9B2B90}"/>
              </a:ext>
            </a:extLst>
          </p:cNvPr>
          <p:cNvSpPr>
            <a:spLocks xmlns:a="http://schemas.openxmlformats.org/drawingml/2006/main" noGrp="1"/>
          </p:cNvSpPr>
          <p:nvPr/>
        </p:nvSpPr>
        <p:spPr>
          <a:xfrm xmlns:a="http://schemas.openxmlformats.org/drawingml/2006/main">
            <a:off x="609600" y="619125"/>
            <a:ext cx="638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200" b="1">
                <a:solidFill>
                  <a:srgbClr val="0F172A"/>
                </a:solidFill>
                <a:latin typeface="Arial"/>
                <a:ea typeface="Arial"/>
                <a:cs typeface="Arial"/>
              </a:defRPr>
            </a:defPPr>
            <a:lvl1pPr>
              <a:defRPr sz="4200" b="1">
                <a:solidFill>
                  <a:srgbClr val="0F172A"/>
                </a:solidFill>
                <a:latin typeface="Arial"/>
                <a:ea typeface="Arial"/>
                <a:cs typeface="Arial"/>
              </a:defRPr>
            </a:lvl1pPr>
            <a:lvl2pPr>
              <a:defRPr sz="4200" b="1">
                <a:solidFill>
                  <a:srgbClr val="0F172A"/>
                </a:solidFill>
                <a:latin typeface="Arial"/>
                <a:ea typeface="Arial"/>
                <a:cs typeface="Arial"/>
              </a:defRPr>
            </a:lvl2pPr>
            <a:lvl3pPr>
              <a:defRPr sz="4200" b="1">
                <a:solidFill>
                  <a:srgbClr val="0F172A"/>
                </a:solidFill>
                <a:latin typeface="Arial"/>
                <a:ea typeface="Arial"/>
                <a:cs typeface="Arial"/>
              </a:defRPr>
            </a:lvl3pPr>
            <a:lvl4pPr>
              <a:defRPr sz="4200" b="1">
                <a:solidFill>
                  <a:srgbClr val="0F172A"/>
                </a:solidFill>
                <a:latin typeface="Arial"/>
                <a:ea typeface="Arial"/>
                <a:cs typeface="Arial"/>
              </a:defRPr>
            </a:lvl4pPr>
            <a:lvl5pPr>
              <a:defRPr sz="4200" b="1">
                <a:solidFill>
                  <a:srgbClr val="0F172A"/>
                </a:solidFill>
                <a:latin typeface="Arial"/>
                <a:ea typeface="Arial"/>
                <a:cs typeface="Arial"/>
              </a:defRPr>
            </a:lvl5pPr>
            <a:lvl6pPr>
              <a:defRPr sz="4200" b="1">
                <a:solidFill>
                  <a:srgbClr val="0F172A"/>
                </a:solidFill>
                <a:latin typeface="Arial"/>
                <a:ea typeface="Arial"/>
                <a:cs typeface="Arial"/>
              </a:defRPr>
            </a:lvl6pPr>
            <a:lvl7pPr>
              <a:defRPr sz="4200" b="1">
                <a:solidFill>
                  <a:srgbClr val="0F172A"/>
                </a:solidFill>
                <a:latin typeface="Arial"/>
                <a:ea typeface="Arial"/>
                <a:cs typeface="Arial"/>
              </a:defRPr>
            </a:lvl7pPr>
            <a:lvl8pPr>
              <a:defRPr sz="4200" b="1">
                <a:solidFill>
                  <a:srgbClr val="0F172A"/>
                </a:solidFill>
                <a:latin typeface="Arial"/>
                <a:ea typeface="Arial"/>
                <a:cs typeface="Arial"/>
              </a:defRPr>
            </a:lvl8pPr>
            <a:lvl9pPr>
              <a:defRPr sz="4200" b="1">
                <a:solidFill>
                  <a:srgbClr val="0F172A"/>
                </a:solidFill>
                <a:latin typeface="Arial"/>
                <a:ea typeface="Arial"/>
                <a:cs typeface="Arial"/>
              </a:defRPr>
            </a:lvl9pPr>
          </a:lstStyle>
          <a:p xmlns:a="http://schemas.openxmlformats.org/drawingml/2006/main">
            <a:pPr>
              <a:defRPr sz="4200" b="1">
                <a:solidFill>
                  <a:srgbClr val="0F172A"/>
                </a:solidFill>
                <a:latin typeface="Arial"/>
                <a:ea typeface="Arial"/>
                <a:cs typeface="Arial"/>
              </a:defRPr>
            </a:pPr>
            <a:r>
              <a:rPr sz="4200" b="1">
                <a:solidFill>
                  <a:srgbClr val="0F172A"/>
                </a:solidFill>
                <a:latin typeface="Arial"/>
                <a:ea typeface="Arial"/>
                <a:cs typeface="Arial"/>
              </a:rPr>
              <a:t>Robust 3D</a:t>
            </a:r>
          </a:p>
          <a:p xmlns:a="http://schemas.openxmlformats.org/drawingml/2006/main">
            <a:pPr>
              <a:defRPr sz="4200" b="1">
                <a:solidFill>
                  <a:srgbClr val="0F172A"/>
                </a:solidFill>
                <a:latin typeface="Arial"/>
                <a:ea typeface="Arial"/>
                <a:cs typeface="Arial"/>
              </a:defRPr>
            </a:pPr>
            <a:r>
              <a:rPr sz="4200" b="1">
                <a:solidFill>
                  <a:srgbClr val="0F172A"/>
                </a:solidFill>
                <a:latin typeface="Arial"/>
                <a:ea typeface="Arial"/>
                <a:cs typeface="Arial"/>
              </a:rPr>
              <a:t>Change Detection</a:t>
            </a:r>
          </a:p>
          <a:p xmlns:a="http://schemas.openxmlformats.org/drawingml/2006/main">
            <a:pPr>
              <a:defRPr sz="4200" b="1">
                <a:solidFill>
                  <a:srgbClr val="0F172A"/>
                </a:solidFill>
                <a:latin typeface="Arial"/>
                <a:ea typeface="Arial"/>
                <a:cs typeface="Arial"/>
              </a:defRPr>
            </a:pPr>
            <a:r>
              <a:rPr sz="4200" b="1">
                <a:solidFill>
                  <a:srgbClr val="0F172A"/>
                </a:solidFill>
                <a:latin typeface="Arial"/>
                <a:ea typeface="Arial"/>
                <a:cs typeface="Arial"/>
              </a:rPr>
              <a:t>for Construction</a:t>
            </a:r>
          </a:p>
          <a:p xmlns:a="http://schemas.openxmlformats.org/drawingml/2006/main">
            <a:pPr>
              <a:defRPr sz="4200" b="1">
                <a:solidFill>
                  <a:srgbClr val="0F172A"/>
                </a:solidFill>
                <a:latin typeface="Arial"/>
                <a:ea typeface="Arial"/>
                <a:cs typeface="Arial"/>
              </a:defRPr>
            </a:pPr>
            <a:r>
              <a:rPr sz="4200" b="1">
                <a:solidFill>
                  <a:srgbClr val="0F172A"/>
                </a:solidFill>
                <a:latin typeface="Arial"/>
                <a:ea typeface="Arial"/>
                <a:cs typeface="Arial"/>
              </a:rPr>
              <a:t>Progress Monitoring</a:t>
            </a:r>
          </a:p>
        </p:txBody>
      </p:sp>
      <p:sp>
        <p:nvSpPr>
          <p:cNvPr id="4" name="">
            <a:extLst xmlns:a="http://schemas.openxmlformats.org/drawingml/2006/main">
              <a:ext uri="{FF2B5EF4-FFF2-40B4-BE49-F238E27FC236}">
                <a16:creationId xmlns:a16="http://schemas.microsoft.com/office/drawing/2014/main" id="{8ADF9865-33B7-4236-99F5-7D9BFB5AD490}"/>
              </a:ext>
            </a:extLst>
          </p:cNvPr>
          <p:cNvSpPr>
            <a:spLocks xmlns:a="http://schemas.openxmlformats.org/drawingml/2006/main" noGrp="1"/>
          </p:cNvSpPr>
          <p:nvPr/>
        </p:nvSpPr>
        <p:spPr>
          <a:xfrm xmlns:a="http://schemas.openxmlformats.org/drawingml/2006/main">
            <a:off x="647700" y="4333875"/>
            <a:ext cx="619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0F172A"/>
                </a:solidFill>
                <a:latin typeface="Arial"/>
                <a:ea typeface="Arial"/>
                <a:cs typeface="Arial"/>
              </a:defRPr>
            </a:defPPr>
            <a:lvl1pPr>
              <a:defRPr sz="1875" b="0">
                <a:solidFill>
                  <a:srgbClr val="0F172A"/>
                </a:solidFill>
                <a:latin typeface="Arial"/>
                <a:ea typeface="Arial"/>
                <a:cs typeface="Arial"/>
              </a:defRPr>
            </a:lvl1pPr>
            <a:lvl2pPr>
              <a:defRPr sz="1875" b="0">
                <a:solidFill>
                  <a:srgbClr val="0F172A"/>
                </a:solidFill>
                <a:latin typeface="Arial"/>
                <a:ea typeface="Arial"/>
                <a:cs typeface="Arial"/>
              </a:defRPr>
            </a:lvl2pPr>
            <a:lvl3pPr>
              <a:defRPr sz="1875" b="0">
                <a:solidFill>
                  <a:srgbClr val="0F172A"/>
                </a:solidFill>
                <a:latin typeface="Arial"/>
                <a:ea typeface="Arial"/>
                <a:cs typeface="Arial"/>
              </a:defRPr>
            </a:lvl3pPr>
            <a:lvl4pPr>
              <a:defRPr sz="1875" b="0">
                <a:solidFill>
                  <a:srgbClr val="0F172A"/>
                </a:solidFill>
                <a:latin typeface="Arial"/>
                <a:ea typeface="Arial"/>
                <a:cs typeface="Arial"/>
              </a:defRPr>
            </a:lvl4pPr>
            <a:lvl5pPr>
              <a:defRPr sz="1875" b="0">
                <a:solidFill>
                  <a:srgbClr val="0F172A"/>
                </a:solidFill>
                <a:latin typeface="Arial"/>
                <a:ea typeface="Arial"/>
                <a:cs typeface="Arial"/>
              </a:defRPr>
            </a:lvl5pPr>
            <a:lvl6pPr>
              <a:defRPr sz="1875" b="0">
                <a:solidFill>
                  <a:srgbClr val="0F172A"/>
                </a:solidFill>
                <a:latin typeface="Arial"/>
                <a:ea typeface="Arial"/>
                <a:cs typeface="Arial"/>
              </a:defRPr>
            </a:lvl6pPr>
            <a:lvl7pPr>
              <a:defRPr sz="1875" b="0">
                <a:solidFill>
                  <a:srgbClr val="0F172A"/>
                </a:solidFill>
                <a:latin typeface="Arial"/>
                <a:ea typeface="Arial"/>
                <a:cs typeface="Arial"/>
              </a:defRPr>
            </a:lvl7pPr>
            <a:lvl8pPr>
              <a:defRPr sz="1875" b="0">
                <a:solidFill>
                  <a:srgbClr val="0F172A"/>
                </a:solidFill>
                <a:latin typeface="Arial"/>
                <a:ea typeface="Arial"/>
                <a:cs typeface="Arial"/>
              </a:defRPr>
            </a:lvl8pPr>
            <a:lvl9pPr>
              <a:defRPr sz="1875" b="0">
                <a:solidFill>
                  <a:srgbClr val="0F172A"/>
                </a:solidFill>
                <a:latin typeface="Arial"/>
                <a:ea typeface="Arial"/>
                <a:cs typeface="Arial"/>
              </a:defRPr>
            </a:lvl9pPr>
          </a:lstStyle>
          <a:p xmlns:a="http://schemas.openxmlformats.org/drawingml/2006/main">
            <a:pPr>
              <a:defRPr sz="1875" b="0">
                <a:solidFill>
                  <a:srgbClr val="0F172A"/>
                </a:solidFill>
                <a:latin typeface="Arial"/>
                <a:ea typeface="Arial"/>
                <a:cs typeface="Arial"/>
              </a:defRPr>
            </a:pPr>
            <a:r>
              <a:rPr sz="1875" b="0">
                <a:solidFill>
                  <a:srgbClr val="0F172A"/>
                </a:solidFill>
                <a:latin typeface="Arial"/>
                <a:ea typeface="Arial"/>
                <a:cs typeface="Arial"/>
              </a:rPr>
              <a:t>Vishwanath Venugopal  CE23B124</a:t>
            </a:r>
          </a:p>
          <a:p xmlns:a="http://schemas.openxmlformats.org/drawingml/2006/main">
            <a:pPr>
              <a:defRPr sz="1875" b="0">
                <a:solidFill>
                  <a:srgbClr val="0F172A"/>
                </a:solidFill>
                <a:latin typeface="Arial"/>
                <a:ea typeface="Arial"/>
                <a:cs typeface="Arial"/>
              </a:defRPr>
            </a:pPr>
            <a:r>
              <a:rPr sz="1875" b="0">
                <a:solidFill>
                  <a:srgbClr val="0F172A"/>
                </a:solidFill>
                <a:latin typeface="Arial"/>
                <a:ea typeface="Arial"/>
                <a:cs typeface="Arial"/>
              </a:rPr>
              <a:t>Shaik Koduru Asif  CE23B114</a:t>
            </a:r>
          </a:p>
        </p:txBody>
      </p:sp>
      <p:sp>
        <p:nvSpPr>
          <p:cNvPr id="5" name="">
            <a:extLst xmlns:a="http://schemas.openxmlformats.org/drawingml/2006/main">
              <a:ext uri="{FF2B5EF4-FFF2-40B4-BE49-F238E27FC236}">
                <a16:creationId xmlns:a16="http://schemas.microsoft.com/office/drawing/2014/main" id="{99CEA682-0356-4703-AEF2-6A5691A0923D}"/>
              </a:ext>
            </a:extLst>
          </p:cNvPr>
          <p:cNvSpPr>
            <a:spLocks xmlns:a="http://schemas.openxmlformats.org/drawingml/2006/main" noGrp="1"/>
          </p:cNvSpPr>
          <p:nvPr/>
        </p:nvSpPr>
        <p:spPr>
          <a:xfrm xmlns:a="http://schemas.openxmlformats.org/drawingml/2006/main">
            <a:off x="647700" y="5524500"/>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475569"/>
                </a:solidFill>
                <a:latin typeface="Arial"/>
                <a:ea typeface="Arial"/>
                <a:cs typeface="Arial"/>
              </a:defRPr>
            </a:defPPr>
            <a:lvl1pPr>
              <a:defRPr sz="1875" b="0">
                <a:solidFill>
                  <a:srgbClr val="475569"/>
                </a:solidFill>
                <a:latin typeface="Arial"/>
                <a:ea typeface="Arial"/>
                <a:cs typeface="Arial"/>
              </a:defRPr>
            </a:lvl1pPr>
            <a:lvl2pPr>
              <a:defRPr sz="1875" b="0">
                <a:solidFill>
                  <a:srgbClr val="475569"/>
                </a:solidFill>
                <a:latin typeface="Arial"/>
                <a:ea typeface="Arial"/>
                <a:cs typeface="Arial"/>
              </a:defRPr>
            </a:lvl2pPr>
            <a:lvl3pPr>
              <a:defRPr sz="1875" b="0">
                <a:solidFill>
                  <a:srgbClr val="475569"/>
                </a:solidFill>
                <a:latin typeface="Arial"/>
                <a:ea typeface="Arial"/>
                <a:cs typeface="Arial"/>
              </a:defRPr>
            </a:lvl3pPr>
            <a:lvl4pPr>
              <a:defRPr sz="1875" b="0">
                <a:solidFill>
                  <a:srgbClr val="475569"/>
                </a:solidFill>
                <a:latin typeface="Arial"/>
                <a:ea typeface="Arial"/>
                <a:cs typeface="Arial"/>
              </a:defRPr>
            </a:lvl4pPr>
            <a:lvl5pPr>
              <a:defRPr sz="1875" b="0">
                <a:solidFill>
                  <a:srgbClr val="475569"/>
                </a:solidFill>
                <a:latin typeface="Arial"/>
                <a:ea typeface="Arial"/>
                <a:cs typeface="Arial"/>
              </a:defRPr>
            </a:lvl5pPr>
            <a:lvl6pPr>
              <a:defRPr sz="1875" b="0">
                <a:solidFill>
                  <a:srgbClr val="475569"/>
                </a:solidFill>
                <a:latin typeface="Arial"/>
                <a:ea typeface="Arial"/>
                <a:cs typeface="Arial"/>
              </a:defRPr>
            </a:lvl6pPr>
            <a:lvl7pPr>
              <a:defRPr sz="1875" b="0">
                <a:solidFill>
                  <a:srgbClr val="475569"/>
                </a:solidFill>
                <a:latin typeface="Arial"/>
                <a:ea typeface="Arial"/>
                <a:cs typeface="Arial"/>
              </a:defRPr>
            </a:lvl7pPr>
            <a:lvl8pPr>
              <a:defRPr sz="1875" b="0">
                <a:solidFill>
                  <a:srgbClr val="475569"/>
                </a:solidFill>
                <a:latin typeface="Arial"/>
                <a:ea typeface="Arial"/>
                <a:cs typeface="Arial"/>
              </a:defRPr>
            </a:lvl8pPr>
            <a:lvl9pPr>
              <a:defRPr sz="1875" b="0">
                <a:solidFill>
                  <a:srgbClr val="475569"/>
                </a:solidFill>
                <a:latin typeface="Arial"/>
                <a:ea typeface="Arial"/>
                <a:cs typeface="Arial"/>
              </a:defRPr>
            </a:lvl9pPr>
          </a:lstStyle>
          <a:p xmlns:a="http://schemas.openxmlformats.org/drawingml/2006/main">
            <a:pPr>
              <a:defRPr sz="1875" b="0">
                <a:solidFill>
                  <a:srgbClr val="475569"/>
                </a:solidFill>
                <a:latin typeface="Arial"/>
                <a:ea typeface="Arial"/>
                <a:cs typeface="Arial"/>
              </a:defRPr>
            </a:pPr>
            <a:r>
              <a:rPr sz="1875" b="0">
                <a:solidFill>
                  <a:srgbClr val="475569"/>
                </a:solidFill>
                <a:latin typeface="Arial"/>
                <a:ea typeface="Arial"/>
                <a:cs typeface="Arial"/>
              </a:rPr>
              <a:t>Computer Vision for Construction Engineering</a:t>
            </a:r>
          </a:p>
        </p:txBody>
      </p:sp>
      <p:pic>
        <p:nvPicPr>
          <p:cNvPr id="6" name="">
            <a:extLst xmlns:a="http://schemas.openxmlformats.org/drawingml/2006/main">
              <a:ext uri="{FF2B5EF4-FFF2-40B4-BE49-F238E27FC236}">
                <a16:creationId xmlns:a16="http://schemas.microsoft.com/office/drawing/2014/main" id="{CF23D37A-34C3-4921-9884-2650B8714D35}"/>
              </a:ext>
            </a:extLst>
          </p:cNvPr>
          <p:cNvPicPr>
            <a:picLocks xmlns:a="http://schemas.openxmlformats.org/drawingml/2006/main" noChangeAspect="1"/>
          </p:cNvPicPr>
          <p:nvPr/>
        </p:nvPicPr>
        <p:blipFill>
          <a:blip xmlns:r="http://schemas.openxmlformats.org/officeDocument/2006/relationships" xmlns:a="http://schemas.openxmlformats.org/drawingml/2006/main" r:embed="Rca98520865e6470a"/>
          <a:stretch xmlns:a="http://schemas.openxmlformats.org/drawingml/2006/main"/>
        </p:blipFill>
        <p:spPr>
          <a:xfrm xmlns:a="http://schemas.openxmlformats.org/drawingml/2006/main">
            <a:off x="6477000" y="1745116"/>
            <a:ext cx="5238750" cy="3367768"/>
          </a:xfrm>
          <a:prstGeom xmlns:a="http://schemas.openxmlformats.org/drawingml/2006/main" prst="rect">
            <a:avLst/>
          </a:prstGeom>
        </p:spPr>
      </p:pic>
    </p:spTree>
    <p:extLst>
      <p:ext uri="{BB962C8B-B14F-4D97-AF65-F5344CB8AC3E}">
        <p14:creationId xmlns:p14="http://schemas.microsoft.com/office/powerpoint/2010/main" val="15466922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2507081-5A38-4125-86D8-03C321CB994B}"/>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Data and directional labels</a:t>
            </a:r>
          </a:p>
        </p:txBody>
      </p:sp>
      <p:sp>
        <p:nvSpPr>
          <p:cNvPr id="2" name="">
            <a:extLst xmlns:a="http://schemas.openxmlformats.org/drawingml/2006/main">
              <a:ext uri="{FF2B5EF4-FFF2-40B4-BE49-F238E27FC236}">
                <a16:creationId xmlns:a16="http://schemas.microsoft.com/office/drawing/2014/main" id="{B7C086A2-703A-4B0F-9A6F-85F390ABCF8D}"/>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33B9BD33-DF77-4942-A37D-446D088CB29A}"/>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2</a:t>
            </a:r>
          </a:p>
        </p:txBody>
      </p:sp>
      <p:graphicFrame>
        <p:nvGraphicFramePr>
          <p:cNvPr id="4" name="">
            <a:extLst xmlns:a="http://schemas.openxmlformats.org/drawingml/2006/main">
              <a:ext uri="{FF2B5EF4-FFF2-40B4-BE49-F238E27FC236}">
                <a16:creationId xmlns:a16="http://schemas.microsoft.com/office/drawing/2014/main" id="{A9C82EF7-E3D9-4119-BAD0-590ECBB42CC9}"/>
              </a:ext>
            </a:extLst>
          </p:cNvPr>
          <p:cNvGraphicFramePr/>
          <p:nvPr/>
        </p:nvGraphicFramePr>
        <p:xfrm>
          <a:off xmlns:a="http://schemas.openxmlformats.org/drawingml/2006/main" x="857250" y="1714500"/>
          <a:ext xmlns:a="http://schemas.openxmlformats.org/drawingml/2006/main" cx="10477500" cy="2286000"/>
        </p:xfrm>
        <a:graphic xmlns:a="http://schemas.openxmlformats.org/drawingml/2006/main">
          <a:graphicData uri="http://schemas.openxmlformats.org/drawingml/2006/table">
            <a:tbl>
              <a:tblPr/>
              <a:tblGrid>
                <a:gridCol w="3429000"/>
                <a:gridCol w="2857500"/>
                <a:gridCol w="4191000"/>
              </a:tblGrid>
              <a:tr h="762000">
                <a:tc>
                  <a:txBody>
                    <a:bodyPr lIns="114300" tIns="114300" rIns="114300" bIns="114300"/>
                    <a:lstStyle/>
                    <a:p>
                      <a:r>
                        <a:rPr sz="1875" b="1">
                          <a:solidFill>
                            <a:srgbClr val="0F172A"/>
                          </a:solidFill>
                          <a:latin typeface="Arial"/>
                          <a:ea typeface="Arial"/>
                          <a:cs typeface="Arial"/>
                        </a:rPr>
                        <a:t>Source epoch</a:t>
                      </a:r>
                    </a:p>
                  </a:txBody>
                  <a:tcPr marL="91440" marR="91440" marT="45720" marB="45720" anchor="ctr">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Points</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cd_type = 1 means</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r>
              <a:tr h="762000">
                <a:tc>
                  <a:txBody>
                    <a:bodyPr lIns="114300" tIns="114300" rIns="114300" bIns="114300"/>
                    <a:lstStyle/>
                    <a:p>
                      <a:r>
                        <a:rPr sz="1875" b="0">
                          <a:solidFill>
                            <a:srgbClr val="0F172A"/>
                          </a:solidFill>
                          <a:latin typeface="Arial"/>
                          <a:ea typeface="Arial"/>
                          <a:cs typeface="Arial"/>
                        </a:rPr>
                        <a:t>Scan 0 earlier</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4,444,935</a:t>
                      </a:r>
                    </a:p>
                  </a:txBody>
                  <a:tcPr marL="91440" marR="91440" marT="45720" marB="45720" anchor="ctr">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Removed</a:t>
                      </a:r>
                    </a:p>
                  </a:txBody>
                  <a:tcPr marL="91440" marR="91440" marT="45720" marB="45720" anchor="ctr">
                    <a:lnR w="9525">
                      <a:solidFill>
                        <a:srgbClr val="CBD5E1"/>
                      </a:solidFill>
                      <a:prstDash val="solid"/>
                    </a:lnR>
                    <a:lnB w="9525">
                      <a:solidFill>
                        <a:srgbClr val="CBD5E1"/>
                      </a:solidFill>
                      <a:prstDash val="solid"/>
                    </a:lnB>
                    <a:solidFill>
                      <a:srgbClr val="FFFFFF"/>
                    </a:solidFill>
                  </a:tcPr>
                </a:tc>
              </a:tr>
              <a:tr h="762000">
                <a:tc>
                  <a:txBody>
                    <a:bodyPr lIns="114300" tIns="114300" rIns="114300" bIns="114300"/>
                    <a:lstStyle/>
                    <a:p>
                      <a:r>
                        <a:rPr sz="1875" b="0">
                          <a:solidFill>
                            <a:srgbClr val="0F172A"/>
                          </a:solidFill>
                          <a:latin typeface="Arial"/>
                          <a:ea typeface="Arial"/>
                          <a:cs typeface="Arial"/>
                        </a:rPr>
                        <a:t>Scan 1 later</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5,089,793</a:t>
                      </a:r>
                    </a:p>
                  </a:txBody>
                  <a:tcPr marL="91440" marR="91440" marT="45720" marB="45720" anchor="ctr">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Added</a:t>
                      </a:r>
                    </a:p>
                  </a:txBody>
                  <a:tcPr marL="91440" marR="91440" marT="45720" marB="45720" anchor="ctr">
                    <a:lnR w="9525">
                      <a:solidFill>
                        <a:srgbClr val="CBD5E1"/>
                      </a:solidFill>
                      <a:prstDash val="solid"/>
                    </a:lnR>
                    <a:lnB w="9525">
                      <a:solidFill>
                        <a:srgbClr val="CBD5E1"/>
                      </a:solidFill>
                      <a:prstDash val="solid"/>
                    </a:lnB>
                    <a:solidFill>
                      <a:srgbClr val="F8FAFC"/>
                    </a:solidFill>
                  </a:tcPr>
                </a:tc>
              </a:tr>
            </a:tbl>
          </a:graphicData>
        </a:graphic>
      </p:graphicFrame>
      <p:sp>
        <p:nvSpPr>
          <p:cNvPr id="5" name="">
            <a:extLst xmlns:a="http://schemas.openxmlformats.org/drawingml/2006/main">
              <a:ext uri="{FF2B5EF4-FFF2-40B4-BE49-F238E27FC236}">
                <a16:creationId xmlns:a16="http://schemas.microsoft.com/office/drawing/2014/main" id="{0069C93E-DC83-4192-8131-822D9754A40B}"/>
              </a:ext>
            </a:extLst>
          </p:cNvPr>
          <p:cNvSpPr>
            <a:spLocks xmlns:a="http://schemas.openxmlformats.org/drawingml/2006/main" noGrp="1"/>
          </p:cNvSpPr>
          <p:nvPr/>
        </p:nvSpPr>
        <p:spPr>
          <a:xfrm xmlns:a="http://schemas.openxmlformats.org/drawingml/2006/main">
            <a:off x="876300" y="43815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F172A"/>
                </a:solidFill>
                <a:latin typeface="Arial"/>
                <a:ea typeface="Arial"/>
                <a:cs typeface="Arial"/>
              </a:defRPr>
            </a:defPPr>
            <a:lvl1pPr>
              <a:defRPr sz="2250" b="1">
                <a:solidFill>
                  <a:srgbClr val="0F172A"/>
                </a:solidFill>
                <a:latin typeface="Arial"/>
                <a:ea typeface="Arial"/>
                <a:cs typeface="Arial"/>
              </a:defRPr>
            </a:lvl1pPr>
            <a:lvl2pPr>
              <a:defRPr sz="2250" b="1">
                <a:solidFill>
                  <a:srgbClr val="0F172A"/>
                </a:solidFill>
                <a:latin typeface="Arial"/>
                <a:ea typeface="Arial"/>
                <a:cs typeface="Arial"/>
              </a:defRPr>
            </a:lvl2pPr>
            <a:lvl3pPr>
              <a:defRPr sz="2250" b="1">
                <a:solidFill>
                  <a:srgbClr val="0F172A"/>
                </a:solidFill>
                <a:latin typeface="Arial"/>
                <a:ea typeface="Arial"/>
                <a:cs typeface="Arial"/>
              </a:defRPr>
            </a:lvl3pPr>
            <a:lvl4pPr>
              <a:defRPr sz="2250" b="1">
                <a:solidFill>
                  <a:srgbClr val="0F172A"/>
                </a:solidFill>
                <a:latin typeface="Arial"/>
                <a:ea typeface="Arial"/>
                <a:cs typeface="Arial"/>
              </a:defRPr>
            </a:lvl4pPr>
            <a:lvl5pPr>
              <a:defRPr sz="2250" b="1">
                <a:solidFill>
                  <a:srgbClr val="0F172A"/>
                </a:solidFill>
                <a:latin typeface="Arial"/>
                <a:ea typeface="Arial"/>
                <a:cs typeface="Arial"/>
              </a:defRPr>
            </a:lvl5pPr>
            <a:lvl6pPr>
              <a:defRPr sz="2250" b="1">
                <a:solidFill>
                  <a:srgbClr val="0F172A"/>
                </a:solidFill>
                <a:latin typeface="Arial"/>
                <a:ea typeface="Arial"/>
                <a:cs typeface="Arial"/>
              </a:defRPr>
            </a:lvl6pPr>
            <a:lvl7pPr>
              <a:defRPr sz="2250" b="1">
                <a:solidFill>
                  <a:srgbClr val="0F172A"/>
                </a:solidFill>
                <a:latin typeface="Arial"/>
                <a:ea typeface="Arial"/>
                <a:cs typeface="Arial"/>
              </a:defRPr>
            </a:lvl7pPr>
            <a:lvl8pPr>
              <a:defRPr sz="2250" b="1">
                <a:solidFill>
                  <a:srgbClr val="0F172A"/>
                </a:solidFill>
                <a:latin typeface="Arial"/>
                <a:ea typeface="Arial"/>
                <a:cs typeface="Arial"/>
              </a:defRPr>
            </a:lvl8pPr>
            <a:lvl9pPr>
              <a:defRPr sz="2250" b="1">
                <a:solidFill>
                  <a:srgbClr val="0F172A"/>
                </a:solidFill>
                <a:latin typeface="Arial"/>
                <a:ea typeface="Arial"/>
                <a:cs typeface="Arial"/>
              </a:defRPr>
            </a:lvl9pPr>
          </a:lstStyle>
          <a:p xmlns:a="http://schemas.openxmlformats.org/drawingml/2006/main">
            <a:pPr>
              <a:defRPr sz="2250" b="1">
                <a:solidFill>
                  <a:srgbClr val="0F172A"/>
                </a:solidFill>
                <a:latin typeface="Arial"/>
                <a:ea typeface="Arial"/>
                <a:cs typeface="Arial"/>
              </a:defRPr>
            </a:pPr>
            <a:r>
              <a:rPr sz="2250" b="1">
                <a:solidFill>
                  <a:srgbClr val="0F172A"/>
                </a:solidFill>
                <a:latin typeface="Arial"/>
                <a:ea typeface="Arial"/>
                <a:cs typeface="Arial"/>
              </a:rPr>
              <a:t>cd_type = 0 means unchanged in both epochs</a:t>
            </a:r>
          </a:p>
        </p:txBody>
      </p:sp>
      <p:sp>
        <p:nvSpPr>
          <p:cNvPr id="6" name="">
            <a:extLst xmlns:a="http://schemas.openxmlformats.org/drawingml/2006/main">
              <a:ext uri="{FF2B5EF4-FFF2-40B4-BE49-F238E27FC236}">
                <a16:creationId xmlns:a16="http://schemas.microsoft.com/office/drawing/2014/main" id="{690C2A3B-8A34-4886-8C6C-29D95958DB02}"/>
              </a:ext>
            </a:extLst>
          </p:cNvPr>
          <p:cNvSpPr>
            <a:spLocks xmlns:a="http://schemas.openxmlformats.org/drawingml/2006/main" noGrp="1"/>
          </p:cNvSpPr>
          <p:nvPr/>
        </p:nvSpPr>
        <p:spPr>
          <a:xfrm xmlns:a="http://schemas.openxmlformats.org/drawingml/2006/main">
            <a:off x="876300" y="5095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0F172A"/>
                </a:solidFill>
                <a:latin typeface="Arial"/>
                <a:ea typeface="Arial"/>
                <a:cs typeface="Arial"/>
              </a:defRPr>
            </a:defPPr>
            <a:lvl1pPr>
              <a:defRPr sz="2025" b="0">
                <a:solidFill>
                  <a:srgbClr val="0F172A"/>
                </a:solidFill>
                <a:latin typeface="Arial"/>
                <a:ea typeface="Arial"/>
                <a:cs typeface="Arial"/>
              </a:defRPr>
            </a:lvl1pPr>
            <a:lvl2pPr>
              <a:defRPr sz="2025" b="0">
                <a:solidFill>
                  <a:srgbClr val="0F172A"/>
                </a:solidFill>
                <a:latin typeface="Arial"/>
                <a:ea typeface="Arial"/>
                <a:cs typeface="Arial"/>
              </a:defRPr>
            </a:lvl2pPr>
            <a:lvl3pPr>
              <a:defRPr sz="2025" b="0">
                <a:solidFill>
                  <a:srgbClr val="0F172A"/>
                </a:solidFill>
                <a:latin typeface="Arial"/>
                <a:ea typeface="Arial"/>
                <a:cs typeface="Arial"/>
              </a:defRPr>
            </a:lvl3pPr>
            <a:lvl4pPr>
              <a:defRPr sz="2025" b="0">
                <a:solidFill>
                  <a:srgbClr val="0F172A"/>
                </a:solidFill>
                <a:latin typeface="Arial"/>
                <a:ea typeface="Arial"/>
                <a:cs typeface="Arial"/>
              </a:defRPr>
            </a:lvl4pPr>
            <a:lvl5pPr>
              <a:defRPr sz="2025" b="0">
                <a:solidFill>
                  <a:srgbClr val="0F172A"/>
                </a:solidFill>
                <a:latin typeface="Arial"/>
                <a:ea typeface="Arial"/>
                <a:cs typeface="Arial"/>
              </a:defRPr>
            </a:lvl5pPr>
            <a:lvl6pPr>
              <a:defRPr sz="2025" b="0">
                <a:solidFill>
                  <a:srgbClr val="0F172A"/>
                </a:solidFill>
                <a:latin typeface="Arial"/>
                <a:ea typeface="Arial"/>
                <a:cs typeface="Arial"/>
              </a:defRPr>
            </a:lvl6pPr>
            <a:lvl7pPr>
              <a:defRPr sz="2025" b="0">
                <a:solidFill>
                  <a:srgbClr val="0F172A"/>
                </a:solidFill>
                <a:latin typeface="Arial"/>
                <a:ea typeface="Arial"/>
                <a:cs typeface="Arial"/>
              </a:defRPr>
            </a:lvl7pPr>
            <a:lvl8pPr>
              <a:defRPr sz="2025" b="0">
                <a:solidFill>
                  <a:srgbClr val="0F172A"/>
                </a:solidFill>
                <a:latin typeface="Arial"/>
                <a:ea typeface="Arial"/>
                <a:cs typeface="Arial"/>
              </a:defRPr>
            </a:lvl8pPr>
            <a:lvl9pPr>
              <a:defRPr sz="2025" b="0">
                <a:solidFill>
                  <a:srgbClr val="0F172A"/>
                </a:solidFill>
                <a:latin typeface="Arial"/>
                <a:ea typeface="Arial"/>
                <a:cs typeface="Arial"/>
              </a:defRPr>
            </a:lvl9pPr>
          </a:lstStyle>
          <a:p xmlns:a="http://schemas.openxmlformats.org/drawingml/2006/main">
            <a:pPr>
              <a:defRPr sz="2025" b="0">
                <a:solidFill>
                  <a:srgbClr val="0F172A"/>
                </a:solidFill>
                <a:latin typeface="Arial"/>
                <a:ea typeface="Arial"/>
                <a:cs typeface="Arial"/>
              </a:defRPr>
            </a:pPr>
            <a:r>
              <a:rPr sz="2025" b="0">
                <a:solidFill>
                  <a:srgbClr val="0F172A"/>
                </a:solidFill>
                <a:latin typeface="Arial"/>
                <a:ea typeface="Arial"/>
                <a:cs typeface="Arial"/>
              </a:rPr>
              <a:t>Quantitative: MultiChange3D pair_01</a:t>
            </a:r>
          </a:p>
          <a:p xmlns:a="http://schemas.openxmlformats.org/drawingml/2006/main">
            <a:pPr>
              <a:defRPr sz="2025" b="0">
                <a:solidFill>
                  <a:srgbClr val="0F172A"/>
                </a:solidFill>
                <a:latin typeface="Arial"/>
                <a:ea typeface="Arial"/>
                <a:cs typeface="Arial"/>
              </a:defRPr>
            </a:pPr>
            <a:r>
              <a:rPr sz="2025" b="0">
                <a:solidFill>
                  <a:srgbClr val="0F172A"/>
                </a:solidFill>
                <a:latin typeface="Arial"/>
                <a:ea typeface="Arial"/>
                <a:cs typeface="Arial"/>
              </a:rPr>
              <a:t>Qualitative: local ConSLAM Sequence 3 only</a:t>
            </a:r>
          </a:p>
        </p:txBody>
      </p:sp>
    </p:spTree>
    <p:extLst>
      <p:ext uri="{BB962C8B-B14F-4D97-AF65-F5344CB8AC3E}">
        <p14:creationId xmlns:p14="http://schemas.microsoft.com/office/powerpoint/2010/main" val="348993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EABC5FB-BA71-412F-A8AB-B2118FD3F8A3}"/>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Three detectors with different assumptions</a:t>
            </a:r>
          </a:p>
        </p:txBody>
      </p:sp>
      <p:sp>
        <p:nvSpPr>
          <p:cNvPr id="2" name="">
            <a:extLst xmlns:a="http://schemas.openxmlformats.org/drawingml/2006/main">
              <a:ext uri="{FF2B5EF4-FFF2-40B4-BE49-F238E27FC236}">
                <a16:creationId xmlns:a16="http://schemas.microsoft.com/office/drawing/2014/main" id="{D3CBDA7E-9E88-43BE-8790-0035C8F8D260}"/>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6B1CBE6E-2F35-4C49-8DAB-10DF55A0B455}"/>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C25C913C-E946-4E4C-90A0-DF128615A3D5}"/>
              </a:ext>
            </a:extLst>
          </p:cNvPr>
          <p:cNvSpPr>
            <a:spLocks xmlns:a="http://schemas.openxmlformats.org/drawingml/2006/main" noGrp="1"/>
          </p:cNvSpPr>
          <p:nvPr/>
        </p:nvSpPr>
        <p:spPr>
          <a:xfrm xmlns:a="http://schemas.openxmlformats.org/drawingml/2006/main">
            <a:off x="685800" y="157162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563EB"/>
                </a:solidFill>
                <a:latin typeface="Arial"/>
                <a:ea typeface="Arial"/>
                <a:cs typeface="Arial"/>
              </a:defRPr>
            </a:defPPr>
            <a:lvl1pPr>
              <a:defRPr sz="2400" b="1">
                <a:solidFill>
                  <a:srgbClr val="2563EB"/>
                </a:solidFill>
                <a:latin typeface="Arial"/>
                <a:ea typeface="Arial"/>
                <a:cs typeface="Arial"/>
              </a:defRPr>
            </a:lvl1pPr>
            <a:lvl2pPr>
              <a:defRPr sz="2400" b="1">
                <a:solidFill>
                  <a:srgbClr val="2563EB"/>
                </a:solidFill>
                <a:latin typeface="Arial"/>
                <a:ea typeface="Arial"/>
                <a:cs typeface="Arial"/>
              </a:defRPr>
            </a:lvl2pPr>
            <a:lvl3pPr>
              <a:defRPr sz="2400" b="1">
                <a:solidFill>
                  <a:srgbClr val="2563EB"/>
                </a:solidFill>
                <a:latin typeface="Arial"/>
                <a:ea typeface="Arial"/>
                <a:cs typeface="Arial"/>
              </a:defRPr>
            </a:lvl3pPr>
            <a:lvl4pPr>
              <a:defRPr sz="2400" b="1">
                <a:solidFill>
                  <a:srgbClr val="2563EB"/>
                </a:solidFill>
                <a:latin typeface="Arial"/>
                <a:ea typeface="Arial"/>
                <a:cs typeface="Arial"/>
              </a:defRPr>
            </a:lvl4pPr>
            <a:lvl5pPr>
              <a:defRPr sz="2400" b="1">
                <a:solidFill>
                  <a:srgbClr val="2563EB"/>
                </a:solidFill>
                <a:latin typeface="Arial"/>
                <a:ea typeface="Arial"/>
                <a:cs typeface="Arial"/>
              </a:defRPr>
            </a:lvl5pPr>
            <a:lvl6pPr>
              <a:defRPr sz="2400" b="1">
                <a:solidFill>
                  <a:srgbClr val="2563EB"/>
                </a:solidFill>
                <a:latin typeface="Arial"/>
                <a:ea typeface="Arial"/>
                <a:cs typeface="Arial"/>
              </a:defRPr>
            </a:lvl6pPr>
            <a:lvl7pPr>
              <a:defRPr sz="2400" b="1">
                <a:solidFill>
                  <a:srgbClr val="2563EB"/>
                </a:solidFill>
                <a:latin typeface="Arial"/>
                <a:ea typeface="Arial"/>
                <a:cs typeface="Arial"/>
              </a:defRPr>
            </a:lvl7pPr>
            <a:lvl8pPr>
              <a:defRPr sz="2400" b="1">
                <a:solidFill>
                  <a:srgbClr val="2563EB"/>
                </a:solidFill>
                <a:latin typeface="Arial"/>
                <a:ea typeface="Arial"/>
                <a:cs typeface="Arial"/>
              </a:defRPr>
            </a:lvl8pPr>
            <a:lvl9pPr>
              <a:defRPr sz="2400" b="1">
                <a:solidFill>
                  <a:srgbClr val="2563EB"/>
                </a:solidFill>
                <a:latin typeface="Arial"/>
                <a:ea typeface="Arial"/>
                <a:cs typeface="Arial"/>
              </a:defRPr>
            </a:lvl9pPr>
          </a:lstStyle>
          <a:p xmlns:a="http://schemas.openxmlformats.org/drawingml/2006/main">
            <a:pPr>
              <a:defRPr sz="2400" b="1">
                <a:solidFill>
                  <a:srgbClr val="2563EB"/>
                </a:solidFill>
                <a:latin typeface="Arial"/>
                <a:ea typeface="Arial"/>
                <a:cs typeface="Arial"/>
              </a:defRPr>
            </a:pPr>
            <a:r>
              <a:rPr sz="2400" b="1">
                <a:solidFill>
                  <a:srgbClr val="2563EB"/>
                </a:solidFill>
                <a:latin typeface="Arial"/>
                <a:ea typeface="Arial"/>
                <a:cs typeface="Arial"/>
              </a:rPr>
              <a:t>C2C</a:t>
            </a:r>
          </a:p>
        </p:txBody>
      </p:sp>
      <p:sp>
        <p:nvSpPr>
          <p:cNvPr id="5" name="">
            <a:extLst xmlns:a="http://schemas.openxmlformats.org/drawingml/2006/main">
              <a:ext uri="{FF2B5EF4-FFF2-40B4-BE49-F238E27FC236}">
                <a16:creationId xmlns:a16="http://schemas.microsoft.com/office/drawing/2014/main" id="{AEEF7045-D3F4-4B8B-90BD-0161E0CF9F19}"/>
              </a:ext>
            </a:extLst>
          </p:cNvPr>
          <p:cNvSpPr>
            <a:spLocks xmlns:a="http://schemas.openxmlformats.org/drawingml/2006/main" noGrp="1"/>
          </p:cNvSpPr>
          <p:nvPr/>
        </p:nvSpPr>
        <p:spPr>
          <a:xfrm xmlns:a="http://schemas.openxmlformats.org/drawingml/2006/main">
            <a:off x="685800" y="20955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0F172A"/>
                </a:solidFill>
                <a:latin typeface="Arial"/>
                <a:ea typeface="Arial"/>
                <a:cs typeface="Arial"/>
              </a:defRPr>
            </a:defPPr>
            <a:lvl1pPr>
              <a:defRPr sz="2100" b="0">
                <a:solidFill>
                  <a:srgbClr val="0F172A"/>
                </a:solidFill>
                <a:latin typeface="Arial"/>
                <a:ea typeface="Arial"/>
                <a:cs typeface="Arial"/>
              </a:defRPr>
            </a:lvl1pPr>
            <a:lvl2pPr>
              <a:defRPr sz="2100" b="0">
                <a:solidFill>
                  <a:srgbClr val="0F172A"/>
                </a:solidFill>
                <a:latin typeface="Arial"/>
                <a:ea typeface="Arial"/>
                <a:cs typeface="Arial"/>
              </a:defRPr>
            </a:lvl2pPr>
            <a:lvl3pPr>
              <a:defRPr sz="2100" b="0">
                <a:solidFill>
                  <a:srgbClr val="0F172A"/>
                </a:solidFill>
                <a:latin typeface="Arial"/>
                <a:ea typeface="Arial"/>
                <a:cs typeface="Arial"/>
              </a:defRPr>
            </a:lvl3pPr>
            <a:lvl4pPr>
              <a:defRPr sz="2100" b="0">
                <a:solidFill>
                  <a:srgbClr val="0F172A"/>
                </a:solidFill>
                <a:latin typeface="Arial"/>
                <a:ea typeface="Arial"/>
                <a:cs typeface="Arial"/>
              </a:defRPr>
            </a:lvl4pPr>
            <a:lvl5pPr>
              <a:defRPr sz="2100" b="0">
                <a:solidFill>
                  <a:srgbClr val="0F172A"/>
                </a:solidFill>
                <a:latin typeface="Arial"/>
                <a:ea typeface="Arial"/>
                <a:cs typeface="Arial"/>
              </a:defRPr>
            </a:lvl5pPr>
            <a:lvl6pPr>
              <a:defRPr sz="2100" b="0">
                <a:solidFill>
                  <a:srgbClr val="0F172A"/>
                </a:solidFill>
                <a:latin typeface="Arial"/>
                <a:ea typeface="Arial"/>
                <a:cs typeface="Arial"/>
              </a:defRPr>
            </a:lvl6pPr>
            <a:lvl7pPr>
              <a:defRPr sz="2100" b="0">
                <a:solidFill>
                  <a:srgbClr val="0F172A"/>
                </a:solidFill>
                <a:latin typeface="Arial"/>
                <a:ea typeface="Arial"/>
                <a:cs typeface="Arial"/>
              </a:defRPr>
            </a:lvl7pPr>
            <a:lvl8pPr>
              <a:defRPr sz="2100" b="0">
                <a:solidFill>
                  <a:srgbClr val="0F172A"/>
                </a:solidFill>
                <a:latin typeface="Arial"/>
                <a:ea typeface="Arial"/>
                <a:cs typeface="Arial"/>
              </a:defRPr>
            </a:lvl8pPr>
            <a:lvl9pPr>
              <a:defRPr sz="2100" b="0">
                <a:solidFill>
                  <a:srgbClr val="0F172A"/>
                </a:solidFill>
                <a:latin typeface="Arial"/>
                <a:ea typeface="Arial"/>
                <a:cs typeface="Arial"/>
              </a:defRPr>
            </a:lvl9pPr>
          </a:lstStyle>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Nearest opposite-epoch point</a:t>
            </a:r>
          </a:p>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Changed when distance &gt; 7.5 cm</a:t>
            </a:r>
          </a:p>
        </p:txBody>
      </p:sp>
      <p:sp>
        <p:nvSpPr>
          <p:cNvPr id="6" name="">
            <a:extLst xmlns:a="http://schemas.openxmlformats.org/drawingml/2006/main">
              <a:ext uri="{FF2B5EF4-FFF2-40B4-BE49-F238E27FC236}">
                <a16:creationId xmlns:a16="http://schemas.microsoft.com/office/drawing/2014/main" id="{148E4F04-A07F-4B84-8472-9D6ED151C5B1}"/>
              </a:ext>
            </a:extLst>
          </p:cNvPr>
          <p:cNvSpPr>
            <a:spLocks xmlns:a="http://schemas.openxmlformats.org/drawingml/2006/main" noGrp="1"/>
          </p:cNvSpPr>
          <p:nvPr/>
        </p:nvSpPr>
        <p:spPr>
          <a:xfrm xmlns:a="http://schemas.openxmlformats.org/drawingml/2006/main">
            <a:off x="685800" y="33813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EA580C"/>
                </a:solidFill>
                <a:latin typeface="Arial"/>
                <a:ea typeface="Arial"/>
                <a:cs typeface="Arial"/>
              </a:defRPr>
            </a:defPPr>
            <a:lvl1pPr>
              <a:defRPr sz="2400" b="1">
                <a:solidFill>
                  <a:srgbClr val="EA580C"/>
                </a:solidFill>
                <a:latin typeface="Arial"/>
                <a:ea typeface="Arial"/>
                <a:cs typeface="Arial"/>
              </a:defRPr>
            </a:lvl1pPr>
            <a:lvl2pPr>
              <a:defRPr sz="2400" b="1">
                <a:solidFill>
                  <a:srgbClr val="EA580C"/>
                </a:solidFill>
                <a:latin typeface="Arial"/>
                <a:ea typeface="Arial"/>
                <a:cs typeface="Arial"/>
              </a:defRPr>
            </a:lvl2pPr>
            <a:lvl3pPr>
              <a:defRPr sz="2400" b="1">
                <a:solidFill>
                  <a:srgbClr val="EA580C"/>
                </a:solidFill>
                <a:latin typeface="Arial"/>
                <a:ea typeface="Arial"/>
                <a:cs typeface="Arial"/>
              </a:defRPr>
            </a:lvl3pPr>
            <a:lvl4pPr>
              <a:defRPr sz="2400" b="1">
                <a:solidFill>
                  <a:srgbClr val="EA580C"/>
                </a:solidFill>
                <a:latin typeface="Arial"/>
                <a:ea typeface="Arial"/>
                <a:cs typeface="Arial"/>
              </a:defRPr>
            </a:lvl4pPr>
            <a:lvl5pPr>
              <a:defRPr sz="2400" b="1">
                <a:solidFill>
                  <a:srgbClr val="EA580C"/>
                </a:solidFill>
                <a:latin typeface="Arial"/>
                <a:ea typeface="Arial"/>
                <a:cs typeface="Arial"/>
              </a:defRPr>
            </a:lvl5pPr>
            <a:lvl6pPr>
              <a:defRPr sz="2400" b="1">
                <a:solidFill>
                  <a:srgbClr val="EA580C"/>
                </a:solidFill>
                <a:latin typeface="Arial"/>
                <a:ea typeface="Arial"/>
                <a:cs typeface="Arial"/>
              </a:defRPr>
            </a:lvl6pPr>
            <a:lvl7pPr>
              <a:defRPr sz="2400" b="1">
                <a:solidFill>
                  <a:srgbClr val="EA580C"/>
                </a:solidFill>
                <a:latin typeface="Arial"/>
                <a:ea typeface="Arial"/>
                <a:cs typeface="Arial"/>
              </a:defRPr>
            </a:lvl7pPr>
            <a:lvl8pPr>
              <a:defRPr sz="2400" b="1">
                <a:solidFill>
                  <a:srgbClr val="EA580C"/>
                </a:solidFill>
                <a:latin typeface="Arial"/>
                <a:ea typeface="Arial"/>
                <a:cs typeface="Arial"/>
              </a:defRPr>
            </a:lvl8pPr>
            <a:lvl9pPr>
              <a:defRPr sz="2400" b="1">
                <a:solidFill>
                  <a:srgbClr val="EA580C"/>
                </a:solidFill>
                <a:latin typeface="Arial"/>
                <a:ea typeface="Arial"/>
                <a:cs typeface="Arial"/>
              </a:defRPr>
            </a:lvl9pPr>
          </a:lstStyle>
          <a:p xmlns:a="http://schemas.openxmlformats.org/drawingml/2006/main">
            <a:pPr>
              <a:defRPr sz="2400" b="1">
                <a:solidFill>
                  <a:srgbClr val="EA580C"/>
                </a:solidFill>
                <a:latin typeface="Arial"/>
                <a:ea typeface="Arial"/>
                <a:cs typeface="Arial"/>
              </a:defRPr>
            </a:pPr>
            <a:r>
              <a:rPr sz="2400" b="1">
                <a:solidFill>
                  <a:srgbClr val="EA580C"/>
                </a:solidFill>
                <a:latin typeface="Arial"/>
                <a:ea typeface="Arial"/>
                <a:cs typeface="Arial"/>
              </a:rPr>
              <a:t>M3C2-style</a:t>
            </a:r>
          </a:p>
        </p:txBody>
      </p:sp>
      <p:sp>
        <p:nvSpPr>
          <p:cNvPr id="7" name="">
            <a:extLst xmlns:a="http://schemas.openxmlformats.org/drawingml/2006/main">
              <a:ext uri="{FF2B5EF4-FFF2-40B4-BE49-F238E27FC236}">
                <a16:creationId xmlns:a16="http://schemas.microsoft.com/office/drawing/2014/main" id="{8E9FF0E3-2F8E-4396-A34B-4020557ABB47}"/>
              </a:ext>
            </a:extLst>
          </p:cNvPr>
          <p:cNvSpPr>
            <a:spLocks xmlns:a="http://schemas.openxmlformats.org/drawingml/2006/main" noGrp="1"/>
          </p:cNvSpPr>
          <p:nvPr/>
        </p:nvSpPr>
        <p:spPr>
          <a:xfrm xmlns:a="http://schemas.openxmlformats.org/drawingml/2006/main">
            <a:off x="685800" y="3905250"/>
            <a:ext cx="52863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0F172A"/>
                </a:solidFill>
                <a:latin typeface="Arial"/>
                <a:ea typeface="Arial"/>
                <a:cs typeface="Arial"/>
              </a:defRPr>
            </a:defPPr>
            <a:lvl1pPr>
              <a:defRPr sz="1950" b="0">
                <a:solidFill>
                  <a:srgbClr val="0F172A"/>
                </a:solidFill>
                <a:latin typeface="Arial"/>
                <a:ea typeface="Arial"/>
                <a:cs typeface="Arial"/>
              </a:defRPr>
            </a:lvl1pPr>
            <a:lvl2pPr>
              <a:defRPr sz="1950" b="0">
                <a:solidFill>
                  <a:srgbClr val="0F172A"/>
                </a:solidFill>
                <a:latin typeface="Arial"/>
                <a:ea typeface="Arial"/>
                <a:cs typeface="Arial"/>
              </a:defRPr>
            </a:lvl2pPr>
            <a:lvl3pPr>
              <a:defRPr sz="1950" b="0">
                <a:solidFill>
                  <a:srgbClr val="0F172A"/>
                </a:solidFill>
                <a:latin typeface="Arial"/>
                <a:ea typeface="Arial"/>
                <a:cs typeface="Arial"/>
              </a:defRPr>
            </a:lvl3pPr>
            <a:lvl4pPr>
              <a:defRPr sz="1950" b="0">
                <a:solidFill>
                  <a:srgbClr val="0F172A"/>
                </a:solidFill>
                <a:latin typeface="Arial"/>
                <a:ea typeface="Arial"/>
                <a:cs typeface="Arial"/>
              </a:defRPr>
            </a:lvl4pPr>
            <a:lvl5pPr>
              <a:defRPr sz="1950" b="0">
                <a:solidFill>
                  <a:srgbClr val="0F172A"/>
                </a:solidFill>
                <a:latin typeface="Arial"/>
                <a:ea typeface="Arial"/>
                <a:cs typeface="Arial"/>
              </a:defRPr>
            </a:lvl5pPr>
            <a:lvl6pPr>
              <a:defRPr sz="1950" b="0">
                <a:solidFill>
                  <a:srgbClr val="0F172A"/>
                </a:solidFill>
                <a:latin typeface="Arial"/>
                <a:ea typeface="Arial"/>
                <a:cs typeface="Arial"/>
              </a:defRPr>
            </a:lvl6pPr>
            <a:lvl7pPr>
              <a:defRPr sz="1950" b="0">
                <a:solidFill>
                  <a:srgbClr val="0F172A"/>
                </a:solidFill>
                <a:latin typeface="Arial"/>
                <a:ea typeface="Arial"/>
                <a:cs typeface="Arial"/>
              </a:defRPr>
            </a:lvl7pPr>
            <a:lvl8pPr>
              <a:defRPr sz="1950" b="0">
                <a:solidFill>
                  <a:srgbClr val="0F172A"/>
                </a:solidFill>
                <a:latin typeface="Arial"/>
                <a:ea typeface="Arial"/>
                <a:cs typeface="Arial"/>
              </a:defRPr>
            </a:lvl8pPr>
            <a:lvl9pPr>
              <a:defRPr sz="1950" b="0">
                <a:solidFill>
                  <a:srgbClr val="0F172A"/>
                </a:solidFill>
                <a:latin typeface="Arial"/>
                <a:ea typeface="Arial"/>
                <a:cs typeface="Arial"/>
              </a:defRPr>
            </a:lvl9pPr>
          </a:lstStyle>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Source PCA normals and shared cylinders</a:t>
            </a:r>
          </a:p>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Projection radius 10 cm, half-length 1 m</a:t>
            </a:r>
          </a:p>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LoD95 and 2 cm minimum-effect floor</a:t>
            </a:r>
          </a:p>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Invalid support produces unknown</a:t>
            </a:r>
          </a:p>
        </p:txBody>
      </p:sp>
      <p:sp>
        <p:nvSpPr>
          <p:cNvPr id="8" name="">
            <a:extLst xmlns:a="http://schemas.openxmlformats.org/drawingml/2006/main">
              <a:ext uri="{FF2B5EF4-FFF2-40B4-BE49-F238E27FC236}">
                <a16:creationId xmlns:a16="http://schemas.microsoft.com/office/drawing/2014/main" id="{454766D9-4140-4CFD-B2EE-CF5A8AFA6F6A}"/>
              </a:ext>
            </a:extLst>
          </p:cNvPr>
          <p:cNvSpPr>
            <a:spLocks xmlns:a="http://schemas.openxmlformats.org/drawingml/2006/main" noGrp="1"/>
          </p:cNvSpPr>
          <p:nvPr/>
        </p:nvSpPr>
        <p:spPr>
          <a:xfrm xmlns:a="http://schemas.openxmlformats.org/drawingml/2006/main">
            <a:off x="6572250" y="15716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0F766E"/>
                </a:solidFill>
                <a:latin typeface="Arial"/>
                <a:ea typeface="Arial"/>
                <a:cs typeface="Arial"/>
              </a:defRPr>
            </a:defPPr>
            <a:lvl1pPr>
              <a:defRPr sz="2400" b="1">
                <a:solidFill>
                  <a:srgbClr val="0F766E"/>
                </a:solidFill>
                <a:latin typeface="Arial"/>
                <a:ea typeface="Arial"/>
                <a:cs typeface="Arial"/>
              </a:defRPr>
            </a:lvl1pPr>
            <a:lvl2pPr>
              <a:defRPr sz="2400" b="1">
                <a:solidFill>
                  <a:srgbClr val="0F766E"/>
                </a:solidFill>
                <a:latin typeface="Arial"/>
                <a:ea typeface="Arial"/>
                <a:cs typeface="Arial"/>
              </a:defRPr>
            </a:lvl2pPr>
            <a:lvl3pPr>
              <a:defRPr sz="2400" b="1">
                <a:solidFill>
                  <a:srgbClr val="0F766E"/>
                </a:solidFill>
                <a:latin typeface="Arial"/>
                <a:ea typeface="Arial"/>
                <a:cs typeface="Arial"/>
              </a:defRPr>
            </a:lvl3pPr>
            <a:lvl4pPr>
              <a:defRPr sz="2400" b="1">
                <a:solidFill>
                  <a:srgbClr val="0F766E"/>
                </a:solidFill>
                <a:latin typeface="Arial"/>
                <a:ea typeface="Arial"/>
                <a:cs typeface="Arial"/>
              </a:defRPr>
            </a:lvl4pPr>
            <a:lvl5pPr>
              <a:defRPr sz="2400" b="1">
                <a:solidFill>
                  <a:srgbClr val="0F766E"/>
                </a:solidFill>
                <a:latin typeface="Arial"/>
                <a:ea typeface="Arial"/>
                <a:cs typeface="Arial"/>
              </a:defRPr>
            </a:lvl5pPr>
            <a:lvl6pPr>
              <a:defRPr sz="2400" b="1">
                <a:solidFill>
                  <a:srgbClr val="0F766E"/>
                </a:solidFill>
                <a:latin typeface="Arial"/>
                <a:ea typeface="Arial"/>
                <a:cs typeface="Arial"/>
              </a:defRPr>
            </a:lvl6pPr>
            <a:lvl7pPr>
              <a:defRPr sz="2400" b="1">
                <a:solidFill>
                  <a:srgbClr val="0F766E"/>
                </a:solidFill>
                <a:latin typeface="Arial"/>
                <a:ea typeface="Arial"/>
                <a:cs typeface="Arial"/>
              </a:defRPr>
            </a:lvl7pPr>
            <a:lvl8pPr>
              <a:defRPr sz="2400" b="1">
                <a:solidFill>
                  <a:srgbClr val="0F766E"/>
                </a:solidFill>
                <a:latin typeface="Arial"/>
                <a:ea typeface="Arial"/>
                <a:cs typeface="Arial"/>
              </a:defRPr>
            </a:lvl8pPr>
            <a:lvl9pPr>
              <a:defRPr sz="2400" b="1">
                <a:solidFill>
                  <a:srgbClr val="0F766E"/>
                </a:solidFill>
                <a:latin typeface="Arial"/>
                <a:ea typeface="Arial"/>
                <a:cs typeface="Arial"/>
              </a:defRPr>
            </a:lvl9pPr>
          </a:lstStyle>
          <a:p xmlns:a="http://schemas.openxmlformats.org/drawingml/2006/main">
            <a:pPr>
              <a:defRPr sz="2400" b="1">
                <a:solidFill>
                  <a:srgbClr val="0F766E"/>
                </a:solidFill>
                <a:latin typeface="Arial"/>
                <a:ea typeface="Arial"/>
                <a:cs typeface="Arial"/>
              </a:defRPr>
            </a:pPr>
            <a:r>
              <a:rPr sz="2400" b="1">
                <a:solidFill>
                  <a:srgbClr val="0F766E"/>
                </a:solidFill>
                <a:latin typeface="Arial"/>
                <a:ea typeface="Arial"/>
                <a:cs typeface="Arial"/>
              </a:rPr>
              <a:t>Siamese PointNet + NN</a:t>
            </a:r>
          </a:p>
        </p:txBody>
      </p:sp>
      <p:sp>
        <p:nvSpPr>
          <p:cNvPr id="9" name="">
            <a:extLst xmlns:a="http://schemas.openxmlformats.org/drawingml/2006/main">
              <a:ext uri="{FF2B5EF4-FFF2-40B4-BE49-F238E27FC236}">
                <a16:creationId xmlns:a16="http://schemas.microsoft.com/office/drawing/2014/main" id="{CC87D5E3-9692-4B3F-A7F3-12AE0D92DC9D}"/>
              </a:ext>
            </a:extLst>
          </p:cNvPr>
          <p:cNvSpPr>
            <a:spLocks xmlns:a="http://schemas.openxmlformats.org/drawingml/2006/main" noGrp="1"/>
          </p:cNvSpPr>
          <p:nvPr/>
        </p:nvSpPr>
        <p:spPr>
          <a:xfrm xmlns:a="http://schemas.openxmlformats.org/drawingml/2006/main">
            <a:off x="6572250" y="2143125"/>
            <a:ext cx="4857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0F172A"/>
                </a:solidFill>
                <a:latin typeface="Arial"/>
                <a:ea typeface="Arial"/>
                <a:cs typeface="Arial"/>
              </a:defRPr>
            </a:defPPr>
            <a:lvl1pPr>
              <a:defRPr sz="2100" b="0">
                <a:solidFill>
                  <a:srgbClr val="0F172A"/>
                </a:solidFill>
                <a:latin typeface="Arial"/>
                <a:ea typeface="Arial"/>
                <a:cs typeface="Arial"/>
              </a:defRPr>
            </a:lvl1pPr>
            <a:lvl2pPr>
              <a:defRPr sz="2100" b="0">
                <a:solidFill>
                  <a:srgbClr val="0F172A"/>
                </a:solidFill>
                <a:latin typeface="Arial"/>
                <a:ea typeface="Arial"/>
                <a:cs typeface="Arial"/>
              </a:defRPr>
            </a:lvl2pPr>
            <a:lvl3pPr>
              <a:defRPr sz="2100" b="0">
                <a:solidFill>
                  <a:srgbClr val="0F172A"/>
                </a:solidFill>
                <a:latin typeface="Arial"/>
                <a:ea typeface="Arial"/>
                <a:cs typeface="Arial"/>
              </a:defRPr>
            </a:lvl3pPr>
            <a:lvl4pPr>
              <a:defRPr sz="2100" b="0">
                <a:solidFill>
                  <a:srgbClr val="0F172A"/>
                </a:solidFill>
                <a:latin typeface="Arial"/>
                <a:ea typeface="Arial"/>
                <a:cs typeface="Arial"/>
              </a:defRPr>
            </a:lvl4pPr>
            <a:lvl5pPr>
              <a:defRPr sz="2100" b="0">
                <a:solidFill>
                  <a:srgbClr val="0F172A"/>
                </a:solidFill>
                <a:latin typeface="Arial"/>
                <a:ea typeface="Arial"/>
                <a:cs typeface="Arial"/>
              </a:defRPr>
            </a:lvl5pPr>
            <a:lvl6pPr>
              <a:defRPr sz="2100" b="0">
                <a:solidFill>
                  <a:srgbClr val="0F172A"/>
                </a:solidFill>
                <a:latin typeface="Arial"/>
                <a:ea typeface="Arial"/>
                <a:cs typeface="Arial"/>
              </a:defRPr>
            </a:lvl6pPr>
            <a:lvl7pPr>
              <a:defRPr sz="2100" b="0">
                <a:solidFill>
                  <a:srgbClr val="0F172A"/>
                </a:solidFill>
                <a:latin typeface="Arial"/>
                <a:ea typeface="Arial"/>
                <a:cs typeface="Arial"/>
              </a:defRPr>
            </a:lvl7pPr>
            <a:lvl8pPr>
              <a:defRPr sz="2100" b="0">
                <a:solidFill>
                  <a:srgbClr val="0F172A"/>
                </a:solidFill>
                <a:latin typeface="Arial"/>
                <a:ea typeface="Arial"/>
                <a:cs typeface="Arial"/>
              </a:defRPr>
            </a:lvl8pPr>
            <a:lvl9pPr>
              <a:defRPr sz="2100" b="0">
                <a:solidFill>
                  <a:srgbClr val="0F172A"/>
                </a:solidFill>
                <a:latin typeface="Arial"/>
                <a:ea typeface="Arial"/>
                <a:cs typeface="Arial"/>
              </a:defRPr>
            </a:lvl9pPr>
          </a:lstStyle>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Shared 3–32–64 point encoder</a:t>
            </a:r>
          </a:p>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Masked max and mean pooling</a:t>
            </a:r>
          </a:p>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128 neighbours within 0.60 m</a:t>
            </a:r>
          </a:p>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Paired geometry plus proximity prior</a:t>
            </a:r>
          </a:p>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Weighted binary supervision</a:t>
            </a:r>
          </a:p>
        </p:txBody>
      </p:sp>
      <p:sp>
        <p:nvSpPr>
          <p:cNvPr id="10" name="">
            <a:extLst xmlns:a="http://schemas.openxmlformats.org/drawingml/2006/main">
              <a:ext uri="{FF2B5EF4-FFF2-40B4-BE49-F238E27FC236}">
                <a16:creationId xmlns:a16="http://schemas.microsoft.com/office/drawing/2014/main" id="{02A345B3-1A47-4777-B1FB-D7E9C4E8D23C}"/>
              </a:ext>
            </a:extLst>
          </p:cNvPr>
          <p:cNvSpPr>
            <a:spLocks xmlns:a="http://schemas.openxmlformats.org/drawingml/2006/main" noGrp="1"/>
          </p:cNvSpPr>
          <p:nvPr/>
        </p:nvSpPr>
        <p:spPr>
          <a:xfrm xmlns:a="http://schemas.openxmlformats.org/drawingml/2006/main">
            <a:off x="6572250" y="485775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75569"/>
                </a:solidFill>
                <a:latin typeface="Arial"/>
                <a:ea typeface="Arial"/>
                <a:cs typeface="Arial"/>
              </a:defRPr>
            </a:defPPr>
            <a:lvl1pPr>
              <a:defRPr sz="1800" b="0">
                <a:solidFill>
                  <a:srgbClr val="475569"/>
                </a:solidFill>
                <a:latin typeface="Arial"/>
                <a:ea typeface="Arial"/>
                <a:cs typeface="Arial"/>
              </a:defRPr>
            </a:lvl1pPr>
            <a:lvl2pPr>
              <a:defRPr sz="1800" b="0">
                <a:solidFill>
                  <a:srgbClr val="475569"/>
                </a:solidFill>
                <a:latin typeface="Arial"/>
                <a:ea typeface="Arial"/>
                <a:cs typeface="Arial"/>
              </a:defRPr>
            </a:lvl2pPr>
            <a:lvl3pPr>
              <a:defRPr sz="1800" b="0">
                <a:solidFill>
                  <a:srgbClr val="475569"/>
                </a:solidFill>
                <a:latin typeface="Arial"/>
                <a:ea typeface="Arial"/>
                <a:cs typeface="Arial"/>
              </a:defRPr>
            </a:lvl3pPr>
            <a:lvl4pPr>
              <a:defRPr sz="1800" b="0">
                <a:solidFill>
                  <a:srgbClr val="475569"/>
                </a:solidFill>
                <a:latin typeface="Arial"/>
                <a:ea typeface="Arial"/>
                <a:cs typeface="Arial"/>
              </a:defRPr>
            </a:lvl4pPr>
            <a:lvl5pPr>
              <a:defRPr sz="1800" b="0">
                <a:solidFill>
                  <a:srgbClr val="475569"/>
                </a:solidFill>
                <a:latin typeface="Arial"/>
                <a:ea typeface="Arial"/>
                <a:cs typeface="Arial"/>
              </a:defRPr>
            </a:lvl5pPr>
            <a:lvl6pPr>
              <a:defRPr sz="1800" b="0">
                <a:solidFill>
                  <a:srgbClr val="475569"/>
                </a:solidFill>
                <a:latin typeface="Arial"/>
                <a:ea typeface="Arial"/>
                <a:cs typeface="Arial"/>
              </a:defRPr>
            </a:lvl6pPr>
            <a:lvl7pPr>
              <a:defRPr sz="1800" b="0">
                <a:solidFill>
                  <a:srgbClr val="475569"/>
                </a:solidFill>
                <a:latin typeface="Arial"/>
                <a:ea typeface="Arial"/>
                <a:cs typeface="Arial"/>
              </a:defRPr>
            </a:lvl7pPr>
            <a:lvl8pPr>
              <a:defRPr sz="1800" b="0">
                <a:solidFill>
                  <a:srgbClr val="475569"/>
                </a:solidFill>
                <a:latin typeface="Arial"/>
                <a:ea typeface="Arial"/>
                <a:cs typeface="Arial"/>
              </a:defRPr>
            </a:lvl8pPr>
            <a:lvl9pPr>
              <a:defRPr sz="1800" b="0">
                <a:solidFill>
                  <a:srgbClr val="475569"/>
                </a:solidFill>
                <a:latin typeface="Arial"/>
                <a:ea typeface="Arial"/>
                <a:cs typeface="Arial"/>
              </a:defRPr>
            </a:lvl9pPr>
          </a:lstStyle>
          <a:p xmlns:a="http://schemas.openxmlformats.org/drawingml/2006/main">
            <a:pPr>
              <a:defRPr sz="1800" b="0">
                <a:solidFill>
                  <a:srgbClr val="475569"/>
                </a:solidFill>
                <a:latin typeface="Arial"/>
                <a:ea typeface="Arial"/>
                <a:cs typeface="Arial"/>
              </a:defRPr>
            </a:pPr>
            <a:r>
              <a:rPr sz="1800" b="0">
                <a:solidFill>
                  <a:srgbClr val="475569"/>
                </a:solidFill>
                <a:latin typeface="Arial"/>
                <a:ea typeface="Arial"/>
                <a:cs typeface="Arial"/>
              </a:rPr>
              <a:t>Registration uncertainty is separate and set to zero</a:t>
            </a:r>
          </a:p>
          <a:p xmlns:a="http://schemas.openxmlformats.org/drawingml/2006/main">
            <a:pPr>
              <a:defRPr sz="1800" b="0">
                <a:solidFill>
                  <a:srgbClr val="475569"/>
                </a:solidFill>
                <a:latin typeface="Arial"/>
                <a:ea typeface="Arial"/>
                <a:cs typeface="Arial"/>
              </a:defRPr>
            </a:pPr>
            <a:r>
              <a:rPr sz="1800" b="0">
                <a:solidFill>
                  <a:srgbClr val="475569"/>
                </a:solidFill>
                <a:latin typeface="Arial"/>
                <a:ea typeface="Arial"/>
                <a:cs typeface="Arial"/>
              </a:rPr>
              <a:t>LoD is conditional on that assumption</a:t>
            </a:r>
          </a:p>
        </p:txBody>
      </p:sp>
    </p:spTree>
    <p:extLst>
      <p:ext uri="{BB962C8B-B14F-4D97-AF65-F5344CB8AC3E}">
        <p14:creationId xmlns:p14="http://schemas.microsoft.com/office/powerpoint/2010/main" val="9284645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3A60480-1C0C-409D-AFB9-AD07FF0DAF67}"/>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Buffered spatial evaluation</a:t>
            </a:r>
          </a:p>
        </p:txBody>
      </p:sp>
      <p:sp>
        <p:nvSpPr>
          <p:cNvPr id="2" name="">
            <a:extLst xmlns:a="http://schemas.openxmlformats.org/drawingml/2006/main">
              <a:ext uri="{FF2B5EF4-FFF2-40B4-BE49-F238E27FC236}">
                <a16:creationId xmlns:a16="http://schemas.microsoft.com/office/drawing/2014/main" id="{602BB79C-CD42-4F4B-B323-D4691E4E3E16}"/>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DE4ADF92-14DB-40C4-863A-300CA278ED6F}"/>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4</a:t>
            </a:r>
          </a:p>
        </p:txBody>
      </p:sp>
      <p:graphicFrame>
        <p:nvGraphicFramePr>
          <p:cNvPr id="4" name="Chart">
            <a:extLst xmlns:a="http://schemas.openxmlformats.org/drawingml/2006/main">
              <a:ext uri="{FF2B5EF4-FFF2-40B4-BE49-F238E27FC236}">
                <a16:creationId xmlns:a16="http://schemas.microsoft.com/office/drawing/2014/main" id="{8A67DCBF-9CE1-4D36-BF88-7DA491B30156}"/>
              </a:ext>
            </a:extLst>
          </p:cNvPr>
          <p:cNvGraphicFramePr/>
          <p:nvPr/>
        </p:nvGraphicFramePr>
        <p:xfrm>
          <a:off xmlns:a="http://schemas.openxmlformats.org/drawingml/2006/main" x="619125" y="1428750"/>
          <a:ext xmlns:a="http://schemas.openxmlformats.org/drawingml/2006/main" cx="6667500" cy="4238625"/>
        </p:xfrm>
        <a:graphic xmlns:a="http://schemas.openxmlformats.org/drawingml/2006/main">
          <a:graphicData uri="http://schemas.openxmlformats.org/drawingml/2006/chart">
            <c:chart xmlns:r="http://schemas.openxmlformats.org/officeDocument/2006/relationships" xmlns:c="http://schemas.openxmlformats.org/drawingml/2006/chart" r:id="R4cdd979d443644a7"/>
          </a:graphicData>
        </a:graphic>
      </p:graphicFrame>
      <p:graphicFrame>
        <p:nvGraphicFramePr>
          <p:cNvPr id="5" name="">
            <a:extLst xmlns:a="http://schemas.openxmlformats.org/drawingml/2006/main">
              <a:ext uri="{FF2B5EF4-FFF2-40B4-BE49-F238E27FC236}">
                <a16:creationId xmlns:a16="http://schemas.microsoft.com/office/drawing/2014/main" id="{2EE31216-1EBC-4090-A32D-9F336B102F8E}"/>
              </a:ext>
            </a:extLst>
          </p:cNvPr>
          <p:cNvGraphicFramePr/>
          <p:nvPr/>
        </p:nvGraphicFramePr>
        <p:xfrm>
          <a:off xmlns:a="http://schemas.openxmlformats.org/drawingml/2006/main" x="7620000" y="1714500"/>
          <a:ext xmlns:a="http://schemas.openxmlformats.org/drawingml/2006/main" cx="3905250" cy="2524125"/>
        </p:xfrm>
        <a:graphic xmlns:a="http://schemas.openxmlformats.org/drawingml/2006/main">
          <a:graphicData uri="http://schemas.openxmlformats.org/drawingml/2006/table">
            <a:tbl>
              <a:tblPr/>
              <a:tblGrid>
                <a:gridCol w="2000250"/>
                <a:gridCol w="1905000"/>
              </a:tblGrid>
              <a:tr h="631031">
                <a:tc>
                  <a:txBody>
                    <a:bodyPr lIns="114300" tIns="114300" rIns="114300" bIns="114300"/>
                    <a:lstStyle/>
                    <a:p>
                      <a:r>
                        <a:rPr sz="1875" b="1">
                          <a:solidFill>
                            <a:srgbClr val="0F172A"/>
                          </a:solidFill>
                          <a:latin typeface="Arial"/>
                          <a:ea typeface="Arial"/>
                          <a:cs typeface="Arial"/>
                        </a:rPr>
                        <a:t>Region</a:t>
                      </a:r>
                    </a:p>
                  </a:txBody>
                  <a:tcPr marL="91440" marR="91440" marT="45720" marB="45720" anchor="ctr">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Cores per epoch</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r>
              <a:tr h="631031">
                <a:tc>
                  <a:txBody>
                    <a:bodyPr lIns="114300" tIns="114300" rIns="114300" bIns="114300"/>
                    <a:lstStyle/>
                    <a:p>
                      <a:r>
                        <a:rPr sz="1875" b="0">
                          <a:solidFill>
                            <a:srgbClr val="0F172A"/>
                          </a:solidFill>
                          <a:latin typeface="Arial"/>
                          <a:ea typeface="Arial"/>
                          <a:cs typeface="Arial"/>
                        </a:rPr>
                        <a:t>Train</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8,000</a:t>
                      </a:r>
                    </a:p>
                  </a:txBody>
                  <a:tcPr marL="91440" marR="91440" marT="45720" marB="45720" anchor="ctr">
                    <a:lnR w="9525">
                      <a:solidFill>
                        <a:srgbClr val="CBD5E1"/>
                      </a:solidFill>
                      <a:prstDash val="solid"/>
                    </a:lnR>
                    <a:lnB w="9525">
                      <a:solidFill>
                        <a:srgbClr val="CBD5E1"/>
                      </a:solidFill>
                      <a:prstDash val="solid"/>
                    </a:lnB>
                    <a:solidFill>
                      <a:srgbClr val="FFFFFF"/>
                    </a:solidFill>
                  </a:tcPr>
                </a:tc>
              </a:tr>
              <a:tr h="631031">
                <a:tc>
                  <a:txBody>
                    <a:bodyPr lIns="114300" tIns="114300" rIns="114300" bIns="114300"/>
                    <a:lstStyle/>
                    <a:p>
                      <a:r>
                        <a:rPr sz="1875" b="0">
                          <a:solidFill>
                            <a:srgbClr val="0F172A"/>
                          </a:solidFill>
                          <a:latin typeface="Arial"/>
                          <a:ea typeface="Arial"/>
                          <a:cs typeface="Arial"/>
                        </a:rPr>
                        <a:t>Calibration</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1,000</a:t>
                      </a:r>
                    </a:p>
                  </a:txBody>
                  <a:tcPr marL="91440" marR="91440" marT="45720" marB="45720" anchor="ctr">
                    <a:lnR w="9525">
                      <a:solidFill>
                        <a:srgbClr val="CBD5E1"/>
                      </a:solidFill>
                      <a:prstDash val="solid"/>
                    </a:lnR>
                    <a:lnB w="9525">
                      <a:solidFill>
                        <a:srgbClr val="CBD5E1"/>
                      </a:solidFill>
                      <a:prstDash val="solid"/>
                    </a:lnB>
                    <a:solidFill>
                      <a:srgbClr val="F8FAFC"/>
                    </a:solidFill>
                  </a:tcPr>
                </a:tc>
              </a:tr>
              <a:tr h="631031">
                <a:tc>
                  <a:txBody>
                    <a:bodyPr lIns="114300" tIns="114300" rIns="114300" bIns="114300"/>
                    <a:lstStyle/>
                    <a:p>
                      <a:r>
                        <a:rPr sz="1875" b="0">
                          <a:solidFill>
                            <a:srgbClr val="0F172A"/>
                          </a:solidFill>
                          <a:latin typeface="Arial"/>
                          <a:ea typeface="Arial"/>
                          <a:cs typeface="Arial"/>
                        </a:rPr>
                        <a:t>Test</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4,000</a:t>
                      </a:r>
                    </a:p>
                  </a:txBody>
                  <a:tcPr marL="91440" marR="91440" marT="45720" marB="45720" anchor="ctr">
                    <a:lnR w="9525">
                      <a:solidFill>
                        <a:srgbClr val="CBD5E1"/>
                      </a:solidFill>
                      <a:prstDash val="solid"/>
                    </a:lnR>
                    <a:lnB w="9525">
                      <a:solidFill>
                        <a:srgbClr val="CBD5E1"/>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E7CA4A7-A5E5-413C-A3F0-284011197DBA}"/>
              </a:ext>
            </a:extLst>
          </p:cNvPr>
          <p:cNvSpPr>
            <a:spLocks xmlns:a="http://schemas.openxmlformats.org/drawingml/2006/main" noGrp="1"/>
          </p:cNvSpPr>
          <p:nvPr/>
        </p:nvSpPr>
        <p:spPr>
          <a:xfrm xmlns:a="http://schemas.openxmlformats.org/drawingml/2006/main">
            <a:off x="7667625" y="4524375"/>
            <a:ext cx="3905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F172A"/>
                </a:solidFill>
                <a:latin typeface="Arial"/>
                <a:ea typeface="Arial"/>
                <a:cs typeface="Arial"/>
              </a:defRPr>
            </a:defPPr>
            <a:lvl1pPr>
              <a:defRPr sz="2550" b="1">
                <a:solidFill>
                  <a:srgbClr val="0F172A"/>
                </a:solidFill>
                <a:latin typeface="Arial"/>
                <a:ea typeface="Arial"/>
                <a:cs typeface="Arial"/>
              </a:defRPr>
            </a:lvl1pPr>
            <a:lvl2pPr>
              <a:defRPr sz="2550" b="1">
                <a:solidFill>
                  <a:srgbClr val="0F172A"/>
                </a:solidFill>
                <a:latin typeface="Arial"/>
                <a:ea typeface="Arial"/>
                <a:cs typeface="Arial"/>
              </a:defRPr>
            </a:lvl2pPr>
            <a:lvl3pPr>
              <a:defRPr sz="2550" b="1">
                <a:solidFill>
                  <a:srgbClr val="0F172A"/>
                </a:solidFill>
                <a:latin typeface="Arial"/>
                <a:ea typeface="Arial"/>
                <a:cs typeface="Arial"/>
              </a:defRPr>
            </a:lvl3pPr>
            <a:lvl4pPr>
              <a:defRPr sz="2550" b="1">
                <a:solidFill>
                  <a:srgbClr val="0F172A"/>
                </a:solidFill>
                <a:latin typeface="Arial"/>
                <a:ea typeface="Arial"/>
                <a:cs typeface="Arial"/>
              </a:defRPr>
            </a:lvl4pPr>
            <a:lvl5pPr>
              <a:defRPr sz="2550" b="1">
                <a:solidFill>
                  <a:srgbClr val="0F172A"/>
                </a:solidFill>
                <a:latin typeface="Arial"/>
                <a:ea typeface="Arial"/>
                <a:cs typeface="Arial"/>
              </a:defRPr>
            </a:lvl5pPr>
            <a:lvl6pPr>
              <a:defRPr sz="2550" b="1">
                <a:solidFill>
                  <a:srgbClr val="0F172A"/>
                </a:solidFill>
                <a:latin typeface="Arial"/>
                <a:ea typeface="Arial"/>
                <a:cs typeface="Arial"/>
              </a:defRPr>
            </a:lvl6pPr>
            <a:lvl7pPr>
              <a:defRPr sz="2550" b="1">
                <a:solidFill>
                  <a:srgbClr val="0F172A"/>
                </a:solidFill>
                <a:latin typeface="Arial"/>
                <a:ea typeface="Arial"/>
                <a:cs typeface="Arial"/>
              </a:defRPr>
            </a:lvl7pPr>
            <a:lvl8pPr>
              <a:defRPr sz="2550" b="1">
                <a:solidFill>
                  <a:srgbClr val="0F172A"/>
                </a:solidFill>
                <a:latin typeface="Arial"/>
                <a:ea typeface="Arial"/>
                <a:cs typeface="Arial"/>
              </a:defRPr>
            </a:lvl8pPr>
            <a:lvl9pPr>
              <a:defRPr sz="2550" b="1">
                <a:solidFill>
                  <a:srgbClr val="0F172A"/>
                </a:solidFill>
                <a:latin typeface="Arial"/>
                <a:ea typeface="Arial"/>
                <a:cs typeface="Arial"/>
              </a:defRPr>
            </a:lvl9pPr>
          </a:lstStyle>
          <a:p xmlns:a="http://schemas.openxmlformats.org/drawingml/2006/main">
            <a:pPr>
              <a:defRPr sz="2550" b="1">
                <a:solidFill>
                  <a:srgbClr val="0F172A"/>
                </a:solidFill>
                <a:latin typeface="Arial"/>
                <a:ea typeface="Arial"/>
                <a:cs typeface="Arial"/>
              </a:defRPr>
            </a:pPr>
            <a:r>
              <a:rPr sz="2550" b="1">
                <a:solidFill>
                  <a:srgbClr val="0F172A"/>
                </a:solidFill>
                <a:latin typeface="Arial"/>
                <a:ea typeface="Arial"/>
                <a:cs typeface="Arial"/>
              </a:rPr>
              <a:t>2.22 m buffers</a:t>
            </a:r>
          </a:p>
        </p:txBody>
      </p:sp>
      <p:sp>
        <p:nvSpPr>
          <p:cNvPr id="7" name="">
            <a:extLst xmlns:a="http://schemas.openxmlformats.org/drawingml/2006/main">
              <a:ext uri="{FF2B5EF4-FFF2-40B4-BE49-F238E27FC236}">
                <a16:creationId xmlns:a16="http://schemas.microsoft.com/office/drawing/2014/main" id="{608446A0-6870-4868-ADC6-8BD4D7587B60}"/>
              </a:ext>
            </a:extLst>
          </p:cNvPr>
          <p:cNvSpPr>
            <a:spLocks xmlns:a="http://schemas.openxmlformats.org/drawingml/2006/main" noGrp="1"/>
          </p:cNvSpPr>
          <p:nvPr/>
        </p:nvSpPr>
        <p:spPr>
          <a:xfrm xmlns:a="http://schemas.openxmlformats.org/drawingml/2006/main">
            <a:off x="7667625" y="5191125"/>
            <a:ext cx="390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0F172A"/>
                </a:solidFill>
                <a:latin typeface="Arial"/>
                <a:ea typeface="Arial"/>
                <a:cs typeface="Arial"/>
              </a:defRPr>
            </a:defPPr>
            <a:lvl1pPr>
              <a:defRPr sz="1950" b="0">
                <a:solidFill>
                  <a:srgbClr val="0F172A"/>
                </a:solidFill>
                <a:latin typeface="Arial"/>
                <a:ea typeface="Arial"/>
                <a:cs typeface="Arial"/>
              </a:defRPr>
            </a:lvl1pPr>
            <a:lvl2pPr>
              <a:defRPr sz="1950" b="0">
                <a:solidFill>
                  <a:srgbClr val="0F172A"/>
                </a:solidFill>
                <a:latin typeface="Arial"/>
                <a:ea typeface="Arial"/>
                <a:cs typeface="Arial"/>
              </a:defRPr>
            </a:lvl2pPr>
            <a:lvl3pPr>
              <a:defRPr sz="1950" b="0">
                <a:solidFill>
                  <a:srgbClr val="0F172A"/>
                </a:solidFill>
                <a:latin typeface="Arial"/>
                <a:ea typeface="Arial"/>
                <a:cs typeface="Arial"/>
              </a:defRPr>
            </a:lvl3pPr>
            <a:lvl4pPr>
              <a:defRPr sz="1950" b="0">
                <a:solidFill>
                  <a:srgbClr val="0F172A"/>
                </a:solidFill>
                <a:latin typeface="Arial"/>
                <a:ea typeface="Arial"/>
                <a:cs typeface="Arial"/>
              </a:defRPr>
            </a:lvl4pPr>
            <a:lvl5pPr>
              <a:defRPr sz="1950" b="0">
                <a:solidFill>
                  <a:srgbClr val="0F172A"/>
                </a:solidFill>
                <a:latin typeface="Arial"/>
                <a:ea typeface="Arial"/>
                <a:cs typeface="Arial"/>
              </a:defRPr>
            </a:lvl5pPr>
            <a:lvl6pPr>
              <a:defRPr sz="1950" b="0">
                <a:solidFill>
                  <a:srgbClr val="0F172A"/>
                </a:solidFill>
                <a:latin typeface="Arial"/>
                <a:ea typeface="Arial"/>
                <a:cs typeface="Arial"/>
              </a:defRPr>
            </a:lvl6pPr>
            <a:lvl7pPr>
              <a:defRPr sz="1950" b="0">
                <a:solidFill>
                  <a:srgbClr val="0F172A"/>
                </a:solidFill>
                <a:latin typeface="Arial"/>
                <a:ea typeface="Arial"/>
                <a:cs typeface="Arial"/>
              </a:defRPr>
            </a:lvl7pPr>
            <a:lvl8pPr>
              <a:defRPr sz="1950" b="0">
                <a:solidFill>
                  <a:srgbClr val="0F172A"/>
                </a:solidFill>
                <a:latin typeface="Arial"/>
                <a:ea typeface="Arial"/>
                <a:cs typeface="Arial"/>
              </a:defRPr>
            </a:lvl8pPr>
            <a:lvl9pPr>
              <a:defRPr sz="1950" b="0">
                <a:solidFill>
                  <a:srgbClr val="0F172A"/>
                </a:solidFill>
                <a:latin typeface="Arial"/>
                <a:ea typeface="Arial"/>
                <a:cs typeface="Arial"/>
              </a:defRPr>
            </a:lvl9pPr>
          </a:lstStyle>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Same scene and epochs</a:t>
            </a:r>
          </a:p>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No cross-scene claim</a:t>
            </a:r>
          </a:p>
        </p:txBody>
      </p:sp>
    </p:spTree>
    <p:extLst>
      <p:ext uri="{BB962C8B-B14F-4D97-AF65-F5344CB8AC3E}">
        <p14:creationId xmlns:p14="http://schemas.microsoft.com/office/powerpoint/2010/main" val="18624429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E6E0B67-D62D-4F18-ACB2-D763ADF30B1B}"/>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C2C leads on this clean spatial region</a:t>
            </a:r>
          </a:p>
        </p:txBody>
      </p:sp>
      <p:sp>
        <p:nvSpPr>
          <p:cNvPr id="2" name="">
            <a:extLst xmlns:a="http://schemas.openxmlformats.org/drawingml/2006/main">
              <a:ext uri="{FF2B5EF4-FFF2-40B4-BE49-F238E27FC236}">
                <a16:creationId xmlns:a16="http://schemas.microsoft.com/office/drawing/2014/main" id="{2767899E-3FD1-4356-BFB4-1C9A9F6C42B2}"/>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85C71679-9EF6-4A4D-97C1-7EF27BEDF39B}"/>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5</a:t>
            </a:r>
          </a:p>
        </p:txBody>
      </p:sp>
      <p:graphicFrame>
        <p:nvGraphicFramePr>
          <p:cNvPr id="4" name="">
            <a:extLst xmlns:a="http://schemas.openxmlformats.org/drawingml/2006/main">
              <a:ext uri="{FF2B5EF4-FFF2-40B4-BE49-F238E27FC236}">
                <a16:creationId xmlns:a16="http://schemas.microsoft.com/office/drawing/2014/main" id="{4015A398-ACA2-40F4-9BA5-67E6D55AA3C1}"/>
              </a:ext>
            </a:extLst>
          </p:cNvPr>
          <p:cNvGraphicFramePr/>
          <p:nvPr/>
        </p:nvGraphicFramePr>
        <p:xfrm>
          <a:off xmlns:a="http://schemas.openxmlformats.org/drawingml/2006/main" x="857250" y="1714500"/>
          <a:ext xmlns:a="http://schemas.openxmlformats.org/drawingml/2006/main" cx="10477500" cy="2476500"/>
        </p:xfrm>
        <a:graphic xmlns:a="http://schemas.openxmlformats.org/drawingml/2006/main">
          <a:graphicData uri="http://schemas.openxmlformats.org/drawingml/2006/table">
            <a:tbl>
              <a:tblPr/>
              <a:tblGrid>
                <a:gridCol w="3619500"/>
                <a:gridCol w="2095500"/>
                <a:gridCol w="2190750"/>
                <a:gridCol w="2571750"/>
              </a:tblGrid>
              <a:tr h="619125">
                <a:tc>
                  <a:txBody>
                    <a:bodyPr lIns="114300" tIns="114300" rIns="114300" bIns="114300"/>
                    <a:lstStyle/>
                    <a:p>
                      <a:r>
                        <a:rPr sz="1875" b="1">
                          <a:solidFill>
                            <a:srgbClr val="0F172A"/>
                          </a:solidFill>
                          <a:latin typeface="Arial"/>
                          <a:ea typeface="Arial"/>
                          <a:cs typeface="Arial"/>
                        </a:rPr>
                        <a:t>Method</a:t>
                      </a:r>
                    </a:p>
                  </a:txBody>
                  <a:tcPr marL="91440" marR="91440" marT="45720" marB="45720" anchor="ctr">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Macro F1</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Macro mIoU</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Detector unknown</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r>
              <a:tr h="619125">
                <a:tc>
                  <a:txBody>
                    <a:bodyPr lIns="114300" tIns="114300" rIns="114300" bIns="114300"/>
                    <a:lstStyle/>
                    <a:p>
                      <a:r>
                        <a:rPr sz="1875" b="0">
                          <a:solidFill>
                            <a:srgbClr val="0F172A"/>
                          </a:solidFill>
                          <a:latin typeface="Arial"/>
                          <a:ea typeface="Arial"/>
                          <a:cs typeface="Arial"/>
                        </a:rPr>
                        <a:t>C2C</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0.4118</a:t>
                      </a:r>
                    </a:p>
                  </a:txBody>
                  <a:tcPr marL="91440" marR="91440" marT="45720" marB="45720" anchor="ctr">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0.3340</a:t>
                      </a:r>
                    </a:p>
                  </a:txBody>
                  <a:tcPr marL="91440" marR="91440" marT="45720" marB="45720" anchor="ctr">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0.000%</a:t>
                      </a:r>
                    </a:p>
                  </a:txBody>
                  <a:tcPr marL="91440" marR="91440" marT="45720" marB="45720" anchor="ctr">
                    <a:lnR w="9525">
                      <a:solidFill>
                        <a:srgbClr val="CBD5E1"/>
                      </a:solidFill>
                      <a:prstDash val="solid"/>
                    </a:lnR>
                    <a:lnB w="9525">
                      <a:solidFill>
                        <a:srgbClr val="CBD5E1"/>
                      </a:solidFill>
                      <a:prstDash val="solid"/>
                    </a:lnB>
                    <a:solidFill>
                      <a:srgbClr val="FFFFFF"/>
                    </a:solidFill>
                  </a:tcPr>
                </a:tc>
              </a:tr>
              <a:tr h="619125">
                <a:tc>
                  <a:txBody>
                    <a:bodyPr lIns="114300" tIns="114300" rIns="114300" bIns="114300"/>
                    <a:lstStyle/>
                    <a:p>
                      <a:r>
                        <a:rPr sz="1875" b="0">
                          <a:solidFill>
                            <a:srgbClr val="0F172A"/>
                          </a:solidFill>
                          <a:latin typeface="Arial"/>
                          <a:ea typeface="Arial"/>
                          <a:cs typeface="Arial"/>
                        </a:rPr>
                        <a:t>Siamese + NN</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0.3817</a:t>
                      </a:r>
                    </a:p>
                  </a:txBody>
                  <a:tcPr marL="91440" marR="91440" marT="45720" marB="45720" anchor="ctr">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0.3091</a:t>
                      </a:r>
                    </a:p>
                  </a:txBody>
                  <a:tcPr marL="91440" marR="91440" marT="45720" marB="45720" anchor="ctr">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0.000%</a:t>
                      </a:r>
                    </a:p>
                  </a:txBody>
                  <a:tcPr marL="91440" marR="91440" marT="45720" marB="45720" anchor="ctr">
                    <a:lnR w="9525">
                      <a:solidFill>
                        <a:srgbClr val="CBD5E1"/>
                      </a:solidFill>
                      <a:prstDash val="solid"/>
                    </a:lnR>
                    <a:lnB w="9525">
                      <a:solidFill>
                        <a:srgbClr val="CBD5E1"/>
                      </a:solidFill>
                      <a:prstDash val="solid"/>
                    </a:lnB>
                    <a:solidFill>
                      <a:srgbClr val="F8FAFC"/>
                    </a:solidFill>
                  </a:tcPr>
                </a:tc>
              </a:tr>
              <a:tr h="619125">
                <a:tc>
                  <a:txBody>
                    <a:bodyPr lIns="114300" tIns="114300" rIns="114300" bIns="114300"/>
                    <a:lstStyle/>
                    <a:p>
                      <a:r>
                        <a:rPr sz="1875" b="0">
                          <a:solidFill>
                            <a:srgbClr val="0F172A"/>
                          </a:solidFill>
                          <a:latin typeface="Arial"/>
                          <a:ea typeface="Arial"/>
                          <a:cs typeface="Arial"/>
                        </a:rPr>
                        <a:t>M3C2-style</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0.2342</a:t>
                      </a:r>
                    </a:p>
                  </a:txBody>
                  <a:tcPr marL="91440" marR="91440" marT="45720" marB="45720" anchor="ctr">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0.1561</a:t>
                      </a:r>
                    </a:p>
                  </a:txBody>
                  <a:tcPr marL="91440" marR="91440" marT="45720" marB="45720" anchor="ctr">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33.125%</a:t>
                      </a:r>
                    </a:p>
                  </a:txBody>
                  <a:tcPr marL="91440" marR="91440" marT="45720" marB="45720" anchor="ctr">
                    <a:lnR w="9525">
                      <a:solidFill>
                        <a:srgbClr val="CBD5E1"/>
                      </a:solidFill>
                      <a:prstDash val="solid"/>
                    </a:lnR>
                    <a:lnB w="9525">
                      <a:solidFill>
                        <a:srgbClr val="CBD5E1"/>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2CC59FC-4722-43ED-B755-C88C523AAAFF}"/>
              </a:ext>
            </a:extLst>
          </p:cNvPr>
          <p:cNvSpPr>
            <a:spLocks xmlns:a="http://schemas.openxmlformats.org/drawingml/2006/main" noGrp="1"/>
          </p:cNvSpPr>
          <p:nvPr/>
        </p:nvSpPr>
        <p:spPr>
          <a:xfrm xmlns:a="http://schemas.openxmlformats.org/drawingml/2006/main">
            <a:off x="904875" y="46196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F172A"/>
                </a:solidFill>
                <a:latin typeface="Arial"/>
                <a:ea typeface="Arial"/>
                <a:cs typeface="Arial"/>
              </a:defRPr>
            </a:defPPr>
            <a:lvl1pPr>
              <a:defRPr sz="2550" b="1">
                <a:solidFill>
                  <a:srgbClr val="0F172A"/>
                </a:solidFill>
                <a:latin typeface="Arial"/>
                <a:ea typeface="Arial"/>
                <a:cs typeface="Arial"/>
              </a:defRPr>
            </a:lvl1pPr>
            <a:lvl2pPr>
              <a:defRPr sz="2550" b="1">
                <a:solidFill>
                  <a:srgbClr val="0F172A"/>
                </a:solidFill>
                <a:latin typeface="Arial"/>
                <a:ea typeface="Arial"/>
                <a:cs typeface="Arial"/>
              </a:defRPr>
            </a:lvl2pPr>
            <a:lvl3pPr>
              <a:defRPr sz="2550" b="1">
                <a:solidFill>
                  <a:srgbClr val="0F172A"/>
                </a:solidFill>
                <a:latin typeface="Arial"/>
                <a:ea typeface="Arial"/>
                <a:cs typeface="Arial"/>
              </a:defRPr>
            </a:lvl3pPr>
            <a:lvl4pPr>
              <a:defRPr sz="2550" b="1">
                <a:solidFill>
                  <a:srgbClr val="0F172A"/>
                </a:solidFill>
                <a:latin typeface="Arial"/>
                <a:ea typeface="Arial"/>
                <a:cs typeface="Arial"/>
              </a:defRPr>
            </a:lvl4pPr>
            <a:lvl5pPr>
              <a:defRPr sz="2550" b="1">
                <a:solidFill>
                  <a:srgbClr val="0F172A"/>
                </a:solidFill>
                <a:latin typeface="Arial"/>
                <a:ea typeface="Arial"/>
                <a:cs typeface="Arial"/>
              </a:defRPr>
            </a:lvl5pPr>
            <a:lvl6pPr>
              <a:defRPr sz="2550" b="1">
                <a:solidFill>
                  <a:srgbClr val="0F172A"/>
                </a:solidFill>
                <a:latin typeface="Arial"/>
                <a:ea typeface="Arial"/>
                <a:cs typeface="Arial"/>
              </a:defRPr>
            </a:lvl6pPr>
            <a:lvl7pPr>
              <a:defRPr sz="2550" b="1">
                <a:solidFill>
                  <a:srgbClr val="0F172A"/>
                </a:solidFill>
                <a:latin typeface="Arial"/>
                <a:ea typeface="Arial"/>
                <a:cs typeface="Arial"/>
              </a:defRPr>
            </a:lvl7pPr>
            <a:lvl8pPr>
              <a:defRPr sz="2550" b="1">
                <a:solidFill>
                  <a:srgbClr val="0F172A"/>
                </a:solidFill>
                <a:latin typeface="Arial"/>
                <a:ea typeface="Arial"/>
                <a:cs typeface="Arial"/>
              </a:defRPr>
            </a:lvl8pPr>
            <a:lvl9pPr>
              <a:defRPr sz="2550" b="1">
                <a:solidFill>
                  <a:srgbClr val="0F172A"/>
                </a:solidFill>
                <a:latin typeface="Arial"/>
                <a:ea typeface="Arial"/>
                <a:cs typeface="Arial"/>
              </a:defRPr>
            </a:lvl9pPr>
          </a:lstStyle>
          <a:p xmlns:a="http://schemas.openxmlformats.org/drawingml/2006/main">
            <a:pPr>
              <a:defRPr sz="2550" b="1">
                <a:solidFill>
                  <a:srgbClr val="0F172A"/>
                </a:solidFill>
                <a:latin typeface="Arial"/>
                <a:ea typeface="Arial"/>
                <a:cs typeface="Arial"/>
              </a:defRPr>
            </a:pPr>
            <a:r>
              <a:rPr sz="2550" b="1">
                <a:solidFill>
                  <a:srgbClr val="0F172A"/>
                </a:solidFill>
                <a:latin typeface="Arial"/>
                <a:ea typeface="Arial"/>
                <a:cs typeface="Arial"/>
              </a:rPr>
              <a:t>5,350 valid cores out of 8,000 requested</a:t>
            </a:r>
          </a:p>
        </p:txBody>
      </p:sp>
      <p:sp>
        <p:nvSpPr>
          <p:cNvPr id="6" name="">
            <a:extLst xmlns:a="http://schemas.openxmlformats.org/drawingml/2006/main">
              <a:ext uri="{FF2B5EF4-FFF2-40B4-BE49-F238E27FC236}">
                <a16:creationId xmlns:a16="http://schemas.microsoft.com/office/drawing/2014/main" id="{B93585A6-0AA9-43CC-B07B-F2D39D6B5B4E}"/>
              </a:ext>
            </a:extLst>
          </p:cNvPr>
          <p:cNvSpPr>
            <a:spLocks xmlns:a="http://schemas.openxmlformats.org/drawingml/2006/main" noGrp="1"/>
          </p:cNvSpPr>
          <p:nvPr/>
        </p:nvSpPr>
        <p:spPr>
          <a:xfrm xmlns:a="http://schemas.openxmlformats.org/drawingml/2006/main">
            <a:off x="904875" y="538162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0F172A"/>
                </a:solidFill>
                <a:latin typeface="Arial"/>
                <a:ea typeface="Arial"/>
                <a:cs typeface="Arial"/>
              </a:defRPr>
            </a:defPPr>
            <a:lvl1pPr>
              <a:defRPr sz="1950" b="0">
                <a:solidFill>
                  <a:srgbClr val="0F172A"/>
                </a:solidFill>
                <a:latin typeface="Arial"/>
                <a:ea typeface="Arial"/>
                <a:cs typeface="Arial"/>
              </a:defRPr>
            </a:lvl1pPr>
            <a:lvl2pPr>
              <a:defRPr sz="1950" b="0">
                <a:solidFill>
                  <a:srgbClr val="0F172A"/>
                </a:solidFill>
                <a:latin typeface="Arial"/>
                <a:ea typeface="Arial"/>
                <a:cs typeface="Arial"/>
              </a:defRPr>
            </a:lvl2pPr>
            <a:lvl3pPr>
              <a:defRPr sz="1950" b="0">
                <a:solidFill>
                  <a:srgbClr val="0F172A"/>
                </a:solidFill>
                <a:latin typeface="Arial"/>
                <a:ea typeface="Arial"/>
                <a:cs typeface="Arial"/>
              </a:defRPr>
            </a:lvl3pPr>
            <a:lvl4pPr>
              <a:defRPr sz="1950" b="0">
                <a:solidFill>
                  <a:srgbClr val="0F172A"/>
                </a:solidFill>
                <a:latin typeface="Arial"/>
                <a:ea typeface="Arial"/>
                <a:cs typeface="Arial"/>
              </a:defRPr>
            </a:lvl4pPr>
            <a:lvl5pPr>
              <a:defRPr sz="1950" b="0">
                <a:solidFill>
                  <a:srgbClr val="0F172A"/>
                </a:solidFill>
                <a:latin typeface="Arial"/>
                <a:ea typeface="Arial"/>
                <a:cs typeface="Arial"/>
              </a:defRPr>
            </a:lvl5pPr>
            <a:lvl6pPr>
              <a:defRPr sz="1950" b="0">
                <a:solidFill>
                  <a:srgbClr val="0F172A"/>
                </a:solidFill>
                <a:latin typeface="Arial"/>
                <a:ea typeface="Arial"/>
                <a:cs typeface="Arial"/>
              </a:defRPr>
            </a:lvl6pPr>
            <a:lvl7pPr>
              <a:defRPr sz="1950" b="0">
                <a:solidFill>
                  <a:srgbClr val="0F172A"/>
                </a:solidFill>
                <a:latin typeface="Arial"/>
                <a:ea typeface="Arial"/>
                <a:cs typeface="Arial"/>
              </a:defRPr>
            </a:lvl7pPr>
            <a:lvl8pPr>
              <a:defRPr sz="1950" b="0">
                <a:solidFill>
                  <a:srgbClr val="0F172A"/>
                </a:solidFill>
                <a:latin typeface="Arial"/>
                <a:ea typeface="Arial"/>
                <a:cs typeface="Arial"/>
              </a:defRPr>
            </a:lvl8pPr>
            <a:lvl9pPr>
              <a:defRPr sz="1950" b="0">
                <a:solidFill>
                  <a:srgbClr val="0F172A"/>
                </a:solidFill>
                <a:latin typeface="Arial"/>
                <a:ea typeface="Arial"/>
                <a:cs typeface="Arial"/>
              </a:defRPr>
            </a:lvl9pPr>
          </a:lstStyle>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Common evaluation coverage 66.875%</a:t>
            </a:r>
          </a:p>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C2C and learned all-core results stay separately labelled</a:t>
            </a:r>
          </a:p>
        </p:txBody>
      </p:sp>
    </p:spTree>
    <p:extLst>
      <p:ext uri="{BB962C8B-B14F-4D97-AF65-F5344CB8AC3E}">
        <p14:creationId xmlns:p14="http://schemas.microsoft.com/office/powerpoint/2010/main" val="141036930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A9BEAA6-6B5A-4DF8-81D5-635ACDC50EE1}"/>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Registration errors change each detector differently</a:t>
            </a:r>
          </a:p>
        </p:txBody>
      </p:sp>
      <p:sp>
        <p:nvSpPr>
          <p:cNvPr id="2" name="">
            <a:extLst xmlns:a="http://schemas.openxmlformats.org/drawingml/2006/main">
              <a:ext uri="{FF2B5EF4-FFF2-40B4-BE49-F238E27FC236}">
                <a16:creationId xmlns:a16="http://schemas.microsoft.com/office/drawing/2014/main" id="{3EE1B3AB-2FC2-41B6-9603-6B81F51EBF65}"/>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1BD0FC82-3E16-4ADF-9AB5-E10BE5E29A43}"/>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6</a:t>
            </a:r>
          </a:p>
        </p:txBody>
      </p:sp>
      <p:graphicFrame>
        <p:nvGraphicFramePr>
          <p:cNvPr id="4" name="Chart">
            <a:extLst xmlns:a="http://schemas.openxmlformats.org/drawingml/2006/main">
              <a:ext uri="{FF2B5EF4-FFF2-40B4-BE49-F238E27FC236}">
                <a16:creationId xmlns:a16="http://schemas.microsoft.com/office/drawing/2014/main" id="{A0E11485-BE90-4BE2-A8F5-333F7F86566E}"/>
              </a:ext>
            </a:extLst>
          </p:cNvPr>
          <p:cNvGraphicFramePr/>
          <p:nvPr/>
        </p:nvGraphicFramePr>
        <p:xfrm>
          <a:off xmlns:a="http://schemas.openxmlformats.org/drawingml/2006/main" x="571500" y="1476375"/>
          <a:ext xmlns:a="http://schemas.openxmlformats.org/drawingml/2006/main" cx="5334000" cy="3667125"/>
        </p:xfrm>
        <a:graphic xmlns:a="http://schemas.openxmlformats.org/drawingml/2006/main">
          <a:graphicData uri="http://schemas.openxmlformats.org/drawingml/2006/chart">
            <c:chart xmlns:r="http://schemas.openxmlformats.org/officeDocument/2006/relationships" xmlns:c="http://schemas.openxmlformats.org/drawingml/2006/chart" r:id="R762bb74692a94dc3"/>
          </a:graphicData>
        </a:graphic>
      </p:graphicFrame>
      <p:graphicFrame>
        <p:nvGraphicFramePr>
          <p:cNvPr id="5" name="Chart">
            <a:extLst xmlns:a="http://schemas.openxmlformats.org/drawingml/2006/main">
              <a:ext uri="{FF2B5EF4-FFF2-40B4-BE49-F238E27FC236}">
                <a16:creationId xmlns:a16="http://schemas.microsoft.com/office/drawing/2014/main" id="{E0E50357-43C9-40A1-91E2-B31849784503}"/>
              </a:ext>
            </a:extLst>
          </p:cNvPr>
          <p:cNvGraphicFramePr/>
          <p:nvPr/>
        </p:nvGraphicFramePr>
        <p:xfrm>
          <a:off xmlns:a="http://schemas.openxmlformats.org/drawingml/2006/main" x="6286500" y="1476375"/>
          <a:ext xmlns:a="http://schemas.openxmlformats.org/drawingml/2006/main" cx="5334000" cy="3667125"/>
        </p:xfrm>
        <a:graphic xmlns:a="http://schemas.openxmlformats.org/drawingml/2006/main">
          <a:graphicData uri="http://schemas.openxmlformats.org/drawingml/2006/chart">
            <c:chart xmlns:r="http://schemas.openxmlformats.org/officeDocument/2006/relationships" xmlns:c="http://schemas.openxmlformats.org/drawingml/2006/chart" r:id="Rd20d9c02183343b0"/>
          </a:graphicData>
        </a:graphic>
      </p:graphicFrame>
      <p:sp>
        <p:nvSpPr>
          <p:cNvPr id="6" name="">
            <a:extLst xmlns:a="http://schemas.openxmlformats.org/drawingml/2006/main">
              <a:ext uri="{FF2B5EF4-FFF2-40B4-BE49-F238E27FC236}">
                <a16:creationId xmlns:a16="http://schemas.microsoft.com/office/drawing/2014/main" id="{1B997A0B-018F-4808-AFBA-A7BE70AEF022}"/>
              </a:ext>
            </a:extLst>
          </p:cNvPr>
          <p:cNvSpPr>
            <a:spLocks xmlns:a="http://schemas.openxmlformats.org/drawingml/2006/main" noGrp="1"/>
          </p:cNvSpPr>
          <p:nvPr/>
        </p:nvSpPr>
        <p:spPr>
          <a:xfrm xmlns:a="http://schemas.openxmlformats.org/drawingml/2006/main">
            <a:off x="857250" y="528637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563EB"/>
                </a:solidFill>
                <a:latin typeface="Arial"/>
                <a:ea typeface="Arial"/>
                <a:cs typeface="Arial"/>
              </a:defRPr>
            </a:defPPr>
            <a:lvl1pPr>
              <a:defRPr sz="1800" b="1">
                <a:solidFill>
                  <a:srgbClr val="2563EB"/>
                </a:solidFill>
                <a:latin typeface="Arial"/>
                <a:ea typeface="Arial"/>
                <a:cs typeface="Arial"/>
              </a:defRPr>
            </a:lvl1pPr>
            <a:lvl2pPr>
              <a:defRPr sz="1800" b="1">
                <a:solidFill>
                  <a:srgbClr val="2563EB"/>
                </a:solidFill>
                <a:latin typeface="Arial"/>
                <a:ea typeface="Arial"/>
                <a:cs typeface="Arial"/>
              </a:defRPr>
            </a:lvl2pPr>
            <a:lvl3pPr>
              <a:defRPr sz="1800" b="1">
                <a:solidFill>
                  <a:srgbClr val="2563EB"/>
                </a:solidFill>
                <a:latin typeface="Arial"/>
                <a:ea typeface="Arial"/>
                <a:cs typeface="Arial"/>
              </a:defRPr>
            </a:lvl3pPr>
            <a:lvl4pPr>
              <a:defRPr sz="1800" b="1">
                <a:solidFill>
                  <a:srgbClr val="2563EB"/>
                </a:solidFill>
                <a:latin typeface="Arial"/>
                <a:ea typeface="Arial"/>
                <a:cs typeface="Arial"/>
              </a:defRPr>
            </a:lvl4pPr>
            <a:lvl5pPr>
              <a:defRPr sz="1800" b="1">
                <a:solidFill>
                  <a:srgbClr val="2563EB"/>
                </a:solidFill>
                <a:latin typeface="Arial"/>
                <a:ea typeface="Arial"/>
                <a:cs typeface="Arial"/>
              </a:defRPr>
            </a:lvl5pPr>
            <a:lvl6pPr>
              <a:defRPr sz="1800" b="1">
                <a:solidFill>
                  <a:srgbClr val="2563EB"/>
                </a:solidFill>
                <a:latin typeface="Arial"/>
                <a:ea typeface="Arial"/>
                <a:cs typeface="Arial"/>
              </a:defRPr>
            </a:lvl6pPr>
            <a:lvl7pPr>
              <a:defRPr sz="1800" b="1">
                <a:solidFill>
                  <a:srgbClr val="2563EB"/>
                </a:solidFill>
                <a:latin typeface="Arial"/>
                <a:ea typeface="Arial"/>
                <a:cs typeface="Arial"/>
              </a:defRPr>
            </a:lvl7pPr>
            <a:lvl8pPr>
              <a:defRPr sz="1800" b="1">
                <a:solidFill>
                  <a:srgbClr val="2563EB"/>
                </a:solidFill>
                <a:latin typeface="Arial"/>
                <a:ea typeface="Arial"/>
                <a:cs typeface="Arial"/>
              </a:defRPr>
            </a:lvl8pPr>
            <a:lvl9pPr>
              <a:defRPr sz="1800" b="1">
                <a:solidFill>
                  <a:srgbClr val="2563EB"/>
                </a:solidFill>
                <a:latin typeface="Arial"/>
                <a:ea typeface="Arial"/>
                <a:cs typeface="Arial"/>
              </a:defRPr>
            </a:lvl9pPr>
          </a:lstStyle>
          <a:p xmlns:a="http://schemas.openxmlformats.org/drawingml/2006/main">
            <a:pPr>
              <a:defRPr sz="1800" b="1">
                <a:solidFill>
                  <a:srgbClr val="2563EB"/>
                </a:solidFill>
                <a:latin typeface="Arial"/>
                <a:ea typeface="Arial"/>
                <a:cs typeface="Arial"/>
              </a:defRPr>
            </a:pPr>
            <a:r>
              <a:rPr sz="1800" b="1">
                <a:solidFill>
                  <a:srgbClr val="2563EB"/>
                </a:solidFill>
                <a:latin typeface="Arial"/>
                <a:ea typeface="Arial"/>
                <a:cs typeface="Arial"/>
              </a:rPr>
              <a:t>C2C</a:t>
            </a:r>
          </a:p>
        </p:txBody>
      </p:sp>
      <p:sp>
        <p:nvSpPr>
          <p:cNvPr id="7" name="">
            <a:extLst xmlns:a="http://schemas.openxmlformats.org/drawingml/2006/main">
              <a:ext uri="{FF2B5EF4-FFF2-40B4-BE49-F238E27FC236}">
                <a16:creationId xmlns:a16="http://schemas.microsoft.com/office/drawing/2014/main" id="{EC93DE33-63C4-4916-8C39-B5A8FC4E809F}"/>
              </a:ext>
            </a:extLst>
          </p:cNvPr>
          <p:cNvSpPr>
            <a:spLocks xmlns:a="http://schemas.openxmlformats.org/drawingml/2006/main" noGrp="1"/>
          </p:cNvSpPr>
          <p:nvPr/>
        </p:nvSpPr>
        <p:spPr>
          <a:xfrm xmlns:a="http://schemas.openxmlformats.org/drawingml/2006/main">
            <a:off x="3714750" y="528637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EA580C"/>
                </a:solidFill>
                <a:latin typeface="Arial"/>
                <a:ea typeface="Arial"/>
                <a:cs typeface="Arial"/>
              </a:defRPr>
            </a:defPPr>
            <a:lvl1pPr>
              <a:defRPr sz="1800" b="1">
                <a:solidFill>
                  <a:srgbClr val="EA580C"/>
                </a:solidFill>
                <a:latin typeface="Arial"/>
                <a:ea typeface="Arial"/>
                <a:cs typeface="Arial"/>
              </a:defRPr>
            </a:lvl1pPr>
            <a:lvl2pPr>
              <a:defRPr sz="1800" b="1">
                <a:solidFill>
                  <a:srgbClr val="EA580C"/>
                </a:solidFill>
                <a:latin typeface="Arial"/>
                <a:ea typeface="Arial"/>
                <a:cs typeface="Arial"/>
              </a:defRPr>
            </a:lvl2pPr>
            <a:lvl3pPr>
              <a:defRPr sz="1800" b="1">
                <a:solidFill>
                  <a:srgbClr val="EA580C"/>
                </a:solidFill>
                <a:latin typeface="Arial"/>
                <a:ea typeface="Arial"/>
                <a:cs typeface="Arial"/>
              </a:defRPr>
            </a:lvl3pPr>
            <a:lvl4pPr>
              <a:defRPr sz="1800" b="1">
                <a:solidFill>
                  <a:srgbClr val="EA580C"/>
                </a:solidFill>
                <a:latin typeface="Arial"/>
                <a:ea typeface="Arial"/>
                <a:cs typeface="Arial"/>
              </a:defRPr>
            </a:lvl4pPr>
            <a:lvl5pPr>
              <a:defRPr sz="1800" b="1">
                <a:solidFill>
                  <a:srgbClr val="EA580C"/>
                </a:solidFill>
                <a:latin typeface="Arial"/>
                <a:ea typeface="Arial"/>
                <a:cs typeface="Arial"/>
              </a:defRPr>
            </a:lvl5pPr>
            <a:lvl6pPr>
              <a:defRPr sz="1800" b="1">
                <a:solidFill>
                  <a:srgbClr val="EA580C"/>
                </a:solidFill>
                <a:latin typeface="Arial"/>
                <a:ea typeface="Arial"/>
                <a:cs typeface="Arial"/>
              </a:defRPr>
            </a:lvl6pPr>
            <a:lvl7pPr>
              <a:defRPr sz="1800" b="1">
                <a:solidFill>
                  <a:srgbClr val="EA580C"/>
                </a:solidFill>
                <a:latin typeface="Arial"/>
                <a:ea typeface="Arial"/>
                <a:cs typeface="Arial"/>
              </a:defRPr>
            </a:lvl7pPr>
            <a:lvl8pPr>
              <a:defRPr sz="1800" b="1">
                <a:solidFill>
                  <a:srgbClr val="EA580C"/>
                </a:solidFill>
                <a:latin typeface="Arial"/>
                <a:ea typeface="Arial"/>
                <a:cs typeface="Arial"/>
              </a:defRPr>
            </a:lvl8pPr>
            <a:lvl9pPr>
              <a:defRPr sz="1800" b="1">
                <a:solidFill>
                  <a:srgbClr val="EA580C"/>
                </a:solidFill>
                <a:latin typeface="Arial"/>
                <a:ea typeface="Arial"/>
                <a:cs typeface="Arial"/>
              </a:defRPr>
            </a:lvl9pPr>
          </a:lstStyle>
          <a:p xmlns:a="http://schemas.openxmlformats.org/drawingml/2006/main">
            <a:pPr>
              <a:defRPr sz="1800" b="1">
                <a:solidFill>
                  <a:srgbClr val="EA580C"/>
                </a:solidFill>
                <a:latin typeface="Arial"/>
                <a:ea typeface="Arial"/>
                <a:cs typeface="Arial"/>
              </a:defRPr>
            </a:pPr>
            <a:r>
              <a:rPr sz="1800" b="1">
                <a:solidFill>
                  <a:srgbClr val="EA580C"/>
                </a:solidFill>
                <a:latin typeface="Arial"/>
                <a:ea typeface="Arial"/>
                <a:cs typeface="Arial"/>
              </a:rPr>
              <a:t>M3C2-style</a:t>
            </a:r>
          </a:p>
        </p:txBody>
      </p:sp>
      <p:sp>
        <p:nvSpPr>
          <p:cNvPr id="8" name="">
            <a:extLst xmlns:a="http://schemas.openxmlformats.org/drawingml/2006/main">
              <a:ext uri="{FF2B5EF4-FFF2-40B4-BE49-F238E27FC236}">
                <a16:creationId xmlns:a16="http://schemas.microsoft.com/office/drawing/2014/main" id="{AAAE4C8A-19CF-4D73-BFED-CE43EBBCBE19}"/>
              </a:ext>
            </a:extLst>
          </p:cNvPr>
          <p:cNvSpPr>
            <a:spLocks xmlns:a="http://schemas.openxmlformats.org/drawingml/2006/main" noGrp="1"/>
          </p:cNvSpPr>
          <p:nvPr/>
        </p:nvSpPr>
        <p:spPr>
          <a:xfrm xmlns:a="http://schemas.openxmlformats.org/drawingml/2006/main">
            <a:off x="7239000" y="5286375"/>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0F766E"/>
                </a:solidFill>
                <a:latin typeface="Arial"/>
                <a:ea typeface="Arial"/>
                <a:cs typeface="Arial"/>
              </a:defRPr>
            </a:defPPr>
            <a:lvl1pPr>
              <a:defRPr sz="1800" b="1">
                <a:solidFill>
                  <a:srgbClr val="0F766E"/>
                </a:solidFill>
                <a:latin typeface="Arial"/>
                <a:ea typeface="Arial"/>
                <a:cs typeface="Arial"/>
              </a:defRPr>
            </a:lvl1pPr>
            <a:lvl2pPr>
              <a:defRPr sz="1800" b="1">
                <a:solidFill>
                  <a:srgbClr val="0F766E"/>
                </a:solidFill>
                <a:latin typeface="Arial"/>
                <a:ea typeface="Arial"/>
                <a:cs typeface="Arial"/>
              </a:defRPr>
            </a:lvl2pPr>
            <a:lvl3pPr>
              <a:defRPr sz="1800" b="1">
                <a:solidFill>
                  <a:srgbClr val="0F766E"/>
                </a:solidFill>
                <a:latin typeface="Arial"/>
                <a:ea typeface="Arial"/>
                <a:cs typeface="Arial"/>
              </a:defRPr>
            </a:lvl3pPr>
            <a:lvl4pPr>
              <a:defRPr sz="1800" b="1">
                <a:solidFill>
                  <a:srgbClr val="0F766E"/>
                </a:solidFill>
                <a:latin typeface="Arial"/>
                <a:ea typeface="Arial"/>
                <a:cs typeface="Arial"/>
              </a:defRPr>
            </a:lvl4pPr>
            <a:lvl5pPr>
              <a:defRPr sz="1800" b="1">
                <a:solidFill>
                  <a:srgbClr val="0F766E"/>
                </a:solidFill>
                <a:latin typeface="Arial"/>
                <a:ea typeface="Arial"/>
                <a:cs typeface="Arial"/>
              </a:defRPr>
            </a:lvl5pPr>
            <a:lvl6pPr>
              <a:defRPr sz="1800" b="1">
                <a:solidFill>
                  <a:srgbClr val="0F766E"/>
                </a:solidFill>
                <a:latin typeface="Arial"/>
                <a:ea typeface="Arial"/>
                <a:cs typeface="Arial"/>
              </a:defRPr>
            </a:lvl6pPr>
            <a:lvl7pPr>
              <a:defRPr sz="1800" b="1">
                <a:solidFill>
                  <a:srgbClr val="0F766E"/>
                </a:solidFill>
                <a:latin typeface="Arial"/>
                <a:ea typeface="Arial"/>
                <a:cs typeface="Arial"/>
              </a:defRPr>
            </a:lvl7pPr>
            <a:lvl8pPr>
              <a:defRPr sz="1800" b="1">
                <a:solidFill>
                  <a:srgbClr val="0F766E"/>
                </a:solidFill>
                <a:latin typeface="Arial"/>
                <a:ea typeface="Arial"/>
                <a:cs typeface="Arial"/>
              </a:defRPr>
            </a:lvl8pPr>
            <a:lvl9pPr>
              <a:defRPr sz="1800" b="1">
                <a:solidFill>
                  <a:srgbClr val="0F766E"/>
                </a:solidFill>
                <a:latin typeface="Arial"/>
                <a:ea typeface="Arial"/>
                <a:cs typeface="Arial"/>
              </a:defRPr>
            </a:lvl9pPr>
          </a:lstStyle>
          <a:p xmlns:a="http://schemas.openxmlformats.org/drawingml/2006/main">
            <a:pPr>
              <a:defRPr sz="1800" b="1">
                <a:solidFill>
                  <a:srgbClr val="0F766E"/>
                </a:solidFill>
                <a:latin typeface="Arial"/>
                <a:ea typeface="Arial"/>
                <a:cs typeface="Arial"/>
              </a:defRPr>
            </a:pPr>
            <a:r>
              <a:rPr sz="1800" b="1">
                <a:solidFill>
                  <a:srgbClr val="0F766E"/>
                </a:solidFill>
                <a:latin typeface="Arial"/>
                <a:ea typeface="Arial"/>
                <a:cs typeface="Arial"/>
              </a:rPr>
              <a:t>Siamese PointNet + NN</a:t>
            </a:r>
          </a:p>
        </p:txBody>
      </p:sp>
      <p:sp>
        <p:nvSpPr>
          <p:cNvPr id="9" name="">
            <a:extLst xmlns:a="http://schemas.openxmlformats.org/drawingml/2006/main">
              <a:ext uri="{FF2B5EF4-FFF2-40B4-BE49-F238E27FC236}">
                <a16:creationId xmlns:a16="http://schemas.microsoft.com/office/drawing/2014/main" id="{0CEB991D-EAEC-4B42-A960-09CDF4252AD8}"/>
              </a:ext>
            </a:extLst>
          </p:cNvPr>
          <p:cNvSpPr>
            <a:spLocks xmlns:a="http://schemas.openxmlformats.org/drawingml/2006/main" noGrp="1"/>
          </p:cNvSpPr>
          <p:nvPr/>
        </p:nvSpPr>
        <p:spPr>
          <a:xfrm xmlns:a="http://schemas.openxmlformats.org/drawingml/2006/main">
            <a:off x="666750" y="59531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75569"/>
                </a:solidFill>
                <a:latin typeface="Arial"/>
                <a:ea typeface="Arial"/>
                <a:cs typeface="Arial"/>
              </a:defRPr>
            </a:defPPr>
            <a:lvl1pPr>
              <a:defRPr sz="1800" b="0">
                <a:solidFill>
                  <a:srgbClr val="475569"/>
                </a:solidFill>
                <a:latin typeface="Arial"/>
                <a:ea typeface="Arial"/>
                <a:cs typeface="Arial"/>
              </a:defRPr>
            </a:lvl1pPr>
            <a:lvl2pPr>
              <a:defRPr sz="1800" b="0">
                <a:solidFill>
                  <a:srgbClr val="475569"/>
                </a:solidFill>
                <a:latin typeface="Arial"/>
                <a:ea typeface="Arial"/>
                <a:cs typeface="Arial"/>
              </a:defRPr>
            </a:lvl2pPr>
            <a:lvl3pPr>
              <a:defRPr sz="1800" b="0">
                <a:solidFill>
                  <a:srgbClr val="475569"/>
                </a:solidFill>
                <a:latin typeface="Arial"/>
                <a:ea typeface="Arial"/>
                <a:cs typeface="Arial"/>
              </a:defRPr>
            </a:lvl3pPr>
            <a:lvl4pPr>
              <a:defRPr sz="1800" b="0">
                <a:solidFill>
                  <a:srgbClr val="475569"/>
                </a:solidFill>
                <a:latin typeface="Arial"/>
                <a:ea typeface="Arial"/>
                <a:cs typeface="Arial"/>
              </a:defRPr>
            </a:lvl4pPr>
            <a:lvl5pPr>
              <a:defRPr sz="1800" b="0">
                <a:solidFill>
                  <a:srgbClr val="475569"/>
                </a:solidFill>
                <a:latin typeface="Arial"/>
                <a:ea typeface="Arial"/>
                <a:cs typeface="Arial"/>
              </a:defRPr>
            </a:lvl5pPr>
            <a:lvl6pPr>
              <a:defRPr sz="1800" b="0">
                <a:solidFill>
                  <a:srgbClr val="475569"/>
                </a:solidFill>
                <a:latin typeface="Arial"/>
                <a:ea typeface="Arial"/>
                <a:cs typeface="Arial"/>
              </a:defRPr>
            </a:lvl6pPr>
            <a:lvl7pPr>
              <a:defRPr sz="1800" b="0">
                <a:solidFill>
                  <a:srgbClr val="475569"/>
                </a:solidFill>
                <a:latin typeface="Arial"/>
                <a:ea typeface="Arial"/>
                <a:cs typeface="Arial"/>
              </a:defRPr>
            </a:lvl7pPr>
            <a:lvl8pPr>
              <a:defRPr sz="1800" b="0">
                <a:solidFill>
                  <a:srgbClr val="475569"/>
                </a:solidFill>
                <a:latin typeface="Arial"/>
                <a:ea typeface="Arial"/>
                <a:cs typeface="Arial"/>
              </a:defRPr>
            </a:lvl8pPr>
            <a:lvl9pPr>
              <a:defRPr sz="1800" b="0">
                <a:solidFill>
                  <a:srgbClr val="475569"/>
                </a:solidFill>
                <a:latin typeface="Arial"/>
                <a:ea typeface="Arial"/>
                <a:cs typeface="Arial"/>
              </a:defRPr>
            </a:lvl9pPr>
          </a:lstStyle>
          <a:p xmlns:a="http://schemas.openxmlformats.org/drawingml/2006/main">
            <a:pPr>
              <a:defRPr sz="1800" b="0">
                <a:solidFill>
                  <a:srgbClr val="475569"/>
                </a:solidFill>
                <a:latin typeface="Arial"/>
                <a:ea typeface="Arial"/>
                <a:cs typeface="Arial"/>
              </a:defRPr>
            </a:pPr>
            <a:r>
              <a:rPr sz="1800" b="0">
                <a:solidFill>
                  <a:srgbClr val="475569"/>
                </a:solidFill>
                <a:latin typeface="Arial"/>
                <a:ea typeface="Arial"/>
                <a:cs typeface="Arial"/>
              </a:rPr>
              <a:t>Fixed parameters and identical perturbations across methods</a:t>
            </a:r>
          </a:p>
        </p:txBody>
      </p:sp>
    </p:spTree>
    <p:extLst>
      <p:ext uri="{BB962C8B-B14F-4D97-AF65-F5344CB8AC3E}">
        <p14:creationId xmlns:p14="http://schemas.microsoft.com/office/powerpoint/2010/main" val="133720829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50BAF95-7A1A-4C2A-A875-51E3EA0F8CBA}"/>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Density loss and noise also change valid support</a:t>
            </a:r>
          </a:p>
        </p:txBody>
      </p:sp>
      <p:sp>
        <p:nvSpPr>
          <p:cNvPr id="2" name="">
            <a:extLst xmlns:a="http://schemas.openxmlformats.org/drawingml/2006/main">
              <a:ext uri="{FF2B5EF4-FFF2-40B4-BE49-F238E27FC236}">
                <a16:creationId xmlns:a16="http://schemas.microsoft.com/office/drawing/2014/main" id="{5722530D-6928-4853-9CA0-3C9668C38599}"/>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DE435D3A-5291-4223-B6CC-7FC0F27D3DB0}"/>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7</a:t>
            </a:r>
          </a:p>
        </p:txBody>
      </p:sp>
      <p:graphicFrame>
        <p:nvGraphicFramePr>
          <p:cNvPr id="4" name="Chart">
            <a:extLst xmlns:a="http://schemas.openxmlformats.org/drawingml/2006/main">
              <a:ext uri="{FF2B5EF4-FFF2-40B4-BE49-F238E27FC236}">
                <a16:creationId xmlns:a16="http://schemas.microsoft.com/office/drawing/2014/main" id="{D460EEAD-AB07-4F70-AC8D-4FAB5BD73D75}"/>
              </a:ext>
            </a:extLst>
          </p:cNvPr>
          <p:cNvGraphicFramePr/>
          <p:nvPr/>
        </p:nvGraphicFramePr>
        <p:xfrm>
          <a:off xmlns:a="http://schemas.openxmlformats.org/drawingml/2006/main" x="571500" y="1476375"/>
          <a:ext xmlns:a="http://schemas.openxmlformats.org/drawingml/2006/main" cx="5334000" cy="3667125"/>
        </p:xfrm>
        <a:graphic xmlns:a="http://schemas.openxmlformats.org/drawingml/2006/main">
          <a:graphicData uri="http://schemas.openxmlformats.org/drawingml/2006/chart">
            <c:chart xmlns:r="http://schemas.openxmlformats.org/officeDocument/2006/relationships" xmlns:c="http://schemas.openxmlformats.org/drawingml/2006/chart" r:id="R556d0ffdb9c74725"/>
          </a:graphicData>
        </a:graphic>
      </p:graphicFrame>
      <p:graphicFrame>
        <p:nvGraphicFramePr>
          <p:cNvPr id="5" name="Chart">
            <a:extLst xmlns:a="http://schemas.openxmlformats.org/drawingml/2006/main">
              <a:ext uri="{FF2B5EF4-FFF2-40B4-BE49-F238E27FC236}">
                <a16:creationId xmlns:a16="http://schemas.microsoft.com/office/drawing/2014/main" id="{A738A9E1-1D3E-4080-82A3-7B73D418B7D5}"/>
              </a:ext>
            </a:extLst>
          </p:cNvPr>
          <p:cNvGraphicFramePr/>
          <p:nvPr/>
        </p:nvGraphicFramePr>
        <p:xfrm>
          <a:off xmlns:a="http://schemas.openxmlformats.org/drawingml/2006/main" x="6286500" y="1476375"/>
          <a:ext xmlns:a="http://schemas.openxmlformats.org/drawingml/2006/main" cx="5334000" cy="3667125"/>
        </p:xfrm>
        <a:graphic xmlns:a="http://schemas.openxmlformats.org/drawingml/2006/main">
          <a:graphicData uri="http://schemas.openxmlformats.org/drawingml/2006/chart">
            <c:chart xmlns:r="http://schemas.openxmlformats.org/officeDocument/2006/relationships" xmlns:c="http://schemas.openxmlformats.org/drawingml/2006/chart" r:id="Race0b76bcc284ae8"/>
          </a:graphicData>
        </a:graphic>
      </p:graphicFrame>
      <p:sp>
        <p:nvSpPr>
          <p:cNvPr id="6" name="">
            <a:extLst xmlns:a="http://schemas.openxmlformats.org/drawingml/2006/main">
              <a:ext uri="{FF2B5EF4-FFF2-40B4-BE49-F238E27FC236}">
                <a16:creationId xmlns:a16="http://schemas.microsoft.com/office/drawing/2014/main" id="{E88584BD-ADE0-48FF-8D17-2D4D6D2A3E9D}"/>
              </a:ext>
            </a:extLst>
          </p:cNvPr>
          <p:cNvSpPr>
            <a:spLocks xmlns:a="http://schemas.openxmlformats.org/drawingml/2006/main" noGrp="1"/>
          </p:cNvSpPr>
          <p:nvPr/>
        </p:nvSpPr>
        <p:spPr>
          <a:xfrm xmlns:a="http://schemas.openxmlformats.org/drawingml/2006/main">
            <a:off x="857250" y="528637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563EB"/>
                </a:solidFill>
                <a:latin typeface="Arial"/>
                <a:ea typeface="Arial"/>
                <a:cs typeface="Arial"/>
              </a:defRPr>
            </a:defPPr>
            <a:lvl1pPr>
              <a:defRPr sz="1800" b="1">
                <a:solidFill>
                  <a:srgbClr val="2563EB"/>
                </a:solidFill>
                <a:latin typeface="Arial"/>
                <a:ea typeface="Arial"/>
                <a:cs typeface="Arial"/>
              </a:defRPr>
            </a:lvl1pPr>
            <a:lvl2pPr>
              <a:defRPr sz="1800" b="1">
                <a:solidFill>
                  <a:srgbClr val="2563EB"/>
                </a:solidFill>
                <a:latin typeface="Arial"/>
                <a:ea typeface="Arial"/>
                <a:cs typeface="Arial"/>
              </a:defRPr>
            </a:lvl2pPr>
            <a:lvl3pPr>
              <a:defRPr sz="1800" b="1">
                <a:solidFill>
                  <a:srgbClr val="2563EB"/>
                </a:solidFill>
                <a:latin typeface="Arial"/>
                <a:ea typeface="Arial"/>
                <a:cs typeface="Arial"/>
              </a:defRPr>
            </a:lvl3pPr>
            <a:lvl4pPr>
              <a:defRPr sz="1800" b="1">
                <a:solidFill>
                  <a:srgbClr val="2563EB"/>
                </a:solidFill>
                <a:latin typeface="Arial"/>
                <a:ea typeface="Arial"/>
                <a:cs typeface="Arial"/>
              </a:defRPr>
            </a:lvl4pPr>
            <a:lvl5pPr>
              <a:defRPr sz="1800" b="1">
                <a:solidFill>
                  <a:srgbClr val="2563EB"/>
                </a:solidFill>
                <a:latin typeface="Arial"/>
                <a:ea typeface="Arial"/>
                <a:cs typeface="Arial"/>
              </a:defRPr>
            </a:lvl5pPr>
            <a:lvl6pPr>
              <a:defRPr sz="1800" b="1">
                <a:solidFill>
                  <a:srgbClr val="2563EB"/>
                </a:solidFill>
                <a:latin typeface="Arial"/>
                <a:ea typeface="Arial"/>
                <a:cs typeface="Arial"/>
              </a:defRPr>
            </a:lvl6pPr>
            <a:lvl7pPr>
              <a:defRPr sz="1800" b="1">
                <a:solidFill>
                  <a:srgbClr val="2563EB"/>
                </a:solidFill>
                <a:latin typeface="Arial"/>
                <a:ea typeface="Arial"/>
                <a:cs typeface="Arial"/>
              </a:defRPr>
            </a:lvl7pPr>
            <a:lvl8pPr>
              <a:defRPr sz="1800" b="1">
                <a:solidFill>
                  <a:srgbClr val="2563EB"/>
                </a:solidFill>
                <a:latin typeface="Arial"/>
                <a:ea typeface="Arial"/>
                <a:cs typeface="Arial"/>
              </a:defRPr>
            </a:lvl8pPr>
            <a:lvl9pPr>
              <a:defRPr sz="1800" b="1">
                <a:solidFill>
                  <a:srgbClr val="2563EB"/>
                </a:solidFill>
                <a:latin typeface="Arial"/>
                <a:ea typeface="Arial"/>
                <a:cs typeface="Arial"/>
              </a:defRPr>
            </a:lvl9pPr>
          </a:lstStyle>
          <a:p xmlns:a="http://schemas.openxmlformats.org/drawingml/2006/main">
            <a:pPr>
              <a:defRPr sz="1800" b="1">
                <a:solidFill>
                  <a:srgbClr val="2563EB"/>
                </a:solidFill>
                <a:latin typeface="Arial"/>
                <a:ea typeface="Arial"/>
                <a:cs typeface="Arial"/>
              </a:defRPr>
            </a:pPr>
            <a:r>
              <a:rPr sz="1800" b="1">
                <a:solidFill>
                  <a:srgbClr val="2563EB"/>
                </a:solidFill>
                <a:latin typeface="Arial"/>
                <a:ea typeface="Arial"/>
                <a:cs typeface="Arial"/>
              </a:rPr>
              <a:t>C2C</a:t>
            </a:r>
          </a:p>
        </p:txBody>
      </p:sp>
      <p:sp>
        <p:nvSpPr>
          <p:cNvPr id="7" name="">
            <a:extLst xmlns:a="http://schemas.openxmlformats.org/drawingml/2006/main">
              <a:ext uri="{FF2B5EF4-FFF2-40B4-BE49-F238E27FC236}">
                <a16:creationId xmlns:a16="http://schemas.microsoft.com/office/drawing/2014/main" id="{C7485D4A-47E9-40A2-B5C6-D0FE028E68B8}"/>
              </a:ext>
            </a:extLst>
          </p:cNvPr>
          <p:cNvSpPr>
            <a:spLocks xmlns:a="http://schemas.openxmlformats.org/drawingml/2006/main" noGrp="1"/>
          </p:cNvSpPr>
          <p:nvPr/>
        </p:nvSpPr>
        <p:spPr>
          <a:xfrm xmlns:a="http://schemas.openxmlformats.org/drawingml/2006/main">
            <a:off x="3714750" y="528637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EA580C"/>
                </a:solidFill>
                <a:latin typeface="Arial"/>
                <a:ea typeface="Arial"/>
                <a:cs typeface="Arial"/>
              </a:defRPr>
            </a:defPPr>
            <a:lvl1pPr>
              <a:defRPr sz="1800" b="1">
                <a:solidFill>
                  <a:srgbClr val="EA580C"/>
                </a:solidFill>
                <a:latin typeface="Arial"/>
                <a:ea typeface="Arial"/>
                <a:cs typeface="Arial"/>
              </a:defRPr>
            </a:lvl1pPr>
            <a:lvl2pPr>
              <a:defRPr sz="1800" b="1">
                <a:solidFill>
                  <a:srgbClr val="EA580C"/>
                </a:solidFill>
                <a:latin typeface="Arial"/>
                <a:ea typeface="Arial"/>
                <a:cs typeface="Arial"/>
              </a:defRPr>
            </a:lvl2pPr>
            <a:lvl3pPr>
              <a:defRPr sz="1800" b="1">
                <a:solidFill>
                  <a:srgbClr val="EA580C"/>
                </a:solidFill>
                <a:latin typeface="Arial"/>
                <a:ea typeface="Arial"/>
                <a:cs typeface="Arial"/>
              </a:defRPr>
            </a:lvl3pPr>
            <a:lvl4pPr>
              <a:defRPr sz="1800" b="1">
                <a:solidFill>
                  <a:srgbClr val="EA580C"/>
                </a:solidFill>
                <a:latin typeface="Arial"/>
                <a:ea typeface="Arial"/>
                <a:cs typeface="Arial"/>
              </a:defRPr>
            </a:lvl4pPr>
            <a:lvl5pPr>
              <a:defRPr sz="1800" b="1">
                <a:solidFill>
                  <a:srgbClr val="EA580C"/>
                </a:solidFill>
                <a:latin typeface="Arial"/>
                <a:ea typeface="Arial"/>
                <a:cs typeface="Arial"/>
              </a:defRPr>
            </a:lvl5pPr>
            <a:lvl6pPr>
              <a:defRPr sz="1800" b="1">
                <a:solidFill>
                  <a:srgbClr val="EA580C"/>
                </a:solidFill>
                <a:latin typeface="Arial"/>
                <a:ea typeface="Arial"/>
                <a:cs typeface="Arial"/>
              </a:defRPr>
            </a:lvl6pPr>
            <a:lvl7pPr>
              <a:defRPr sz="1800" b="1">
                <a:solidFill>
                  <a:srgbClr val="EA580C"/>
                </a:solidFill>
                <a:latin typeface="Arial"/>
                <a:ea typeface="Arial"/>
                <a:cs typeface="Arial"/>
              </a:defRPr>
            </a:lvl7pPr>
            <a:lvl8pPr>
              <a:defRPr sz="1800" b="1">
                <a:solidFill>
                  <a:srgbClr val="EA580C"/>
                </a:solidFill>
                <a:latin typeface="Arial"/>
                <a:ea typeface="Arial"/>
                <a:cs typeface="Arial"/>
              </a:defRPr>
            </a:lvl8pPr>
            <a:lvl9pPr>
              <a:defRPr sz="1800" b="1">
                <a:solidFill>
                  <a:srgbClr val="EA580C"/>
                </a:solidFill>
                <a:latin typeface="Arial"/>
                <a:ea typeface="Arial"/>
                <a:cs typeface="Arial"/>
              </a:defRPr>
            </a:lvl9pPr>
          </a:lstStyle>
          <a:p xmlns:a="http://schemas.openxmlformats.org/drawingml/2006/main">
            <a:pPr>
              <a:defRPr sz="1800" b="1">
                <a:solidFill>
                  <a:srgbClr val="EA580C"/>
                </a:solidFill>
                <a:latin typeface="Arial"/>
                <a:ea typeface="Arial"/>
                <a:cs typeface="Arial"/>
              </a:defRPr>
            </a:pPr>
            <a:r>
              <a:rPr sz="1800" b="1">
                <a:solidFill>
                  <a:srgbClr val="EA580C"/>
                </a:solidFill>
                <a:latin typeface="Arial"/>
                <a:ea typeface="Arial"/>
                <a:cs typeface="Arial"/>
              </a:rPr>
              <a:t>M3C2-style</a:t>
            </a:r>
          </a:p>
        </p:txBody>
      </p:sp>
      <p:sp>
        <p:nvSpPr>
          <p:cNvPr id="8" name="">
            <a:extLst xmlns:a="http://schemas.openxmlformats.org/drawingml/2006/main">
              <a:ext uri="{FF2B5EF4-FFF2-40B4-BE49-F238E27FC236}">
                <a16:creationId xmlns:a16="http://schemas.microsoft.com/office/drawing/2014/main" id="{0EAFEFC0-0387-4E03-A0A2-E1B4F873C23B}"/>
              </a:ext>
            </a:extLst>
          </p:cNvPr>
          <p:cNvSpPr>
            <a:spLocks xmlns:a="http://schemas.openxmlformats.org/drawingml/2006/main" noGrp="1"/>
          </p:cNvSpPr>
          <p:nvPr/>
        </p:nvSpPr>
        <p:spPr>
          <a:xfrm xmlns:a="http://schemas.openxmlformats.org/drawingml/2006/main">
            <a:off x="7239000" y="5286375"/>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0F766E"/>
                </a:solidFill>
                <a:latin typeface="Arial"/>
                <a:ea typeface="Arial"/>
                <a:cs typeface="Arial"/>
              </a:defRPr>
            </a:defPPr>
            <a:lvl1pPr>
              <a:defRPr sz="1800" b="1">
                <a:solidFill>
                  <a:srgbClr val="0F766E"/>
                </a:solidFill>
                <a:latin typeface="Arial"/>
                <a:ea typeface="Arial"/>
                <a:cs typeface="Arial"/>
              </a:defRPr>
            </a:lvl1pPr>
            <a:lvl2pPr>
              <a:defRPr sz="1800" b="1">
                <a:solidFill>
                  <a:srgbClr val="0F766E"/>
                </a:solidFill>
                <a:latin typeface="Arial"/>
                <a:ea typeface="Arial"/>
                <a:cs typeface="Arial"/>
              </a:defRPr>
            </a:lvl2pPr>
            <a:lvl3pPr>
              <a:defRPr sz="1800" b="1">
                <a:solidFill>
                  <a:srgbClr val="0F766E"/>
                </a:solidFill>
                <a:latin typeface="Arial"/>
                <a:ea typeface="Arial"/>
                <a:cs typeface="Arial"/>
              </a:defRPr>
            </a:lvl3pPr>
            <a:lvl4pPr>
              <a:defRPr sz="1800" b="1">
                <a:solidFill>
                  <a:srgbClr val="0F766E"/>
                </a:solidFill>
                <a:latin typeface="Arial"/>
                <a:ea typeface="Arial"/>
                <a:cs typeface="Arial"/>
              </a:defRPr>
            </a:lvl4pPr>
            <a:lvl5pPr>
              <a:defRPr sz="1800" b="1">
                <a:solidFill>
                  <a:srgbClr val="0F766E"/>
                </a:solidFill>
                <a:latin typeface="Arial"/>
                <a:ea typeface="Arial"/>
                <a:cs typeface="Arial"/>
              </a:defRPr>
            </a:lvl5pPr>
            <a:lvl6pPr>
              <a:defRPr sz="1800" b="1">
                <a:solidFill>
                  <a:srgbClr val="0F766E"/>
                </a:solidFill>
                <a:latin typeface="Arial"/>
                <a:ea typeface="Arial"/>
                <a:cs typeface="Arial"/>
              </a:defRPr>
            </a:lvl6pPr>
            <a:lvl7pPr>
              <a:defRPr sz="1800" b="1">
                <a:solidFill>
                  <a:srgbClr val="0F766E"/>
                </a:solidFill>
                <a:latin typeface="Arial"/>
                <a:ea typeface="Arial"/>
                <a:cs typeface="Arial"/>
              </a:defRPr>
            </a:lvl7pPr>
            <a:lvl8pPr>
              <a:defRPr sz="1800" b="1">
                <a:solidFill>
                  <a:srgbClr val="0F766E"/>
                </a:solidFill>
                <a:latin typeface="Arial"/>
                <a:ea typeface="Arial"/>
                <a:cs typeface="Arial"/>
              </a:defRPr>
            </a:lvl8pPr>
            <a:lvl9pPr>
              <a:defRPr sz="1800" b="1">
                <a:solidFill>
                  <a:srgbClr val="0F766E"/>
                </a:solidFill>
                <a:latin typeface="Arial"/>
                <a:ea typeface="Arial"/>
                <a:cs typeface="Arial"/>
              </a:defRPr>
            </a:lvl9pPr>
          </a:lstStyle>
          <a:p xmlns:a="http://schemas.openxmlformats.org/drawingml/2006/main">
            <a:pPr>
              <a:defRPr sz="1800" b="1">
                <a:solidFill>
                  <a:srgbClr val="0F766E"/>
                </a:solidFill>
                <a:latin typeface="Arial"/>
                <a:ea typeface="Arial"/>
                <a:cs typeface="Arial"/>
              </a:defRPr>
            </a:pPr>
            <a:r>
              <a:rPr sz="1800" b="1">
                <a:solidFill>
                  <a:srgbClr val="0F766E"/>
                </a:solidFill>
                <a:latin typeface="Arial"/>
                <a:ea typeface="Arial"/>
                <a:cs typeface="Arial"/>
              </a:rPr>
              <a:t>Siamese PointNet + NN</a:t>
            </a:r>
          </a:p>
        </p:txBody>
      </p:sp>
      <p:sp>
        <p:nvSpPr>
          <p:cNvPr id="9" name="">
            <a:extLst xmlns:a="http://schemas.openxmlformats.org/drawingml/2006/main">
              <a:ext uri="{FF2B5EF4-FFF2-40B4-BE49-F238E27FC236}">
                <a16:creationId xmlns:a16="http://schemas.microsoft.com/office/drawing/2014/main" id="{586589D1-58E9-4D3E-B114-2668E8434AC2}"/>
              </a:ext>
            </a:extLst>
          </p:cNvPr>
          <p:cNvSpPr>
            <a:spLocks xmlns:a="http://schemas.openxmlformats.org/drawingml/2006/main" noGrp="1"/>
          </p:cNvSpPr>
          <p:nvPr/>
        </p:nvSpPr>
        <p:spPr>
          <a:xfrm xmlns:a="http://schemas.openxmlformats.org/drawingml/2006/main">
            <a:off x="666750" y="595312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75569"/>
                </a:solidFill>
                <a:latin typeface="Arial"/>
                <a:ea typeface="Arial"/>
                <a:cs typeface="Arial"/>
              </a:defRPr>
            </a:defPPr>
            <a:lvl1pPr>
              <a:defRPr sz="1800" b="0">
                <a:solidFill>
                  <a:srgbClr val="475569"/>
                </a:solidFill>
                <a:latin typeface="Arial"/>
                <a:ea typeface="Arial"/>
                <a:cs typeface="Arial"/>
              </a:defRPr>
            </a:lvl1pPr>
            <a:lvl2pPr>
              <a:defRPr sz="1800" b="0">
                <a:solidFill>
                  <a:srgbClr val="475569"/>
                </a:solidFill>
                <a:latin typeface="Arial"/>
                <a:ea typeface="Arial"/>
                <a:cs typeface="Arial"/>
              </a:defRPr>
            </a:lvl2pPr>
            <a:lvl3pPr>
              <a:defRPr sz="1800" b="0">
                <a:solidFill>
                  <a:srgbClr val="475569"/>
                </a:solidFill>
                <a:latin typeface="Arial"/>
                <a:ea typeface="Arial"/>
                <a:cs typeface="Arial"/>
              </a:defRPr>
            </a:lvl3pPr>
            <a:lvl4pPr>
              <a:defRPr sz="1800" b="0">
                <a:solidFill>
                  <a:srgbClr val="475569"/>
                </a:solidFill>
                <a:latin typeface="Arial"/>
                <a:ea typeface="Arial"/>
                <a:cs typeface="Arial"/>
              </a:defRPr>
            </a:lvl4pPr>
            <a:lvl5pPr>
              <a:defRPr sz="1800" b="0">
                <a:solidFill>
                  <a:srgbClr val="475569"/>
                </a:solidFill>
                <a:latin typeface="Arial"/>
                <a:ea typeface="Arial"/>
                <a:cs typeface="Arial"/>
              </a:defRPr>
            </a:lvl5pPr>
            <a:lvl6pPr>
              <a:defRPr sz="1800" b="0">
                <a:solidFill>
                  <a:srgbClr val="475569"/>
                </a:solidFill>
                <a:latin typeface="Arial"/>
                <a:ea typeface="Arial"/>
                <a:cs typeface="Arial"/>
              </a:defRPr>
            </a:lvl6pPr>
            <a:lvl7pPr>
              <a:defRPr sz="1800" b="0">
                <a:solidFill>
                  <a:srgbClr val="475569"/>
                </a:solidFill>
                <a:latin typeface="Arial"/>
                <a:ea typeface="Arial"/>
                <a:cs typeface="Arial"/>
              </a:defRPr>
            </a:lvl7pPr>
            <a:lvl8pPr>
              <a:defRPr sz="1800" b="0">
                <a:solidFill>
                  <a:srgbClr val="475569"/>
                </a:solidFill>
                <a:latin typeface="Arial"/>
                <a:ea typeface="Arial"/>
                <a:cs typeface="Arial"/>
              </a:defRPr>
            </a:lvl8pPr>
            <a:lvl9pPr>
              <a:defRPr sz="1800" b="0">
                <a:solidFill>
                  <a:srgbClr val="475569"/>
                </a:solidFill>
                <a:latin typeface="Arial"/>
                <a:ea typeface="Arial"/>
                <a:cs typeface="Arial"/>
              </a:defRPr>
            </a:lvl9pPr>
          </a:lstStyle>
          <a:p xmlns:a="http://schemas.openxmlformats.org/drawingml/2006/main">
            <a:pPr>
              <a:defRPr sz="1800" b="0">
                <a:solidFill>
                  <a:srgbClr val="475569"/>
                </a:solidFill>
                <a:latin typeface="Arial"/>
                <a:ea typeface="Arial"/>
                <a:cs typeface="Arial"/>
              </a:defRPr>
            </a:pPr>
            <a:r>
              <a:rPr sz="1800" b="0">
                <a:solidFill>
                  <a:srgbClr val="475569"/>
                </a:solidFill>
                <a:latin typeface="Arial"/>
                <a:ea typeface="Arial"/>
                <a:cs typeface="Arial"/>
              </a:rPr>
              <a:t>Condition-specific common-valid scores; coverage is reported separately</a:t>
            </a:r>
          </a:p>
        </p:txBody>
      </p:sp>
    </p:spTree>
    <p:extLst>
      <p:ext uri="{BB962C8B-B14F-4D97-AF65-F5344CB8AC3E}">
        <p14:creationId xmlns:p14="http://schemas.microsoft.com/office/powerpoint/2010/main" val="42385715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84E3D47-851D-4EFF-A73C-A3F6AED9CE05}"/>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Occlusion requires a visibility-aware interpretation</a:t>
            </a:r>
          </a:p>
        </p:txBody>
      </p:sp>
      <p:sp>
        <p:nvSpPr>
          <p:cNvPr id="2" name="">
            <a:extLst xmlns:a="http://schemas.openxmlformats.org/drawingml/2006/main">
              <a:ext uri="{FF2B5EF4-FFF2-40B4-BE49-F238E27FC236}">
                <a16:creationId xmlns:a16="http://schemas.microsoft.com/office/drawing/2014/main" id="{D7032463-E55A-49CD-9478-78D7A0FF972E}"/>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1E44676D-4511-4932-8791-158D00876CCC}"/>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8</a:t>
            </a:r>
          </a:p>
        </p:txBody>
      </p:sp>
      <p:graphicFrame>
        <p:nvGraphicFramePr>
          <p:cNvPr id="4" name="Chart">
            <a:extLst xmlns:a="http://schemas.openxmlformats.org/drawingml/2006/main">
              <a:ext uri="{FF2B5EF4-FFF2-40B4-BE49-F238E27FC236}">
                <a16:creationId xmlns:a16="http://schemas.microsoft.com/office/drawing/2014/main" id="{7CD5F594-5238-46FB-BB41-16E4B707BC66}"/>
              </a:ext>
            </a:extLst>
          </p:cNvPr>
          <p:cNvGraphicFramePr/>
          <p:nvPr/>
        </p:nvGraphicFramePr>
        <p:xfrm>
          <a:off xmlns:a="http://schemas.openxmlformats.org/drawingml/2006/main" x="571500" y="1666875"/>
          <a:ext xmlns:a="http://schemas.openxmlformats.org/drawingml/2006/main" cx="5334000" cy="3571875"/>
        </p:xfrm>
        <a:graphic xmlns:a="http://schemas.openxmlformats.org/drawingml/2006/main">
          <a:graphicData uri="http://schemas.openxmlformats.org/drawingml/2006/chart">
            <c:chart xmlns:r="http://schemas.openxmlformats.org/officeDocument/2006/relationships" xmlns:c="http://schemas.openxmlformats.org/drawingml/2006/chart" r:id="R437aefd0d9b0462b"/>
          </a:graphicData>
        </a:graphic>
      </p:graphicFrame>
      <p:graphicFrame>
        <p:nvGraphicFramePr>
          <p:cNvPr id="5" name="Chart">
            <a:extLst xmlns:a="http://schemas.openxmlformats.org/drawingml/2006/main">
              <a:ext uri="{FF2B5EF4-FFF2-40B4-BE49-F238E27FC236}">
                <a16:creationId xmlns:a16="http://schemas.microsoft.com/office/drawing/2014/main" id="{81C0CBD2-B6F2-49A0-B12D-032ABEA40459}"/>
              </a:ext>
            </a:extLst>
          </p:cNvPr>
          <p:cNvGraphicFramePr/>
          <p:nvPr/>
        </p:nvGraphicFramePr>
        <p:xfrm>
          <a:off xmlns:a="http://schemas.openxmlformats.org/drawingml/2006/main" x="6286500" y="1666875"/>
          <a:ext xmlns:a="http://schemas.openxmlformats.org/drawingml/2006/main" cx="5334000" cy="3571875"/>
        </p:xfrm>
        <a:graphic xmlns:a="http://schemas.openxmlformats.org/drawingml/2006/main">
          <a:graphicData uri="http://schemas.openxmlformats.org/drawingml/2006/chart">
            <c:chart xmlns:r="http://schemas.openxmlformats.org/officeDocument/2006/relationships" xmlns:c="http://schemas.openxmlformats.org/drawingml/2006/chart" r:id="R875e9299f17e43b5"/>
          </a:graphicData>
        </a:graphic>
      </p:graphicFrame>
      <p:sp>
        <p:nvSpPr>
          <p:cNvPr id="6" name="">
            <a:extLst xmlns:a="http://schemas.openxmlformats.org/drawingml/2006/main">
              <a:ext uri="{FF2B5EF4-FFF2-40B4-BE49-F238E27FC236}">
                <a16:creationId xmlns:a16="http://schemas.microsoft.com/office/drawing/2014/main" id="{4A73F879-7DED-45FF-831E-5037307E8E31}"/>
              </a:ext>
            </a:extLst>
          </p:cNvPr>
          <p:cNvSpPr>
            <a:spLocks xmlns:a="http://schemas.openxmlformats.org/drawingml/2006/main" noGrp="1"/>
          </p:cNvSpPr>
          <p:nvPr/>
        </p:nvSpPr>
        <p:spPr>
          <a:xfrm xmlns:a="http://schemas.openxmlformats.org/drawingml/2006/main">
            <a:off x="857250" y="53816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563EB"/>
                </a:solidFill>
                <a:latin typeface="Arial"/>
                <a:ea typeface="Arial"/>
                <a:cs typeface="Arial"/>
              </a:defRPr>
            </a:defPPr>
            <a:lvl1pPr>
              <a:defRPr sz="1800" b="1">
                <a:solidFill>
                  <a:srgbClr val="2563EB"/>
                </a:solidFill>
                <a:latin typeface="Arial"/>
                <a:ea typeface="Arial"/>
                <a:cs typeface="Arial"/>
              </a:defRPr>
            </a:lvl1pPr>
            <a:lvl2pPr>
              <a:defRPr sz="1800" b="1">
                <a:solidFill>
                  <a:srgbClr val="2563EB"/>
                </a:solidFill>
                <a:latin typeface="Arial"/>
                <a:ea typeface="Arial"/>
                <a:cs typeface="Arial"/>
              </a:defRPr>
            </a:lvl2pPr>
            <a:lvl3pPr>
              <a:defRPr sz="1800" b="1">
                <a:solidFill>
                  <a:srgbClr val="2563EB"/>
                </a:solidFill>
                <a:latin typeface="Arial"/>
                <a:ea typeface="Arial"/>
                <a:cs typeface="Arial"/>
              </a:defRPr>
            </a:lvl3pPr>
            <a:lvl4pPr>
              <a:defRPr sz="1800" b="1">
                <a:solidFill>
                  <a:srgbClr val="2563EB"/>
                </a:solidFill>
                <a:latin typeface="Arial"/>
                <a:ea typeface="Arial"/>
                <a:cs typeface="Arial"/>
              </a:defRPr>
            </a:lvl4pPr>
            <a:lvl5pPr>
              <a:defRPr sz="1800" b="1">
                <a:solidFill>
                  <a:srgbClr val="2563EB"/>
                </a:solidFill>
                <a:latin typeface="Arial"/>
                <a:ea typeface="Arial"/>
                <a:cs typeface="Arial"/>
              </a:defRPr>
            </a:lvl5pPr>
            <a:lvl6pPr>
              <a:defRPr sz="1800" b="1">
                <a:solidFill>
                  <a:srgbClr val="2563EB"/>
                </a:solidFill>
                <a:latin typeface="Arial"/>
                <a:ea typeface="Arial"/>
                <a:cs typeface="Arial"/>
              </a:defRPr>
            </a:lvl6pPr>
            <a:lvl7pPr>
              <a:defRPr sz="1800" b="1">
                <a:solidFill>
                  <a:srgbClr val="2563EB"/>
                </a:solidFill>
                <a:latin typeface="Arial"/>
                <a:ea typeface="Arial"/>
                <a:cs typeface="Arial"/>
              </a:defRPr>
            </a:lvl7pPr>
            <a:lvl8pPr>
              <a:defRPr sz="1800" b="1">
                <a:solidFill>
                  <a:srgbClr val="2563EB"/>
                </a:solidFill>
                <a:latin typeface="Arial"/>
                <a:ea typeface="Arial"/>
                <a:cs typeface="Arial"/>
              </a:defRPr>
            </a:lvl8pPr>
            <a:lvl9pPr>
              <a:defRPr sz="1800" b="1">
                <a:solidFill>
                  <a:srgbClr val="2563EB"/>
                </a:solidFill>
                <a:latin typeface="Arial"/>
                <a:ea typeface="Arial"/>
                <a:cs typeface="Arial"/>
              </a:defRPr>
            </a:lvl9pPr>
          </a:lstStyle>
          <a:p xmlns:a="http://schemas.openxmlformats.org/drawingml/2006/main">
            <a:pPr>
              <a:defRPr sz="1800" b="1">
                <a:solidFill>
                  <a:srgbClr val="2563EB"/>
                </a:solidFill>
                <a:latin typeface="Arial"/>
                <a:ea typeface="Arial"/>
                <a:cs typeface="Arial"/>
              </a:defRPr>
            </a:pPr>
            <a:r>
              <a:rPr sz="1800" b="1">
                <a:solidFill>
                  <a:srgbClr val="2563EB"/>
                </a:solidFill>
                <a:latin typeface="Arial"/>
                <a:ea typeface="Arial"/>
                <a:cs typeface="Arial"/>
              </a:rPr>
              <a:t>C2C</a:t>
            </a:r>
          </a:p>
        </p:txBody>
      </p:sp>
      <p:sp>
        <p:nvSpPr>
          <p:cNvPr id="7" name="">
            <a:extLst xmlns:a="http://schemas.openxmlformats.org/drawingml/2006/main">
              <a:ext uri="{FF2B5EF4-FFF2-40B4-BE49-F238E27FC236}">
                <a16:creationId xmlns:a16="http://schemas.microsoft.com/office/drawing/2014/main" id="{BAE540DB-D610-4CF5-9935-639374731557}"/>
              </a:ext>
            </a:extLst>
          </p:cNvPr>
          <p:cNvSpPr>
            <a:spLocks xmlns:a="http://schemas.openxmlformats.org/drawingml/2006/main" noGrp="1"/>
          </p:cNvSpPr>
          <p:nvPr/>
        </p:nvSpPr>
        <p:spPr>
          <a:xfrm xmlns:a="http://schemas.openxmlformats.org/drawingml/2006/main">
            <a:off x="3714750" y="53816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EA580C"/>
                </a:solidFill>
                <a:latin typeface="Arial"/>
                <a:ea typeface="Arial"/>
                <a:cs typeface="Arial"/>
              </a:defRPr>
            </a:defPPr>
            <a:lvl1pPr>
              <a:defRPr sz="1800" b="1">
                <a:solidFill>
                  <a:srgbClr val="EA580C"/>
                </a:solidFill>
                <a:latin typeface="Arial"/>
                <a:ea typeface="Arial"/>
                <a:cs typeface="Arial"/>
              </a:defRPr>
            </a:lvl1pPr>
            <a:lvl2pPr>
              <a:defRPr sz="1800" b="1">
                <a:solidFill>
                  <a:srgbClr val="EA580C"/>
                </a:solidFill>
                <a:latin typeface="Arial"/>
                <a:ea typeface="Arial"/>
                <a:cs typeface="Arial"/>
              </a:defRPr>
            </a:lvl2pPr>
            <a:lvl3pPr>
              <a:defRPr sz="1800" b="1">
                <a:solidFill>
                  <a:srgbClr val="EA580C"/>
                </a:solidFill>
                <a:latin typeface="Arial"/>
                <a:ea typeface="Arial"/>
                <a:cs typeface="Arial"/>
              </a:defRPr>
            </a:lvl3pPr>
            <a:lvl4pPr>
              <a:defRPr sz="1800" b="1">
                <a:solidFill>
                  <a:srgbClr val="EA580C"/>
                </a:solidFill>
                <a:latin typeface="Arial"/>
                <a:ea typeface="Arial"/>
                <a:cs typeface="Arial"/>
              </a:defRPr>
            </a:lvl4pPr>
            <a:lvl5pPr>
              <a:defRPr sz="1800" b="1">
                <a:solidFill>
                  <a:srgbClr val="EA580C"/>
                </a:solidFill>
                <a:latin typeface="Arial"/>
                <a:ea typeface="Arial"/>
                <a:cs typeface="Arial"/>
              </a:defRPr>
            </a:lvl5pPr>
            <a:lvl6pPr>
              <a:defRPr sz="1800" b="1">
                <a:solidFill>
                  <a:srgbClr val="EA580C"/>
                </a:solidFill>
                <a:latin typeface="Arial"/>
                <a:ea typeface="Arial"/>
                <a:cs typeface="Arial"/>
              </a:defRPr>
            </a:lvl6pPr>
            <a:lvl7pPr>
              <a:defRPr sz="1800" b="1">
                <a:solidFill>
                  <a:srgbClr val="EA580C"/>
                </a:solidFill>
                <a:latin typeface="Arial"/>
                <a:ea typeface="Arial"/>
                <a:cs typeface="Arial"/>
              </a:defRPr>
            </a:lvl7pPr>
            <a:lvl8pPr>
              <a:defRPr sz="1800" b="1">
                <a:solidFill>
                  <a:srgbClr val="EA580C"/>
                </a:solidFill>
                <a:latin typeface="Arial"/>
                <a:ea typeface="Arial"/>
                <a:cs typeface="Arial"/>
              </a:defRPr>
            </a:lvl8pPr>
            <a:lvl9pPr>
              <a:defRPr sz="1800" b="1">
                <a:solidFill>
                  <a:srgbClr val="EA580C"/>
                </a:solidFill>
                <a:latin typeface="Arial"/>
                <a:ea typeface="Arial"/>
                <a:cs typeface="Arial"/>
              </a:defRPr>
            </a:lvl9pPr>
          </a:lstStyle>
          <a:p xmlns:a="http://schemas.openxmlformats.org/drawingml/2006/main">
            <a:pPr>
              <a:defRPr sz="1800" b="1">
                <a:solidFill>
                  <a:srgbClr val="EA580C"/>
                </a:solidFill>
                <a:latin typeface="Arial"/>
                <a:ea typeface="Arial"/>
                <a:cs typeface="Arial"/>
              </a:defRPr>
            </a:pPr>
            <a:r>
              <a:rPr sz="1800" b="1">
                <a:solidFill>
                  <a:srgbClr val="EA580C"/>
                </a:solidFill>
                <a:latin typeface="Arial"/>
                <a:ea typeface="Arial"/>
                <a:cs typeface="Arial"/>
              </a:rPr>
              <a:t>M3C2-style</a:t>
            </a:r>
          </a:p>
        </p:txBody>
      </p:sp>
      <p:sp>
        <p:nvSpPr>
          <p:cNvPr id="8" name="">
            <a:extLst xmlns:a="http://schemas.openxmlformats.org/drawingml/2006/main">
              <a:ext uri="{FF2B5EF4-FFF2-40B4-BE49-F238E27FC236}">
                <a16:creationId xmlns:a16="http://schemas.microsoft.com/office/drawing/2014/main" id="{61D1950E-2513-48FC-9CDD-4DC8DCF38BEE}"/>
              </a:ext>
            </a:extLst>
          </p:cNvPr>
          <p:cNvSpPr>
            <a:spLocks xmlns:a="http://schemas.openxmlformats.org/drawingml/2006/main" noGrp="1"/>
          </p:cNvSpPr>
          <p:nvPr/>
        </p:nvSpPr>
        <p:spPr>
          <a:xfrm xmlns:a="http://schemas.openxmlformats.org/drawingml/2006/main">
            <a:off x="666750" y="59531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75569"/>
                </a:solidFill>
                <a:latin typeface="Arial"/>
                <a:ea typeface="Arial"/>
                <a:cs typeface="Arial"/>
              </a:defRPr>
            </a:defPPr>
            <a:lvl1pPr>
              <a:defRPr sz="1800" b="0">
                <a:solidFill>
                  <a:srgbClr val="475569"/>
                </a:solidFill>
                <a:latin typeface="Arial"/>
                <a:ea typeface="Arial"/>
                <a:cs typeface="Arial"/>
              </a:defRPr>
            </a:lvl1pPr>
            <a:lvl2pPr>
              <a:defRPr sz="1800" b="0">
                <a:solidFill>
                  <a:srgbClr val="475569"/>
                </a:solidFill>
                <a:latin typeface="Arial"/>
                <a:ea typeface="Arial"/>
                <a:cs typeface="Arial"/>
              </a:defRPr>
            </a:lvl2pPr>
            <a:lvl3pPr>
              <a:defRPr sz="1800" b="0">
                <a:solidFill>
                  <a:srgbClr val="475569"/>
                </a:solidFill>
                <a:latin typeface="Arial"/>
                <a:ea typeface="Arial"/>
                <a:cs typeface="Arial"/>
              </a:defRPr>
            </a:lvl3pPr>
            <a:lvl4pPr>
              <a:defRPr sz="1800" b="0">
                <a:solidFill>
                  <a:srgbClr val="475569"/>
                </a:solidFill>
                <a:latin typeface="Arial"/>
                <a:ea typeface="Arial"/>
                <a:cs typeface="Arial"/>
              </a:defRPr>
            </a:lvl4pPr>
            <a:lvl5pPr>
              <a:defRPr sz="1800" b="0">
                <a:solidFill>
                  <a:srgbClr val="475569"/>
                </a:solidFill>
                <a:latin typeface="Arial"/>
                <a:ea typeface="Arial"/>
                <a:cs typeface="Arial"/>
              </a:defRPr>
            </a:lvl5pPr>
            <a:lvl6pPr>
              <a:defRPr sz="1800" b="0">
                <a:solidFill>
                  <a:srgbClr val="475569"/>
                </a:solidFill>
                <a:latin typeface="Arial"/>
                <a:ea typeface="Arial"/>
                <a:cs typeface="Arial"/>
              </a:defRPr>
            </a:lvl6pPr>
            <a:lvl7pPr>
              <a:defRPr sz="1800" b="0">
                <a:solidFill>
                  <a:srgbClr val="475569"/>
                </a:solidFill>
                <a:latin typeface="Arial"/>
                <a:ea typeface="Arial"/>
                <a:cs typeface="Arial"/>
              </a:defRPr>
            </a:lvl7pPr>
            <a:lvl8pPr>
              <a:defRPr sz="1800" b="0">
                <a:solidFill>
                  <a:srgbClr val="475569"/>
                </a:solidFill>
                <a:latin typeface="Arial"/>
                <a:ea typeface="Arial"/>
                <a:cs typeface="Arial"/>
              </a:defRPr>
            </a:lvl8pPr>
            <a:lvl9pPr>
              <a:defRPr sz="1800" b="0">
                <a:solidFill>
                  <a:srgbClr val="475569"/>
                </a:solidFill>
                <a:latin typeface="Arial"/>
                <a:ea typeface="Arial"/>
                <a:cs typeface="Arial"/>
              </a:defRPr>
            </a:lvl9pPr>
          </a:lstStyle>
          <a:p xmlns:a="http://schemas.openxmlformats.org/drawingml/2006/main">
            <a:pPr>
              <a:defRPr sz="1800" b="0">
                <a:solidFill>
                  <a:srgbClr val="475569"/>
                </a:solidFill>
                <a:latin typeface="Arial"/>
                <a:ea typeface="Arial"/>
                <a:cs typeface="Arial"/>
              </a:defRPr>
            </a:pPr>
            <a:r>
              <a:rPr sz="1800" b="0">
                <a:solidFill>
                  <a:srgbClr val="475569"/>
                </a:solidFill>
                <a:latin typeface="Arial"/>
                <a:ea typeface="Arial"/>
                <a:cs typeface="Arial"/>
              </a:rPr>
              <a:t>Separate all-scene geometric supplement; not the learned spatial holdout</a:t>
            </a:r>
          </a:p>
        </p:txBody>
      </p:sp>
    </p:spTree>
    <p:extLst>
      <p:ext uri="{BB962C8B-B14F-4D97-AF65-F5344CB8AC3E}">
        <p14:creationId xmlns:p14="http://schemas.microsoft.com/office/powerpoint/2010/main" val="17925650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AED7D4-E62A-414F-9773-F0D3CCB0D99A}"/>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The learned baseline shows a large spatial gap</a:t>
            </a:r>
          </a:p>
        </p:txBody>
      </p:sp>
      <p:sp>
        <p:nvSpPr>
          <p:cNvPr id="2" name="">
            <a:extLst xmlns:a="http://schemas.openxmlformats.org/drawingml/2006/main">
              <a:ext uri="{FF2B5EF4-FFF2-40B4-BE49-F238E27FC236}">
                <a16:creationId xmlns:a16="http://schemas.microsoft.com/office/drawing/2014/main" id="{E8928337-2455-4859-B1C8-5583F9AB3C23}"/>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F4F6C05E-C6EE-4101-BACD-999286A960BC}"/>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9</a:t>
            </a:r>
          </a:p>
        </p:txBody>
      </p:sp>
      <p:graphicFrame>
        <p:nvGraphicFramePr>
          <p:cNvPr id="4" name="Chart">
            <a:extLst xmlns:a="http://schemas.openxmlformats.org/drawingml/2006/main">
              <a:ext uri="{FF2B5EF4-FFF2-40B4-BE49-F238E27FC236}">
                <a16:creationId xmlns:a16="http://schemas.microsoft.com/office/drawing/2014/main" id="{D412365A-BB48-4E7A-930E-59696F512F6C}"/>
              </a:ext>
            </a:extLst>
          </p:cNvPr>
          <p:cNvGraphicFramePr/>
          <p:nvPr/>
        </p:nvGraphicFramePr>
        <p:xfrm>
          <a:off xmlns:a="http://schemas.openxmlformats.org/drawingml/2006/main" x="571500" y="1619250"/>
          <a:ext xmlns:a="http://schemas.openxmlformats.org/drawingml/2006/main" cx="6953250" cy="3952875"/>
        </p:xfrm>
        <a:graphic xmlns:a="http://schemas.openxmlformats.org/drawingml/2006/main">
          <a:graphicData uri="http://schemas.openxmlformats.org/drawingml/2006/chart">
            <c:chart xmlns:r="http://schemas.openxmlformats.org/officeDocument/2006/relationships" xmlns:c="http://schemas.openxmlformats.org/drawingml/2006/chart" r:id="R3bb8b402e6cc4cbb"/>
          </a:graphicData>
        </a:graphic>
      </p:graphicFrame>
      <p:graphicFrame>
        <p:nvGraphicFramePr>
          <p:cNvPr id="5" name="">
            <a:extLst xmlns:a="http://schemas.openxmlformats.org/drawingml/2006/main">
              <a:ext uri="{FF2B5EF4-FFF2-40B4-BE49-F238E27FC236}">
                <a16:creationId xmlns:a16="http://schemas.microsoft.com/office/drawing/2014/main" id="{7F95709D-B9EE-45BF-A4EA-3C6B6D46377C}"/>
              </a:ext>
            </a:extLst>
          </p:cNvPr>
          <p:cNvGraphicFramePr/>
          <p:nvPr/>
        </p:nvGraphicFramePr>
        <p:xfrm>
          <a:off xmlns:a="http://schemas.openxmlformats.org/drawingml/2006/main" x="7858125" y="2000250"/>
          <a:ext xmlns:a="http://schemas.openxmlformats.org/drawingml/2006/main" cx="3667125" cy="2047875"/>
        </p:xfrm>
        <a:graphic xmlns:a="http://schemas.openxmlformats.org/drawingml/2006/main">
          <a:graphicData uri="http://schemas.openxmlformats.org/drawingml/2006/table">
            <a:tbl>
              <a:tblPr/>
              <a:tblGrid>
                <a:gridCol w="2095500"/>
                <a:gridCol w="1571625"/>
              </a:tblGrid>
              <a:tr h="682625">
                <a:tc>
                  <a:txBody>
                    <a:bodyPr lIns="114300" tIns="114300" rIns="114300" bIns="114300"/>
                    <a:lstStyle/>
                    <a:p>
                      <a:r>
                        <a:rPr sz="1875" b="1">
                          <a:solidFill>
                            <a:srgbClr val="0F172A"/>
                          </a:solidFill>
                          <a:latin typeface="Arial"/>
                          <a:ea typeface="Arial"/>
                          <a:cs typeface="Arial"/>
                        </a:rPr>
                        <a:t>All-core scope</a:t>
                      </a:r>
                    </a:p>
                  </a:txBody>
                  <a:tcPr marL="91440" marR="91440" marT="45720" marB="45720" anchor="ctr">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Macro F1</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r>
              <a:tr h="682625">
                <a:tc>
                  <a:txBody>
                    <a:bodyPr lIns="114300" tIns="114300" rIns="114300" bIns="114300"/>
                    <a:lstStyle/>
                    <a:p>
                      <a:r>
                        <a:rPr sz="1875" b="0">
                          <a:solidFill>
                            <a:srgbClr val="0F172A"/>
                          </a:solidFill>
                          <a:latin typeface="Arial"/>
                          <a:ea typeface="Arial"/>
                          <a:cs typeface="Arial"/>
                        </a:rPr>
                        <a:t>Calibration</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0.7649</a:t>
                      </a:r>
                    </a:p>
                  </a:txBody>
                  <a:tcPr marL="91440" marR="91440" marT="45720" marB="45720" anchor="ctr">
                    <a:lnR w="9525">
                      <a:solidFill>
                        <a:srgbClr val="CBD5E1"/>
                      </a:solidFill>
                      <a:prstDash val="solid"/>
                    </a:lnR>
                    <a:lnB w="9525">
                      <a:solidFill>
                        <a:srgbClr val="CBD5E1"/>
                      </a:solidFill>
                      <a:prstDash val="solid"/>
                    </a:lnB>
                    <a:solidFill>
                      <a:srgbClr val="FFFFFF"/>
                    </a:solidFill>
                  </a:tcPr>
                </a:tc>
              </a:tr>
              <a:tr h="682625">
                <a:tc>
                  <a:txBody>
                    <a:bodyPr lIns="114300" tIns="114300" rIns="114300" bIns="114300"/>
                    <a:lstStyle/>
                    <a:p>
                      <a:r>
                        <a:rPr sz="1875" b="0">
                          <a:solidFill>
                            <a:srgbClr val="0F172A"/>
                          </a:solidFill>
                          <a:latin typeface="Arial"/>
                          <a:ea typeface="Arial"/>
                          <a:cs typeface="Arial"/>
                        </a:rPr>
                        <a:t>Spatial test</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0.3936</a:t>
                      </a:r>
                    </a:p>
                  </a:txBody>
                  <a:tcPr marL="91440" marR="91440" marT="45720" marB="45720" anchor="ctr">
                    <a:lnR w="9525">
                      <a:solidFill>
                        <a:srgbClr val="CBD5E1"/>
                      </a:solidFill>
                      <a:prstDash val="solid"/>
                    </a:lnR>
                    <a:lnB w="9525">
                      <a:solidFill>
                        <a:srgbClr val="CBD5E1"/>
                      </a:solidFill>
                      <a:prstDash val="solid"/>
                    </a:lnB>
                    <a:solidFill>
                      <a:srgbClr val="F8FAFC"/>
                    </a:solidFill>
                  </a:tcPr>
                </a:tc>
              </a:tr>
            </a:tbl>
          </a:graphicData>
        </a:graphic>
      </p:graphicFrame>
      <p:sp>
        <p:nvSpPr>
          <p:cNvPr id="6" name="">
            <a:extLst xmlns:a="http://schemas.openxmlformats.org/drawingml/2006/main">
              <a:ext uri="{FF2B5EF4-FFF2-40B4-BE49-F238E27FC236}">
                <a16:creationId xmlns:a16="http://schemas.microsoft.com/office/drawing/2014/main" id="{76AD184B-2E24-465B-8349-C76FE50F4A76}"/>
              </a:ext>
            </a:extLst>
          </p:cNvPr>
          <p:cNvSpPr>
            <a:spLocks xmlns:a="http://schemas.openxmlformats.org/drawingml/2006/main" noGrp="1"/>
          </p:cNvSpPr>
          <p:nvPr/>
        </p:nvSpPr>
        <p:spPr>
          <a:xfrm xmlns:a="http://schemas.openxmlformats.org/drawingml/2006/main">
            <a:off x="7905750" y="4572000"/>
            <a:ext cx="361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0F172A"/>
                </a:solidFill>
                <a:latin typeface="Arial"/>
                <a:ea typeface="Arial"/>
                <a:cs typeface="Arial"/>
              </a:defRPr>
            </a:defPPr>
            <a:lvl1pPr>
              <a:defRPr sz="2100" b="1">
                <a:solidFill>
                  <a:srgbClr val="0F172A"/>
                </a:solidFill>
                <a:latin typeface="Arial"/>
                <a:ea typeface="Arial"/>
                <a:cs typeface="Arial"/>
              </a:defRPr>
            </a:lvl1pPr>
            <a:lvl2pPr>
              <a:defRPr sz="2100" b="1">
                <a:solidFill>
                  <a:srgbClr val="0F172A"/>
                </a:solidFill>
                <a:latin typeface="Arial"/>
                <a:ea typeface="Arial"/>
                <a:cs typeface="Arial"/>
              </a:defRPr>
            </a:lvl2pPr>
            <a:lvl3pPr>
              <a:defRPr sz="2100" b="1">
                <a:solidFill>
                  <a:srgbClr val="0F172A"/>
                </a:solidFill>
                <a:latin typeface="Arial"/>
                <a:ea typeface="Arial"/>
                <a:cs typeface="Arial"/>
              </a:defRPr>
            </a:lvl3pPr>
            <a:lvl4pPr>
              <a:defRPr sz="2100" b="1">
                <a:solidFill>
                  <a:srgbClr val="0F172A"/>
                </a:solidFill>
                <a:latin typeface="Arial"/>
                <a:ea typeface="Arial"/>
                <a:cs typeface="Arial"/>
              </a:defRPr>
            </a:lvl4pPr>
            <a:lvl5pPr>
              <a:defRPr sz="2100" b="1">
                <a:solidFill>
                  <a:srgbClr val="0F172A"/>
                </a:solidFill>
                <a:latin typeface="Arial"/>
                <a:ea typeface="Arial"/>
                <a:cs typeface="Arial"/>
              </a:defRPr>
            </a:lvl5pPr>
            <a:lvl6pPr>
              <a:defRPr sz="2100" b="1">
                <a:solidFill>
                  <a:srgbClr val="0F172A"/>
                </a:solidFill>
                <a:latin typeface="Arial"/>
                <a:ea typeface="Arial"/>
                <a:cs typeface="Arial"/>
              </a:defRPr>
            </a:lvl6pPr>
            <a:lvl7pPr>
              <a:defRPr sz="2100" b="1">
                <a:solidFill>
                  <a:srgbClr val="0F172A"/>
                </a:solidFill>
                <a:latin typeface="Arial"/>
                <a:ea typeface="Arial"/>
                <a:cs typeface="Arial"/>
              </a:defRPr>
            </a:lvl7pPr>
            <a:lvl8pPr>
              <a:defRPr sz="2100" b="1">
                <a:solidFill>
                  <a:srgbClr val="0F172A"/>
                </a:solidFill>
                <a:latin typeface="Arial"/>
                <a:ea typeface="Arial"/>
                <a:cs typeface="Arial"/>
              </a:defRPr>
            </a:lvl8pPr>
            <a:lvl9pPr>
              <a:defRPr sz="2100" b="1">
                <a:solidFill>
                  <a:srgbClr val="0F172A"/>
                </a:solidFill>
                <a:latin typeface="Arial"/>
                <a:ea typeface="Arial"/>
                <a:cs typeface="Arial"/>
              </a:defRPr>
            </a:lvl9pPr>
          </a:lstStyle>
          <a:p xmlns:a="http://schemas.openxmlformats.org/drawingml/2006/main">
            <a:pPr>
              <a:defRPr sz="2100" b="1">
                <a:solidFill>
                  <a:srgbClr val="0F172A"/>
                </a:solidFill>
                <a:latin typeface="Arial"/>
                <a:ea typeface="Arial"/>
                <a:cs typeface="Arial"/>
              </a:defRPr>
            </a:pPr>
            <a:r>
              <a:rPr sz="2100" b="1">
                <a:solidFill>
                  <a:srgbClr val="0F172A"/>
                </a:solidFill>
                <a:latin typeface="Arial"/>
                <a:ea typeface="Arial"/>
                <a:cs typeface="Arial"/>
              </a:rPr>
              <a:t>Epoch 1 selected</a:t>
            </a:r>
          </a:p>
          <a:p xmlns:a="http://schemas.openxmlformats.org/drawingml/2006/main">
            <a:pPr>
              <a:defRPr sz="2100" b="1">
                <a:solidFill>
                  <a:srgbClr val="0F172A"/>
                </a:solidFill>
                <a:latin typeface="Arial"/>
                <a:ea typeface="Arial"/>
                <a:cs typeface="Arial"/>
              </a:defRPr>
            </a:pPr>
            <a:r>
              <a:rPr sz="2100" b="1">
                <a:solidFill>
                  <a:srgbClr val="0F172A"/>
                </a:solidFill>
                <a:latin typeface="Arial"/>
                <a:ea typeface="Arial"/>
                <a:cs typeface="Arial"/>
              </a:rPr>
              <a:t>Threshold 0.7 frozen</a:t>
            </a:r>
          </a:p>
        </p:txBody>
      </p:sp>
      <p:sp>
        <p:nvSpPr>
          <p:cNvPr id="7" name="">
            <a:extLst xmlns:a="http://schemas.openxmlformats.org/drawingml/2006/main">
              <a:ext uri="{FF2B5EF4-FFF2-40B4-BE49-F238E27FC236}">
                <a16:creationId xmlns:a16="http://schemas.microsoft.com/office/drawing/2014/main" id="{19F90ED6-E76C-4DA6-A0A1-D4ACDF5E9F7A}"/>
              </a:ext>
            </a:extLst>
          </p:cNvPr>
          <p:cNvSpPr>
            <a:spLocks xmlns:a="http://schemas.openxmlformats.org/drawingml/2006/main" noGrp="1"/>
          </p:cNvSpPr>
          <p:nvPr/>
        </p:nvSpPr>
        <p:spPr>
          <a:xfrm xmlns:a="http://schemas.openxmlformats.org/drawingml/2006/main">
            <a:off x="666750" y="59531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75569"/>
                </a:solidFill>
                <a:latin typeface="Arial"/>
                <a:ea typeface="Arial"/>
                <a:cs typeface="Arial"/>
              </a:defRPr>
            </a:defPPr>
            <a:lvl1pPr>
              <a:defRPr sz="1800" b="0">
                <a:solidFill>
                  <a:srgbClr val="475569"/>
                </a:solidFill>
                <a:latin typeface="Arial"/>
                <a:ea typeface="Arial"/>
                <a:cs typeface="Arial"/>
              </a:defRPr>
            </a:lvl1pPr>
            <a:lvl2pPr>
              <a:defRPr sz="1800" b="0">
                <a:solidFill>
                  <a:srgbClr val="475569"/>
                </a:solidFill>
                <a:latin typeface="Arial"/>
                <a:ea typeface="Arial"/>
                <a:cs typeface="Arial"/>
              </a:defRPr>
            </a:lvl2pPr>
            <a:lvl3pPr>
              <a:defRPr sz="1800" b="0">
                <a:solidFill>
                  <a:srgbClr val="475569"/>
                </a:solidFill>
                <a:latin typeface="Arial"/>
                <a:ea typeface="Arial"/>
                <a:cs typeface="Arial"/>
              </a:defRPr>
            </a:lvl3pPr>
            <a:lvl4pPr>
              <a:defRPr sz="1800" b="0">
                <a:solidFill>
                  <a:srgbClr val="475569"/>
                </a:solidFill>
                <a:latin typeface="Arial"/>
                <a:ea typeface="Arial"/>
                <a:cs typeface="Arial"/>
              </a:defRPr>
            </a:lvl4pPr>
            <a:lvl5pPr>
              <a:defRPr sz="1800" b="0">
                <a:solidFill>
                  <a:srgbClr val="475569"/>
                </a:solidFill>
                <a:latin typeface="Arial"/>
                <a:ea typeface="Arial"/>
                <a:cs typeface="Arial"/>
              </a:defRPr>
            </a:lvl5pPr>
            <a:lvl6pPr>
              <a:defRPr sz="1800" b="0">
                <a:solidFill>
                  <a:srgbClr val="475569"/>
                </a:solidFill>
                <a:latin typeface="Arial"/>
                <a:ea typeface="Arial"/>
                <a:cs typeface="Arial"/>
              </a:defRPr>
            </a:lvl6pPr>
            <a:lvl7pPr>
              <a:defRPr sz="1800" b="0">
                <a:solidFill>
                  <a:srgbClr val="475569"/>
                </a:solidFill>
                <a:latin typeface="Arial"/>
                <a:ea typeface="Arial"/>
                <a:cs typeface="Arial"/>
              </a:defRPr>
            </a:lvl7pPr>
            <a:lvl8pPr>
              <a:defRPr sz="1800" b="0">
                <a:solidFill>
                  <a:srgbClr val="475569"/>
                </a:solidFill>
                <a:latin typeface="Arial"/>
                <a:ea typeface="Arial"/>
                <a:cs typeface="Arial"/>
              </a:defRPr>
            </a:lvl8pPr>
            <a:lvl9pPr>
              <a:defRPr sz="1800" b="0">
                <a:solidFill>
                  <a:srgbClr val="475569"/>
                </a:solidFill>
                <a:latin typeface="Arial"/>
                <a:ea typeface="Arial"/>
                <a:cs typeface="Arial"/>
              </a:defRPr>
            </a:lvl9pPr>
          </a:lstStyle>
          <a:p xmlns:a="http://schemas.openxmlformats.org/drawingml/2006/main">
            <a:pPr>
              <a:defRPr sz="1800" b="0">
                <a:solidFill>
                  <a:srgbClr val="475569"/>
                </a:solidFill>
                <a:latin typeface="Arial"/>
                <a:ea typeface="Arial"/>
                <a:cs typeface="Arial"/>
              </a:defRPr>
            </a:pPr>
            <a:r>
              <a:rPr sz="1800" b="0">
                <a:solidFill>
                  <a:srgbClr val="475569"/>
                </a:solidFill>
                <a:latin typeface="Arial"/>
                <a:ea typeface="Arial"/>
                <a:cs typeface="Arial"/>
              </a:rPr>
              <a:t>No test-driven checkpoint selection or stress retuning</a:t>
            </a:r>
          </a:p>
        </p:txBody>
      </p:sp>
    </p:spTree>
    <p:extLst>
      <p:ext uri="{BB962C8B-B14F-4D97-AF65-F5344CB8AC3E}">
        <p14:creationId xmlns:p14="http://schemas.microsoft.com/office/powerpoint/2010/main" val="113466204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7B66095-A6FE-4EDB-809B-79C960191B49}"/>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ConSLAM provides qualitative site context</a:t>
            </a:r>
          </a:p>
        </p:txBody>
      </p:sp>
      <p:sp>
        <p:nvSpPr>
          <p:cNvPr id="2" name="">
            <a:extLst xmlns:a="http://schemas.openxmlformats.org/drawingml/2006/main">
              <a:ext uri="{FF2B5EF4-FFF2-40B4-BE49-F238E27FC236}">
                <a16:creationId xmlns:a16="http://schemas.microsoft.com/office/drawing/2014/main" id="{229A810B-8DCE-4C45-919E-39D1E722AD14}"/>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90935D37-A656-49A9-9751-FBB6CEEA76AF}"/>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10</a:t>
            </a:r>
          </a:p>
        </p:txBody>
      </p:sp>
      <p:pic>
        <p:nvPicPr>
          <p:cNvPr id="4" name="">
            <a:extLst xmlns:a="http://schemas.openxmlformats.org/drawingml/2006/main">
              <a:ext uri="{FF2B5EF4-FFF2-40B4-BE49-F238E27FC236}">
                <a16:creationId xmlns:a16="http://schemas.microsoft.com/office/drawing/2014/main" id="{005BFE3A-9D0B-4EDA-A24D-2DFAA02E8A7E}"/>
              </a:ext>
            </a:extLst>
          </p:cNvPr>
          <p:cNvPicPr>
            <a:picLocks xmlns:a="http://schemas.openxmlformats.org/drawingml/2006/main" noChangeAspect="1"/>
          </p:cNvPicPr>
          <p:nvPr/>
        </p:nvPicPr>
        <p:blipFill>
          <a:blip xmlns:r="http://schemas.openxmlformats.org/officeDocument/2006/relationships" xmlns:a="http://schemas.openxmlformats.org/drawingml/2006/main" r:embed="R4803f17265e7405e"/>
          <a:stretch xmlns:a="http://schemas.openxmlformats.org/drawingml/2006/main"/>
        </p:blipFill>
        <p:spPr>
          <a:xfrm xmlns:a="http://schemas.openxmlformats.org/drawingml/2006/main">
            <a:off x="952500" y="1622497"/>
            <a:ext cx="10287000" cy="327963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28DA9AE-8ABF-451E-AEF3-153046627EAD}"/>
              </a:ext>
            </a:extLst>
          </p:cNvPr>
          <p:cNvSpPr>
            <a:spLocks xmlns:a="http://schemas.openxmlformats.org/drawingml/2006/main" noGrp="1"/>
          </p:cNvSpPr>
          <p:nvPr/>
        </p:nvSpPr>
        <p:spPr>
          <a:xfrm xmlns:a="http://schemas.openxmlformats.org/drawingml/2006/main">
            <a:off x="857250" y="51911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F172A"/>
                </a:solidFill>
                <a:latin typeface="Arial"/>
                <a:ea typeface="Arial"/>
                <a:cs typeface="Arial"/>
              </a:defRPr>
            </a:defPPr>
            <a:lvl1pPr>
              <a:defRPr sz="2250" b="1">
                <a:solidFill>
                  <a:srgbClr val="0F172A"/>
                </a:solidFill>
                <a:latin typeface="Arial"/>
                <a:ea typeface="Arial"/>
                <a:cs typeface="Arial"/>
              </a:defRPr>
            </a:lvl1pPr>
            <a:lvl2pPr>
              <a:defRPr sz="2250" b="1">
                <a:solidFill>
                  <a:srgbClr val="0F172A"/>
                </a:solidFill>
                <a:latin typeface="Arial"/>
                <a:ea typeface="Arial"/>
                <a:cs typeface="Arial"/>
              </a:defRPr>
            </a:lvl2pPr>
            <a:lvl3pPr>
              <a:defRPr sz="2250" b="1">
                <a:solidFill>
                  <a:srgbClr val="0F172A"/>
                </a:solidFill>
                <a:latin typeface="Arial"/>
                <a:ea typeface="Arial"/>
                <a:cs typeface="Arial"/>
              </a:defRPr>
            </a:lvl3pPr>
            <a:lvl4pPr>
              <a:defRPr sz="2250" b="1">
                <a:solidFill>
                  <a:srgbClr val="0F172A"/>
                </a:solidFill>
                <a:latin typeface="Arial"/>
                <a:ea typeface="Arial"/>
                <a:cs typeface="Arial"/>
              </a:defRPr>
            </a:lvl4pPr>
            <a:lvl5pPr>
              <a:defRPr sz="2250" b="1">
                <a:solidFill>
                  <a:srgbClr val="0F172A"/>
                </a:solidFill>
                <a:latin typeface="Arial"/>
                <a:ea typeface="Arial"/>
                <a:cs typeface="Arial"/>
              </a:defRPr>
            </a:lvl5pPr>
            <a:lvl6pPr>
              <a:defRPr sz="2250" b="1">
                <a:solidFill>
                  <a:srgbClr val="0F172A"/>
                </a:solidFill>
                <a:latin typeface="Arial"/>
                <a:ea typeface="Arial"/>
                <a:cs typeface="Arial"/>
              </a:defRPr>
            </a:lvl6pPr>
            <a:lvl7pPr>
              <a:defRPr sz="2250" b="1">
                <a:solidFill>
                  <a:srgbClr val="0F172A"/>
                </a:solidFill>
                <a:latin typeface="Arial"/>
                <a:ea typeface="Arial"/>
                <a:cs typeface="Arial"/>
              </a:defRPr>
            </a:lvl7pPr>
            <a:lvl8pPr>
              <a:defRPr sz="2250" b="1">
                <a:solidFill>
                  <a:srgbClr val="0F172A"/>
                </a:solidFill>
                <a:latin typeface="Arial"/>
                <a:ea typeface="Arial"/>
                <a:cs typeface="Arial"/>
              </a:defRPr>
            </a:lvl8pPr>
            <a:lvl9pPr>
              <a:defRPr sz="2250" b="1">
                <a:solidFill>
                  <a:srgbClr val="0F172A"/>
                </a:solidFill>
                <a:latin typeface="Arial"/>
                <a:ea typeface="Arial"/>
                <a:cs typeface="Arial"/>
              </a:defRPr>
            </a:lvl9pPr>
          </a:lstStyle>
          <a:p xmlns:a="http://schemas.openxmlformats.org/drawingml/2006/main">
            <a:pPr>
              <a:defRPr sz="2250" b="1">
                <a:solidFill>
                  <a:srgbClr val="0F172A"/>
                </a:solidFill>
                <a:latin typeface="Arial"/>
                <a:ea typeface="Arial"/>
                <a:cs typeface="Arial"/>
              </a:defRPr>
            </a:pPr>
            <a:r>
              <a:rPr sz="2250" b="1">
                <a:solidFill>
                  <a:srgbClr val="0F172A"/>
                </a:solidFill>
                <a:latin typeface="Arial"/>
                <a:ea typeface="Arial"/>
                <a:cs typeface="Arial"/>
              </a:rPr>
              <a:t>Two LiDAR frames, 4.84 s apart, with supplied poses</a:t>
            </a:r>
          </a:p>
        </p:txBody>
      </p:sp>
      <p:sp>
        <p:nvSpPr>
          <p:cNvPr id="6" name="">
            <a:extLst xmlns:a="http://schemas.openxmlformats.org/drawingml/2006/main">
              <a:ext uri="{FF2B5EF4-FFF2-40B4-BE49-F238E27FC236}">
                <a16:creationId xmlns:a16="http://schemas.microsoft.com/office/drawing/2014/main" id="{4F8ECBF6-B462-49D9-9D69-B16940B4C846}"/>
              </a:ext>
            </a:extLst>
          </p:cNvPr>
          <p:cNvSpPr>
            <a:spLocks xmlns:a="http://schemas.openxmlformats.org/drawingml/2006/main" noGrp="1"/>
          </p:cNvSpPr>
          <p:nvPr/>
        </p:nvSpPr>
        <p:spPr>
          <a:xfrm xmlns:a="http://schemas.openxmlformats.org/drawingml/2006/main">
            <a:off x="857250" y="58102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475569"/>
                </a:solidFill>
                <a:latin typeface="Arial"/>
                <a:ea typeface="Arial"/>
                <a:cs typeface="Arial"/>
              </a:defRPr>
            </a:defPPr>
            <a:lvl1pPr>
              <a:defRPr sz="1875" b="0">
                <a:solidFill>
                  <a:srgbClr val="475569"/>
                </a:solidFill>
                <a:latin typeface="Arial"/>
                <a:ea typeface="Arial"/>
                <a:cs typeface="Arial"/>
              </a:defRPr>
            </a:lvl1pPr>
            <a:lvl2pPr>
              <a:defRPr sz="1875" b="0">
                <a:solidFill>
                  <a:srgbClr val="475569"/>
                </a:solidFill>
                <a:latin typeface="Arial"/>
                <a:ea typeface="Arial"/>
                <a:cs typeface="Arial"/>
              </a:defRPr>
            </a:lvl2pPr>
            <a:lvl3pPr>
              <a:defRPr sz="1875" b="0">
                <a:solidFill>
                  <a:srgbClr val="475569"/>
                </a:solidFill>
                <a:latin typeface="Arial"/>
                <a:ea typeface="Arial"/>
                <a:cs typeface="Arial"/>
              </a:defRPr>
            </a:lvl3pPr>
            <a:lvl4pPr>
              <a:defRPr sz="1875" b="0">
                <a:solidFill>
                  <a:srgbClr val="475569"/>
                </a:solidFill>
                <a:latin typeface="Arial"/>
                <a:ea typeface="Arial"/>
                <a:cs typeface="Arial"/>
              </a:defRPr>
            </a:lvl4pPr>
            <a:lvl5pPr>
              <a:defRPr sz="1875" b="0">
                <a:solidFill>
                  <a:srgbClr val="475569"/>
                </a:solidFill>
                <a:latin typeface="Arial"/>
                <a:ea typeface="Arial"/>
                <a:cs typeface="Arial"/>
              </a:defRPr>
            </a:lvl5pPr>
            <a:lvl6pPr>
              <a:defRPr sz="1875" b="0">
                <a:solidFill>
                  <a:srgbClr val="475569"/>
                </a:solidFill>
                <a:latin typeface="Arial"/>
                <a:ea typeface="Arial"/>
                <a:cs typeface="Arial"/>
              </a:defRPr>
            </a:lvl6pPr>
            <a:lvl7pPr>
              <a:defRPr sz="1875" b="0">
                <a:solidFill>
                  <a:srgbClr val="475569"/>
                </a:solidFill>
                <a:latin typeface="Arial"/>
                <a:ea typeface="Arial"/>
                <a:cs typeface="Arial"/>
              </a:defRPr>
            </a:lvl7pPr>
            <a:lvl8pPr>
              <a:defRPr sz="1875" b="0">
                <a:solidFill>
                  <a:srgbClr val="475569"/>
                </a:solidFill>
                <a:latin typeface="Arial"/>
                <a:ea typeface="Arial"/>
                <a:cs typeface="Arial"/>
              </a:defRPr>
            </a:lvl8pPr>
            <a:lvl9pPr>
              <a:defRPr sz="1875" b="0">
                <a:solidFill>
                  <a:srgbClr val="475569"/>
                </a:solidFill>
                <a:latin typeface="Arial"/>
                <a:ea typeface="Arial"/>
                <a:cs typeface="Arial"/>
              </a:defRPr>
            </a:lvl9pPr>
          </a:lstStyle>
          <a:p xmlns:a="http://schemas.openxmlformats.org/drawingml/2006/main">
            <a:pPr>
              <a:defRPr sz="1875" b="0">
                <a:solidFill>
                  <a:srgbClr val="475569"/>
                </a:solidFill>
                <a:latin typeface="Arial"/>
                <a:ea typeface="Arial"/>
                <a:cs typeface="Arial"/>
              </a:defRPr>
            </a:pPr>
            <a:r>
              <a:rPr sz="1875" b="0">
                <a:solidFill>
                  <a:srgbClr val="475569"/>
                </a:solidFill>
                <a:latin typeface="Arial"/>
                <a:ea typeface="Arial"/>
                <a:cs typeface="Arial"/>
              </a:rPr>
              <a:t>No verified change labels, accuracy score or cross-month progress claim</a:t>
            </a:r>
          </a:p>
        </p:txBody>
      </p:sp>
    </p:spTree>
    <p:extLst>
      <p:ext uri="{BB962C8B-B14F-4D97-AF65-F5344CB8AC3E}">
        <p14:creationId xmlns:p14="http://schemas.microsoft.com/office/powerpoint/2010/main" val="7427036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09099B-DC46-4237-B1D2-52795747D661}"/>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Findings and limits</a:t>
            </a:r>
          </a:p>
        </p:txBody>
      </p:sp>
      <p:sp>
        <p:nvSpPr>
          <p:cNvPr id="2" name="">
            <a:extLst xmlns:a="http://schemas.openxmlformats.org/drawingml/2006/main">
              <a:ext uri="{FF2B5EF4-FFF2-40B4-BE49-F238E27FC236}">
                <a16:creationId xmlns:a16="http://schemas.microsoft.com/office/drawing/2014/main" id="{F208A5CC-C980-495C-9C06-4ED638C384E2}"/>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697C787E-4917-4828-A0CE-B468525301D0}"/>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D27D9B4C-48B9-427D-B5E8-D74B261FD4A4}"/>
              </a:ext>
            </a:extLst>
          </p:cNvPr>
          <p:cNvSpPr>
            <a:spLocks xmlns:a="http://schemas.openxmlformats.org/drawingml/2006/main" noGrp="1"/>
          </p:cNvSpPr>
          <p:nvPr/>
        </p:nvSpPr>
        <p:spPr>
          <a:xfrm xmlns:a="http://schemas.openxmlformats.org/drawingml/2006/main">
            <a:off x="714375" y="1666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F172A"/>
                </a:solidFill>
                <a:latin typeface="Arial"/>
                <a:ea typeface="Arial"/>
                <a:cs typeface="Arial"/>
              </a:defRPr>
            </a:defPPr>
            <a:lvl1pPr>
              <a:defRPr sz="2550" b="1">
                <a:solidFill>
                  <a:srgbClr val="0F172A"/>
                </a:solidFill>
                <a:latin typeface="Arial"/>
                <a:ea typeface="Arial"/>
                <a:cs typeface="Arial"/>
              </a:defRPr>
            </a:lvl1pPr>
            <a:lvl2pPr>
              <a:defRPr sz="2550" b="1">
                <a:solidFill>
                  <a:srgbClr val="0F172A"/>
                </a:solidFill>
                <a:latin typeface="Arial"/>
                <a:ea typeface="Arial"/>
                <a:cs typeface="Arial"/>
              </a:defRPr>
            </a:lvl2pPr>
            <a:lvl3pPr>
              <a:defRPr sz="2550" b="1">
                <a:solidFill>
                  <a:srgbClr val="0F172A"/>
                </a:solidFill>
                <a:latin typeface="Arial"/>
                <a:ea typeface="Arial"/>
                <a:cs typeface="Arial"/>
              </a:defRPr>
            </a:lvl3pPr>
            <a:lvl4pPr>
              <a:defRPr sz="2550" b="1">
                <a:solidFill>
                  <a:srgbClr val="0F172A"/>
                </a:solidFill>
                <a:latin typeface="Arial"/>
                <a:ea typeface="Arial"/>
                <a:cs typeface="Arial"/>
              </a:defRPr>
            </a:lvl4pPr>
            <a:lvl5pPr>
              <a:defRPr sz="2550" b="1">
                <a:solidFill>
                  <a:srgbClr val="0F172A"/>
                </a:solidFill>
                <a:latin typeface="Arial"/>
                <a:ea typeface="Arial"/>
                <a:cs typeface="Arial"/>
              </a:defRPr>
            </a:lvl5pPr>
            <a:lvl6pPr>
              <a:defRPr sz="2550" b="1">
                <a:solidFill>
                  <a:srgbClr val="0F172A"/>
                </a:solidFill>
                <a:latin typeface="Arial"/>
                <a:ea typeface="Arial"/>
                <a:cs typeface="Arial"/>
              </a:defRPr>
            </a:lvl6pPr>
            <a:lvl7pPr>
              <a:defRPr sz="2550" b="1">
                <a:solidFill>
                  <a:srgbClr val="0F172A"/>
                </a:solidFill>
                <a:latin typeface="Arial"/>
                <a:ea typeface="Arial"/>
                <a:cs typeface="Arial"/>
              </a:defRPr>
            </a:lvl7pPr>
            <a:lvl8pPr>
              <a:defRPr sz="2550" b="1">
                <a:solidFill>
                  <a:srgbClr val="0F172A"/>
                </a:solidFill>
                <a:latin typeface="Arial"/>
                <a:ea typeface="Arial"/>
                <a:cs typeface="Arial"/>
              </a:defRPr>
            </a:lvl8pPr>
            <a:lvl9pPr>
              <a:defRPr sz="2550" b="1">
                <a:solidFill>
                  <a:srgbClr val="0F172A"/>
                </a:solidFill>
                <a:latin typeface="Arial"/>
                <a:ea typeface="Arial"/>
                <a:cs typeface="Arial"/>
              </a:defRPr>
            </a:lvl9pPr>
          </a:lstStyle>
          <a:p xmlns:a="http://schemas.openxmlformats.org/drawingml/2006/main">
            <a:pPr>
              <a:defRPr sz="2550" b="1">
                <a:solidFill>
                  <a:srgbClr val="0F172A"/>
                </a:solidFill>
                <a:latin typeface="Arial"/>
                <a:ea typeface="Arial"/>
                <a:cs typeface="Arial"/>
              </a:defRPr>
            </a:pPr>
            <a:r>
              <a:rPr sz="2550" b="1">
                <a:solidFill>
                  <a:srgbClr val="0F172A"/>
                </a:solidFill>
                <a:latin typeface="Arial"/>
                <a:ea typeface="Arial"/>
                <a:cs typeface="Arial"/>
              </a:rPr>
              <a:t>C2C leads on the matched clean region</a:t>
            </a:r>
          </a:p>
        </p:txBody>
      </p:sp>
      <p:sp>
        <p:nvSpPr>
          <p:cNvPr id="5" name="">
            <a:extLst xmlns:a="http://schemas.openxmlformats.org/drawingml/2006/main">
              <a:ext uri="{FF2B5EF4-FFF2-40B4-BE49-F238E27FC236}">
                <a16:creationId xmlns:a16="http://schemas.microsoft.com/office/drawing/2014/main" id="{9BFFB1DC-FB30-4421-9B45-B35095EFDAAA}"/>
              </a:ext>
            </a:extLst>
          </p:cNvPr>
          <p:cNvSpPr>
            <a:spLocks xmlns:a="http://schemas.openxmlformats.org/drawingml/2006/main" noGrp="1"/>
          </p:cNvSpPr>
          <p:nvPr/>
        </p:nvSpPr>
        <p:spPr>
          <a:xfrm xmlns:a="http://schemas.openxmlformats.org/drawingml/2006/main">
            <a:off x="714375" y="24765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0F172A"/>
                </a:solidFill>
                <a:latin typeface="Arial"/>
                <a:ea typeface="Arial"/>
                <a:cs typeface="Arial"/>
              </a:defRPr>
            </a:defPPr>
            <a:lvl1pPr>
              <a:defRPr sz="2325" b="0">
                <a:solidFill>
                  <a:srgbClr val="0F172A"/>
                </a:solidFill>
                <a:latin typeface="Arial"/>
                <a:ea typeface="Arial"/>
                <a:cs typeface="Arial"/>
              </a:defRPr>
            </a:lvl1pPr>
            <a:lvl2pPr>
              <a:defRPr sz="2325" b="0">
                <a:solidFill>
                  <a:srgbClr val="0F172A"/>
                </a:solidFill>
                <a:latin typeface="Arial"/>
                <a:ea typeface="Arial"/>
                <a:cs typeface="Arial"/>
              </a:defRPr>
            </a:lvl2pPr>
            <a:lvl3pPr>
              <a:defRPr sz="2325" b="0">
                <a:solidFill>
                  <a:srgbClr val="0F172A"/>
                </a:solidFill>
                <a:latin typeface="Arial"/>
                <a:ea typeface="Arial"/>
                <a:cs typeface="Arial"/>
              </a:defRPr>
            </a:lvl3pPr>
            <a:lvl4pPr>
              <a:defRPr sz="2325" b="0">
                <a:solidFill>
                  <a:srgbClr val="0F172A"/>
                </a:solidFill>
                <a:latin typeface="Arial"/>
                <a:ea typeface="Arial"/>
                <a:cs typeface="Arial"/>
              </a:defRPr>
            </a:lvl4pPr>
            <a:lvl5pPr>
              <a:defRPr sz="2325" b="0">
                <a:solidFill>
                  <a:srgbClr val="0F172A"/>
                </a:solidFill>
                <a:latin typeface="Arial"/>
                <a:ea typeface="Arial"/>
                <a:cs typeface="Arial"/>
              </a:defRPr>
            </a:lvl5pPr>
            <a:lvl6pPr>
              <a:defRPr sz="2325" b="0">
                <a:solidFill>
                  <a:srgbClr val="0F172A"/>
                </a:solidFill>
                <a:latin typeface="Arial"/>
                <a:ea typeface="Arial"/>
                <a:cs typeface="Arial"/>
              </a:defRPr>
            </a:lvl6pPr>
            <a:lvl7pPr>
              <a:defRPr sz="2325" b="0">
                <a:solidFill>
                  <a:srgbClr val="0F172A"/>
                </a:solidFill>
                <a:latin typeface="Arial"/>
                <a:ea typeface="Arial"/>
                <a:cs typeface="Arial"/>
              </a:defRPr>
            </a:lvl7pPr>
            <a:lvl8pPr>
              <a:defRPr sz="2325" b="0">
                <a:solidFill>
                  <a:srgbClr val="0F172A"/>
                </a:solidFill>
                <a:latin typeface="Arial"/>
                <a:ea typeface="Arial"/>
                <a:cs typeface="Arial"/>
              </a:defRPr>
            </a:lvl8pPr>
            <a:lvl9pPr>
              <a:defRPr sz="2325" b="0">
                <a:solidFill>
                  <a:srgbClr val="0F172A"/>
                </a:solidFill>
                <a:latin typeface="Arial"/>
                <a:ea typeface="Arial"/>
                <a:cs typeface="Arial"/>
              </a:defRPr>
            </a:lvl9pPr>
          </a:lstStyle>
          <a:p xmlns:a="http://schemas.openxmlformats.org/drawingml/2006/main">
            <a:pPr>
              <a:defRPr sz="2325" b="0">
                <a:solidFill>
                  <a:srgbClr val="0F172A"/>
                </a:solidFill>
                <a:latin typeface="Arial"/>
                <a:ea typeface="Arial"/>
                <a:cs typeface="Arial"/>
              </a:defRPr>
            </a:pPr>
            <a:r>
              <a:rPr sz="2325" b="0">
                <a:solidFill>
                  <a:srgbClr val="0F172A"/>
                </a:solidFill>
                <a:latin typeface="Arial"/>
                <a:ea typeface="Arial"/>
                <a:cs typeface="Arial"/>
              </a:rPr>
              <a:t>M3C2 validity and learned spatial shift limit reliability</a:t>
            </a:r>
          </a:p>
        </p:txBody>
      </p:sp>
      <p:sp>
        <p:nvSpPr>
          <p:cNvPr id="6" name="">
            <a:extLst xmlns:a="http://schemas.openxmlformats.org/drawingml/2006/main">
              <a:ext uri="{FF2B5EF4-FFF2-40B4-BE49-F238E27FC236}">
                <a16:creationId xmlns:a16="http://schemas.microsoft.com/office/drawing/2014/main" id="{F91AB816-902B-4826-AC13-BD1B45DF4161}"/>
              </a:ext>
            </a:extLst>
          </p:cNvPr>
          <p:cNvSpPr>
            <a:spLocks xmlns:a="http://schemas.openxmlformats.org/drawingml/2006/main" noGrp="1"/>
          </p:cNvSpPr>
          <p:nvPr/>
        </p:nvSpPr>
        <p:spPr>
          <a:xfrm xmlns:a="http://schemas.openxmlformats.org/drawingml/2006/main">
            <a:off x="714375" y="3476625"/>
            <a:ext cx="10763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0F172A"/>
                </a:solidFill>
                <a:latin typeface="Arial"/>
                <a:ea typeface="Arial"/>
                <a:cs typeface="Arial"/>
              </a:defRPr>
            </a:defPPr>
            <a:lvl1pPr>
              <a:defRPr sz="2175" b="0">
                <a:solidFill>
                  <a:srgbClr val="0F172A"/>
                </a:solidFill>
                <a:latin typeface="Arial"/>
                <a:ea typeface="Arial"/>
                <a:cs typeface="Arial"/>
              </a:defRPr>
            </a:lvl1pPr>
            <a:lvl2pPr>
              <a:defRPr sz="2175" b="0">
                <a:solidFill>
                  <a:srgbClr val="0F172A"/>
                </a:solidFill>
                <a:latin typeface="Arial"/>
                <a:ea typeface="Arial"/>
                <a:cs typeface="Arial"/>
              </a:defRPr>
            </a:lvl2pPr>
            <a:lvl3pPr>
              <a:defRPr sz="2175" b="0">
                <a:solidFill>
                  <a:srgbClr val="0F172A"/>
                </a:solidFill>
                <a:latin typeface="Arial"/>
                <a:ea typeface="Arial"/>
                <a:cs typeface="Arial"/>
              </a:defRPr>
            </a:lvl3pPr>
            <a:lvl4pPr>
              <a:defRPr sz="2175" b="0">
                <a:solidFill>
                  <a:srgbClr val="0F172A"/>
                </a:solidFill>
                <a:latin typeface="Arial"/>
                <a:ea typeface="Arial"/>
                <a:cs typeface="Arial"/>
              </a:defRPr>
            </a:lvl4pPr>
            <a:lvl5pPr>
              <a:defRPr sz="2175" b="0">
                <a:solidFill>
                  <a:srgbClr val="0F172A"/>
                </a:solidFill>
                <a:latin typeface="Arial"/>
                <a:ea typeface="Arial"/>
                <a:cs typeface="Arial"/>
              </a:defRPr>
            </a:lvl5pPr>
            <a:lvl6pPr>
              <a:defRPr sz="2175" b="0">
                <a:solidFill>
                  <a:srgbClr val="0F172A"/>
                </a:solidFill>
                <a:latin typeface="Arial"/>
                <a:ea typeface="Arial"/>
                <a:cs typeface="Arial"/>
              </a:defRPr>
            </a:lvl6pPr>
            <a:lvl7pPr>
              <a:defRPr sz="2175" b="0">
                <a:solidFill>
                  <a:srgbClr val="0F172A"/>
                </a:solidFill>
                <a:latin typeface="Arial"/>
                <a:ea typeface="Arial"/>
                <a:cs typeface="Arial"/>
              </a:defRPr>
            </a:lvl7pPr>
            <a:lvl8pPr>
              <a:defRPr sz="2175" b="0">
                <a:solidFill>
                  <a:srgbClr val="0F172A"/>
                </a:solidFill>
                <a:latin typeface="Arial"/>
                <a:ea typeface="Arial"/>
                <a:cs typeface="Arial"/>
              </a:defRPr>
            </a:lvl8pPr>
            <a:lvl9pPr>
              <a:defRPr sz="2175" b="0">
                <a:solidFill>
                  <a:srgbClr val="0F172A"/>
                </a:solidFill>
                <a:latin typeface="Arial"/>
                <a:ea typeface="Arial"/>
                <a:cs typeface="Arial"/>
              </a:defRPr>
            </a:lvl9pPr>
          </a:lstStyle>
          <a:p xmlns:a="http://schemas.openxmlformats.org/drawingml/2006/main">
            <a:pPr>
              <a:defRPr sz="2175" b="0">
                <a:solidFill>
                  <a:srgbClr val="0F172A"/>
                </a:solidFill>
                <a:latin typeface="Arial"/>
                <a:ea typeface="Arial"/>
                <a:cs typeface="Arial"/>
              </a:defRPr>
            </a:pPr>
            <a:r>
              <a:rPr sz="2175" b="0">
                <a:solidFill>
                  <a:srgbClr val="0F172A"/>
                </a:solidFill>
                <a:latin typeface="Arial"/>
                <a:ea typeface="Arial"/>
                <a:cs typeface="Arial"/>
              </a:rPr>
              <a:t>One scene and pair, one seed, conditional uncertainty</a:t>
            </a:r>
          </a:p>
          <a:p xmlns:a="http://schemas.openxmlformats.org/drawingml/2006/main">
            <a:pPr>
              <a:defRPr sz="2175" b="0">
                <a:solidFill>
                  <a:srgbClr val="0F172A"/>
                </a:solidFill>
                <a:latin typeface="Arial"/>
                <a:ea typeface="Arial"/>
                <a:cs typeface="Arial"/>
              </a:defRPr>
            </a:pPr>
            <a:r>
              <a:rPr sz="2175" b="0">
                <a:solidFill>
                  <a:srgbClr val="0F172A"/>
                </a:solidFill>
                <a:latin typeface="Arial"/>
                <a:ea typeface="Arial"/>
                <a:cs typeface="Arial"/>
              </a:rPr>
              <a:t>Candidate geometry alone does not certify construction progress</a:t>
            </a:r>
          </a:p>
        </p:txBody>
      </p:sp>
      <p:sp>
        <p:nvSpPr>
          <p:cNvPr id="7" name="">
            <a:extLst xmlns:a="http://schemas.openxmlformats.org/drawingml/2006/main">
              <a:ext uri="{FF2B5EF4-FFF2-40B4-BE49-F238E27FC236}">
                <a16:creationId xmlns:a16="http://schemas.microsoft.com/office/drawing/2014/main" id="{25C57825-AD9B-4601-AB34-6A261C4B7452}"/>
              </a:ext>
            </a:extLst>
          </p:cNvPr>
          <p:cNvSpPr>
            <a:spLocks xmlns:a="http://schemas.openxmlformats.org/drawingml/2006/main" noGrp="1"/>
          </p:cNvSpPr>
          <p:nvPr/>
        </p:nvSpPr>
        <p:spPr>
          <a:xfrm xmlns:a="http://schemas.openxmlformats.org/drawingml/2006/main">
            <a:off x="714375" y="53340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2563EB"/>
                </a:solidFill>
                <a:latin typeface="Arial"/>
                <a:ea typeface="Arial"/>
                <a:cs typeface="Arial"/>
              </a:defRPr>
            </a:defPPr>
            <a:lvl1pPr>
              <a:defRPr sz="2325" b="1">
                <a:solidFill>
                  <a:srgbClr val="2563EB"/>
                </a:solidFill>
                <a:latin typeface="Arial"/>
                <a:ea typeface="Arial"/>
                <a:cs typeface="Arial"/>
              </a:defRPr>
            </a:lvl1pPr>
            <a:lvl2pPr>
              <a:defRPr sz="2325" b="1">
                <a:solidFill>
                  <a:srgbClr val="2563EB"/>
                </a:solidFill>
                <a:latin typeface="Arial"/>
                <a:ea typeface="Arial"/>
                <a:cs typeface="Arial"/>
              </a:defRPr>
            </a:lvl2pPr>
            <a:lvl3pPr>
              <a:defRPr sz="2325" b="1">
                <a:solidFill>
                  <a:srgbClr val="2563EB"/>
                </a:solidFill>
                <a:latin typeface="Arial"/>
                <a:ea typeface="Arial"/>
                <a:cs typeface="Arial"/>
              </a:defRPr>
            </a:lvl3pPr>
            <a:lvl4pPr>
              <a:defRPr sz="2325" b="1">
                <a:solidFill>
                  <a:srgbClr val="2563EB"/>
                </a:solidFill>
                <a:latin typeface="Arial"/>
                <a:ea typeface="Arial"/>
                <a:cs typeface="Arial"/>
              </a:defRPr>
            </a:lvl4pPr>
            <a:lvl5pPr>
              <a:defRPr sz="2325" b="1">
                <a:solidFill>
                  <a:srgbClr val="2563EB"/>
                </a:solidFill>
                <a:latin typeface="Arial"/>
                <a:ea typeface="Arial"/>
                <a:cs typeface="Arial"/>
              </a:defRPr>
            </a:lvl5pPr>
            <a:lvl6pPr>
              <a:defRPr sz="2325" b="1">
                <a:solidFill>
                  <a:srgbClr val="2563EB"/>
                </a:solidFill>
                <a:latin typeface="Arial"/>
                <a:ea typeface="Arial"/>
                <a:cs typeface="Arial"/>
              </a:defRPr>
            </a:lvl6pPr>
            <a:lvl7pPr>
              <a:defRPr sz="2325" b="1">
                <a:solidFill>
                  <a:srgbClr val="2563EB"/>
                </a:solidFill>
                <a:latin typeface="Arial"/>
                <a:ea typeface="Arial"/>
                <a:cs typeface="Arial"/>
              </a:defRPr>
            </a:lvl7pPr>
            <a:lvl8pPr>
              <a:defRPr sz="2325" b="1">
                <a:solidFill>
                  <a:srgbClr val="2563EB"/>
                </a:solidFill>
                <a:latin typeface="Arial"/>
                <a:ea typeface="Arial"/>
                <a:cs typeface="Arial"/>
              </a:defRPr>
            </a:lvl8pPr>
            <a:lvl9pPr>
              <a:defRPr sz="2325" b="1">
                <a:solidFill>
                  <a:srgbClr val="2563EB"/>
                </a:solidFill>
                <a:latin typeface="Arial"/>
                <a:ea typeface="Arial"/>
                <a:cs typeface="Arial"/>
              </a:defRPr>
            </a:lvl9pPr>
          </a:lstStyle>
          <a:p xmlns:a="http://schemas.openxmlformats.org/drawingml/2006/main">
            <a:pPr>
              <a:defRPr sz="2325" b="1">
                <a:solidFill>
                  <a:srgbClr val="2563EB"/>
                </a:solidFill>
                <a:latin typeface="Arial"/>
                <a:ea typeface="Arial"/>
                <a:cs typeface="Arial"/>
              </a:defRPr>
            </a:pPr>
            <a:r>
              <a:rPr sz="2325" b="1">
                <a:solidFill>
                  <a:srgbClr val="2563EB"/>
                </a:solidFill>
                <a:latin typeface="Arial"/>
                <a:ea typeface="Arial"/>
                <a:cs typeface="Arial"/>
              </a:rPr>
              <a:t>Offline demo:  python code/demo.py</a:t>
            </a:r>
          </a:p>
        </p:txBody>
      </p:sp>
    </p:spTree>
    <p:extLst>
      <p:ext uri="{BB962C8B-B14F-4D97-AF65-F5344CB8AC3E}">
        <p14:creationId xmlns:p14="http://schemas.microsoft.com/office/powerpoint/2010/main" val="4242751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2026-10-24T22:27:07.3570000Z</dcterms:created>
  <dcterms:modified xsi:type="dcterms:W3CDTF">2026-10-24T22:27:07.3570000Z</dcterms:modified>
</coreProperties>
</file>