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Vishwanath Venugopal &amp; Shaik Koduru Asif (30 seconds)</a:t>
            </a:r>
          </a:p>
          <a:p/>
          <a:p>
            <a:r>
              <a:t>Good morning Professor and evaluators. Today we present our project on 'Robust 3D Change Detection for Construction Progress Monitoring'. Tracking physical progress across repeated 3D site scans is fundamental to modern automated construction management. Our study rigorously investigates how traditional geometric approaches and modern deep learning models behave when confronted with real-world site imperfections such as sensor noise, alignment errors, point sparsity, and line-of-sight occlusion.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Vishwanath Venugopal (40 seconds)</a:t>
            </a:r>
          </a:p>
          <a:p/>
          <a:p>
            <a:r>
              <a:t>On an active construction site, scans are never textbook-perfect. A wall scanned on Tuesday and rescanned on Friday does not align down to the millimeter. Registration drift shifts static surfaces by centimeters; sensor noise creates surface fuzz; point density drops with distance; and temporary equipment causes occlusion. If a change detection algorithm relies solely on naive distance thresholds, all of these sensor artifacts are flagged as physical progress or demolition. Real construction progress gets buried under thousands of false alarms. Our core objective is solving this exact problem.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Shaik Koduru Asif (45 seconds)</a:t>
            </a:r>
          </a:p>
          <a:p/>
          <a:p>
            <a:r>
              <a:t>When we initially started the project, we targeted the ConSLAM construction dataset. But during our midterm investigation, we uncovered a critical dilemma: ConSLAM was created for mobile robot localization and mapping—it does not contain per-point ground truth change labels. Without ground truth labels, any calculation of precision, recall, F1-score, or IoU is impossible. You cannot scientifically prove whether your model is working or failing. To ensure our research was 100% rigorous and verifiable, we made a pivotal decision during the midterm review: we integrated MultiChange3D's Bike Parking Construction scene. This provides 4 genuine construction epochs and 6 scan pairs with certified per-point labels, allowing us to evaluate every single metric objectively, while retaining ConSLAM for mobile qualitative field inspection.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Vishwanath Venugopal (40 seconds)</a:t>
            </a:r>
          </a:p>
          <a:p/>
          <a:p>
            <a:r>
              <a:t>Let us examine how 3D change is mathematically defined. When comparing an earlier scan (Scan 0) and a later scan (Scan 1), change has direction. Points present in Scan 0 that disappear in Scan 1 correspond to candidate removals—such as excavated earth, stripped formwork, or removed scaffolding. Conversely, points present in Scan 1 that had no prior counterpart represent candidate additions—such as newly erected steel columns or concrete slabs. Across the 4 epochs of the Bike Parking site, there are 6 distinct temporal pairs. Evaluating all 6 pairs is vital because it tests whether an algorithm generalizes across different construction phases—from early excavation to structural completion.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Shaik Koduru Asif (50 seconds)</a:t>
            </a:r>
          </a:p>
          <a:p/>
          <a:p>
            <a:r>
              <a:t>We benchmark three distinct algorithmic paradigms. First is Cloud-to-Cloud (C2C): it computes the Euclidean distance from each point to the nearest point in the opposite scan. If the distance exceeds 7.5 cm, it marks change. While simple, C2C is vulnerable to rigid misalignments. Second is M3C2-style: this classical geodetic method estimates surface normals using PCA and projects points into shared cylindrical volumes, applying a 95% confidence Limit of Detection. If a cylinder contains fewer than 10 points, M3C2 abstains, marking the point as 'Unknown'. Third is our V2 Multiscale Deep Learning Network: a Siamese architecture that processes paired local geometry across multiscale neighborhood radii, combining spatial structure with proximity priors. This gives the model contextual awareness that single-point distance metrics lack.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Vishwanath Venugopal (45 seconds)</a:t>
            </a:r>
          </a:p>
          <a:p/>
          <a:p>
            <a:r>
              <a:t>A critical flaw in many published 3D learning papers is random point splitting. If you randomly assign 80% of points to training and 20% to testing, the test points are interleaved right next to training points, causing artificial data leakage. To ensure true out-of-sample validity, we implemented a 5-fold buffered spatial cross-validation scheme. We partitioned the construction site into 5 spatial zones with 2.22-meter buffer zones in between—larger than twice our model's receptive field. Furthermore, we uncovered and analyzed a vital real-world metric ceiling: in civil projects, certain areas (like Fold 3) undergo zero physical change between epochs. When ground truth change is zero, standard recall is undefined or zero. We tracked both per-fold macro F1 and globally pooled confusion matrices to ensure fair reporting.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Shaik Koduru Asif (50 seconds)</a:t>
            </a:r>
          </a:p>
          <a:p/>
          <a:p>
            <a:r>
              <a:t>Here are the baseline clean results across all 30 pair-fold evaluations. Our V2 Multiscale Learning model achieved a binary Macro F1 of 0.6537 and a Changed-F1 of 0.3900. This firmly surpasses the legacy C2C baseline (0.5659 Macro F1, 0.3000 Changed F1) by nearly 9 percentage points. Notice how M3C2-style struggles on construction geometry, achieving only 0.2627 Macro F1 while abstaining on over 26% of points. In civil structures—such as scaffolding poles, edge formwork, and truss frames—local surfaces are not smooth infinite planes. M3C2's cylinder fits fail, whereas our multiscale deep network successfully learns flexible structural representations without abstaining.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Vishwanath Venugopal (45 seconds)</a:t>
            </a:r>
          </a:p>
          <a:p/>
          <a:p>
            <a:r>
              <a:t>To address our core thesis—robustness under real-world imperfections—we subjected all detectors to 318 controlled degradation conditions. We systematically tested translation misalignments up to 20 cm, angular rotations up to 1 degree, range noise up to 7.5 cm standard deviation, sparsity down to 10% point retention, and blind occlusion cylinders under both strict geometric support and visibility-masked support. Finally, we combined these factors into compound multi-stress conditions. The curves on the left demonstrate how each method's Macro F1 holds up as severity escalates along the x-axis.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Shaik Koduru Asif (50 seconds)</a:t>
            </a:r>
          </a:p>
          <a:p/>
          <a:p>
            <a:r>
              <a:t>This slide captures the single most important scientific discovery of our project. When scans are clean and perfectly aligned, classical C2C performs reasonably well (0.5659 Macro F1). However, look at what happens under combined large field stress (20 cm translation, noise, and sparsity): C2C collapses completely to 0.4181, losing nearly 15 points. Because static geometry is shifted by 20 cm, C2C's 7.5 cm threshold fails, and the algorithm flags the entire building as changed! In sharp contrast, our V2 Multiscale Robust Network barely flinches, dropping only 3.8 points and retaining 0.6176 Macro F1. Under real field conditions, deep learning provides a massive 20-percentage-point advantage over classical geometric thresholding.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Vishwanath Venugopal (45 seconds)</a:t>
            </a:r>
          </a:p>
          <a:p/>
          <a:p>
            <a:r>
              <a:t>A major strength of our work is bridging computer vision algorithms to real civil engineering practice. Site engineers and project managers do not inspect point clouds point-by-point. They need to know which structural components were completed or removed. We implemented a spatial connected-component clustering pipeline that aggregates raw changed cores into coherent 3D object instances. Across all 6 construction pairs, we extracted 191 distinct physical change regions: 80 added components (such as new columns and roof framing) and 111 removed components (such as excavated earth and dismantled temporary works). For each region, we calculate bounding volumes and coordinates, establishing the foundation for automated quantity takeoffs.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Shaik Koduru Asif (45 seconds)</a:t>
            </a:r>
          </a:p>
          <a:p/>
          <a:p>
            <a:r>
              <a:t>In machine learning for construction, there is often a temptation to add multi-modal signals like LiDAR intensity or complex ensemble fusion without verification. We tested whether LiDAR intensity helps differentiate construction materials. To verify this honestly, we instituted a shuffled-intensity negative control. We discovered that intensity provided only a trivial +0.005 gain, confirming that over 98% of discriminative signal comes purely from 3D spatial geometry. Similarly, we tested fusing geometric vetoes with neural logits; while it achieved 0.7696 F1, it missed our pre-declared improvement gate. We report these negative findings transparently, preserving the simplicity and speed of our single-stream V2 model.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Vishwanath Venugopal (45 seconds)</a:t>
            </a:r>
          </a:p>
          <a:p/>
          <a:p>
            <a:r>
              <a:t>Returning to our qualitative field asset, ConSLAM Sequence 3: we evaluated handheld mobile LiDAR sweeps taken 4.84 seconds apart on an active building site. Even after applying the robot's optimized SLAM trajectory poses, the median nearest-neighbor distance between consecutive frames remained at 8.1 cm! In fact, over 54% of points exceeded our 7.5 cm C2C threshold simply due to sensor motion, walking sway, and viewpoint occlusion. This provides definitive real-world proof of why geometric thresholding fails on mobile robot scans. Autonomous quadruped or drone inspection systems require deep cross-scan contextual networks that do not collapse when sensor trajectories drift by 8 centimeters.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Shaik Koduru Asif (45 seconds)</a:t>
            </a:r>
          </a:p>
          <a:p/>
          <a:p>
            <a:r>
              <a:t>How does this directly advance Civil Engineering? First, by linking extracted 3D change regions to Industry Foundation Classes (IFC) in 4D BIM, we can perform automated Scan-vs-BIM progress reconciliation. Second, volumetric change tracking directly feeds Earned Value Management, automatically outputting Schedule Performance Index (SPI) without manual site surveys. Third, tracking candidate removals enables safety officers to verify that scaffolding and formwork are not stripped prematurely before concrete reaches curing strength. Our pipeline provides the essential computational backbone for automated digital twin inspection on civil infrastructure projects.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Vishwanath Venugopal &amp; Shaik Koduru Asif (40 seconds)</a:t>
            </a:r>
          </a:p>
          <a:p/>
          <a:p>
            <a:r>
              <a:t>In conclusion, our project delivers a complete, verified, and scientifically honest study on 3D change detection for construction engineering. We resolved the ground-truth dilemma, benchmarked geometric baselines against deep learning across all 6 construction pairs and 5 spatial folds, demonstrated deep learning's 20-point superiority under real-world stress, clustered changes into 191 physical work-item regions, and validated all code across 83 passing tests. We thank Professor and the evaluators for their guidance and welcome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743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914400"/>
            <a:ext cx="6858000" cy="2926080"/>
          </a:xfrm>
          <a:prstGeom prst="rect">
            <a:avLst/>
          </a:prstGeom>
          <a:noFill/>
        </p:spPr>
        <p:txBody>
          <a:bodyPr wrap="square">
            <a:spAutoFit/>
          </a:bodyPr>
          <a:lstStyle/>
          <a:p>
            <a:pPr>
              <a:defRPr sz="3200" b="1">
                <a:solidFill>
                  <a:srgbClr val="0F172A"/>
                </a:solidFill>
                <a:latin typeface="Arial"/>
              </a:defRPr>
            </a:pPr>
            <a:r>
              <a:t>Robust 3D Change Detection for Construction Progress Monitoring</a:t>
            </a:r>
          </a:p>
          <a:p>
            <a:pPr>
              <a:spcBef>
                <a:spcPts val="1400"/>
              </a:spcBef>
              <a:defRPr sz="1600">
                <a:solidFill>
                  <a:srgbClr val="475569"/>
                </a:solidFill>
                <a:latin typeface="Arial"/>
              </a:defRPr>
            </a:pPr>
            <a:r>
              <a:t>Benchmarking Geometric Baselines vs. Multiscale Deep Cross-Scan Networks under Controlled Sensor &amp; Environmental Imperfections</a:t>
            </a:r>
          </a:p>
        </p:txBody>
      </p:sp>
      <p:sp>
        <p:nvSpPr>
          <p:cNvPr id="4" name="TextBox 3"/>
          <p:cNvSpPr txBox="1"/>
          <p:nvPr/>
        </p:nvSpPr>
        <p:spPr>
          <a:xfrm>
            <a:off x="731520" y="4114800"/>
            <a:ext cx="6858000" cy="2011680"/>
          </a:xfrm>
          <a:prstGeom prst="rect">
            <a:avLst/>
          </a:prstGeom>
          <a:noFill/>
        </p:spPr>
        <p:txBody>
          <a:bodyPr wrap="none">
            <a:spAutoFit/>
          </a:bodyPr>
          <a:lstStyle/>
          <a:p>
            <a:pPr>
              <a:defRPr sz="1400" b="1">
                <a:solidFill>
                  <a:srgbClr val="1E3A8A"/>
                </a:solidFill>
                <a:latin typeface="Arial"/>
              </a:defRPr>
            </a:pPr>
            <a:r>
              <a:t>Authors &amp; Project Team:</a:t>
            </a:r>
          </a:p>
          <a:p>
            <a:pPr>
              <a:spcBef>
                <a:spcPts val="400"/>
              </a:spcBef>
              <a:defRPr sz="1400">
                <a:solidFill>
                  <a:srgbClr val="0F172A"/>
                </a:solidFill>
                <a:latin typeface="Arial"/>
              </a:defRPr>
            </a:pPr>
            <a:r>
              <a:t>• Vishwanath Venugopal (Roll No. CE23B124)</a:t>
            </a:r>
            <a:br/>
            <a:r>
              <a:t>• Shaik Koduru Asif (Roll No. CE23B114)</a:t>
            </a:r>
          </a:p>
          <a:p>
            <a:pPr>
              <a:spcBef>
                <a:spcPts val="800"/>
              </a:spcBef>
              <a:defRPr sz="1200">
                <a:solidFill>
                  <a:srgbClr val="475569"/>
                </a:solidFill>
                <a:latin typeface="Arial"/>
              </a:defRPr>
            </a:pPr>
            <a:r>
              <a:t>Course: CV5570 Computer Vision for Construction Engineering</a:t>
            </a:r>
            <a:br/>
            <a:r>
              <a:t>Department of Civil Engineering, Indian Institute of Technology Madras</a:t>
            </a:r>
          </a:p>
        </p:txBody>
      </p:sp>
      <p:pic>
        <p:nvPicPr>
          <p:cNvPr id="5" name="Picture 4" descr="site_overview.png"/>
          <p:cNvPicPr>
            <a:picLocks noChangeAspect="1"/>
          </p:cNvPicPr>
          <p:nvPr/>
        </p:nvPicPr>
        <p:blipFill>
          <a:blip r:embed="rId2"/>
          <a:stretch>
            <a:fillRect/>
          </a:stretch>
        </p:blipFill>
        <p:spPr>
          <a:xfrm>
            <a:off x="7589520" y="1097280"/>
            <a:ext cx="3931920" cy="4754880"/>
          </a:xfrm>
          <a:prstGeom prst="rect">
            <a:avLst/>
          </a:prstGeom>
        </p:spPr>
      </p:pic>
      <p:sp>
        <p:nvSpPr>
          <p:cNvPr id="6" name="TextBox 5"/>
          <p:cNvSpPr txBox="1"/>
          <p:nvPr/>
        </p:nvSpPr>
        <p:spPr>
          <a:xfrm>
            <a:off x="731520" y="6446520"/>
            <a:ext cx="10698480" cy="274320"/>
          </a:xfrm>
          <a:prstGeom prst="rect">
            <a:avLst/>
          </a:prstGeom>
          <a:noFill/>
        </p:spPr>
        <p:txBody>
          <a:bodyPr wrap="none" lIns="0" tIns="0" rIns="0" bIns="0">
            <a:spAutoFit/>
          </a:bodyPr>
          <a:lstStyle/>
          <a:p>
            <a:pPr>
              <a:defRPr sz="1000">
                <a:solidFill>
                  <a:srgbClr val="475569"/>
                </a:solidFill>
                <a:latin typeface="Arial"/>
              </a:defRPr>
            </a:pPr>
            <a:r>
              <a:t>IIT Madras  •  Dept. of Civil Engineering  •  Computer Vision for Construction Engineering (CV5570)    |    Slide 1 of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CV5570 FINAL PRESENTATION  •  2 NOVEMBER 2026</a:t>
            </a:r>
          </a:p>
        </p:txBody>
      </p:sp>
      <p:sp>
        <p:nvSpPr>
          <p:cNvPr id="3" name="TextBox 2"/>
          <p:cNvSpPr txBox="1"/>
          <p:nvPr/>
        </p:nvSpPr>
        <p:spPr>
          <a:xfrm>
            <a:off x="731520" y="685800"/>
            <a:ext cx="10698480" cy="594360"/>
          </a:xfrm>
          <a:prstGeom prst="rect">
            <a:avLst/>
          </a:prstGeom>
          <a:noFill/>
        </p:spPr>
        <p:txBody>
          <a:bodyPr wrap="square" lIns="0" tIns="0" rIns="0" bIns="0">
            <a:spAutoFit/>
          </a:bodyPr>
          <a:lstStyle/>
          <a:p>
            <a:pPr>
              <a:defRPr sz="2400" b="1">
                <a:solidFill>
                  <a:srgbClr val="0F172A"/>
                </a:solidFill>
                <a:latin typeface="Arial"/>
              </a:defRPr>
            </a:pPr>
            <a:r>
              <a:t>Construction Reality: Why Field 3D Change Detection Fails</a:t>
            </a:r>
          </a:p>
        </p:txBody>
      </p:sp>
      <p:sp>
        <p:nvSpPr>
          <p:cNvPr id="4" name="Rounded Rectangle 3"/>
          <p:cNvSpPr/>
          <p:nvPr/>
        </p:nvSpPr>
        <p:spPr>
          <a:xfrm>
            <a:off x="731520" y="1463040"/>
            <a:ext cx="5120640" cy="2103120"/>
          </a:xfrm>
          <a:prstGeom prst="roundRect">
            <a:avLst/>
          </a:prstGeom>
          <a:solidFill>
            <a:srgbClr val="F8FAFC"/>
          </a:solidFill>
          <a:ln w="1905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A580C"/>
                </a:solidFill>
                <a:latin typeface="Arial"/>
              </a:defRPr>
            </a:pPr>
            <a:r>
              <a:t>1. Registration &amp; Alignment Drift</a:t>
            </a:r>
          </a:p>
          <a:p>
            <a:pPr>
              <a:spcBef>
                <a:spcPts val="600"/>
              </a:spcBef>
              <a:defRPr sz="1100">
                <a:solidFill>
                  <a:srgbClr val="0F172A"/>
                </a:solidFill>
                <a:latin typeface="Arial"/>
              </a:defRPr>
            </a:pPr>
            <a:r>
              <a:t>• Multi-station TLS or SLAM scans suffer inevitable registration offsets (1–10 cm).</a:t>
            </a:r>
            <a:br/>
            <a:r>
              <a:t>• Rigid distance thresholds interpret non-moving walls as pseudo-displacements, triggering catastrophic false alarm storms.</a:t>
            </a:r>
          </a:p>
        </p:txBody>
      </p:sp>
      <p:sp>
        <p:nvSpPr>
          <p:cNvPr id="5" name="Rounded Rectangle 4"/>
          <p:cNvSpPr/>
          <p:nvPr/>
        </p:nvSpPr>
        <p:spPr>
          <a:xfrm>
            <a:off x="6126480" y="1463040"/>
            <a:ext cx="5120640" cy="2103120"/>
          </a:xfrm>
          <a:prstGeom prst="roundRect">
            <a:avLst/>
          </a:prstGeom>
          <a:solidFill>
            <a:srgbClr val="F8FAFC"/>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E3A8A"/>
                </a:solidFill>
                <a:latin typeface="Arial"/>
              </a:defRPr>
            </a:pPr>
            <a:r>
              <a:t>2. Sensor Range &amp; Surface Noise</a:t>
            </a:r>
          </a:p>
          <a:p>
            <a:pPr>
              <a:spcBef>
                <a:spcPts val="600"/>
              </a:spcBef>
              <a:defRPr sz="1100">
                <a:solidFill>
                  <a:srgbClr val="0F172A"/>
                </a:solidFill>
                <a:latin typeface="Arial"/>
              </a:defRPr>
            </a:pPr>
            <a:r>
              <a:t>• Rough concrete, wet surfaces, dust, and incident angles scatter LiDAR beam returns.</a:t>
            </a:r>
            <a:br/>
            <a:r>
              <a:t>• Measurement scatter around true planar boundaries creates phantom thickness and false change margins.</a:t>
            </a:r>
          </a:p>
        </p:txBody>
      </p:sp>
      <p:sp>
        <p:nvSpPr>
          <p:cNvPr id="6" name="Rounded Rectangle 5"/>
          <p:cNvSpPr/>
          <p:nvPr/>
        </p:nvSpPr>
        <p:spPr>
          <a:xfrm>
            <a:off x="731520" y="3840480"/>
            <a:ext cx="5120640" cy="210312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2563EB"/>
                </a:solidFill>
                <a:latin typeface="Arial"/>
              </a:defRPr>
            </a:pPr>
            <a:r>
              <a:t>3. Point Cloud Sparsity &amp; Density Drops</a:t>
            </a:r>
          </a:p>
          <a:p>
            <a:pPr>
              <a:spcBef>
                <a:spcPts val="600"/>
              </a:spcBef>
              <a:defRPr sz="1100">
                <a:solidFill>
                  <a:srgbClr val="0F172A"/>
                </a:solidFill>
                <a:latin typeface="Arial"/>
              </a:defRPr>
            </a:pPr>
            <a:r>
              <a:t>• Mobile LiDAR scans exhibit steep $1/R^2$ density gradients with range.</a:t>
            </a:r>
            <a:br/>
            <a:r>
              <a:t>• Sparse returns inflate nearest-neighbor Euclidean gaps, exceeding fixed distance thresholds even on completely static geometry.</a:t>
            </a:r>
          </a:p>
        </p:txBody>
      </p:sp>
      <p:sp>
        <p:nvSpPr>
          <p:cNvPr id="7" name="Rounded Rectangle 6"/>
          <p:cNvSpPr/>
          <p:nvPr/>
        </p:nvSpPr>
        <p:spPr>
          <a:xfrm>
            <a:off x="6126480" y="3840480"/>
            <a:ext cx="5120640" cy="2103120"/>
          </a:xfrm>
          <a:prstGeom prst="roundRect">
            <a:avLst/>
          </a:prstGeom>
          <a:solidFill>
            <a:srgbClr val="F8FAFC"/>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DC2626"/>
                </a:solidFill>
                <a:latin typeface="Arial"/>
              </a:defRPr>
            </a:pPr>
            <a:r>
              <a:t>4. Occlusion &amp; Blind Spots</a:t>
            </a:r>
          </a:p>
          <a:p>
            <a:pPr>
              <a:spcBef>
                <a:spcPts val="600"/>
              </a:spcBef>
              <a:defRPr sz="1100">
                <a:solidFill>
                  <a:srgbClr val="0F172A"/>
                </a:solidFill>
                <a:latin typeface="Arial"/>
              </a:defRPr>
            </a:pPr>
            <a:r>
              <a:t>• Scaffolding, tower cranes, construction equipment, and temporary material piles block views.</a:t>
            </a:r>
            <a:br/>
            <a:r>
              <a:t>• Missing geometric support in one epoch falsely registers as physical demolition or removal.</a:t>
            </a:r>
          </a:p>
        </p:txBody>
      </p:sp>
      <p:sp>
        <p:nvSpPr>
          <p:cNvPr id="8" name="TextBox 7"/>
          <p:cNvSpPr txBox="1"/>
          <p:nvPr/>
        </p:nvSpPr>
        <p:spPr>
          <a:xfrm>
            <a:off x="731520" y="6446520"/>
            <a:ext cx="10698480" cy="274320"/>
          </a:xfrm>
          <a:prstGeom prst="rect">
            <a:avLst/>
          </a:prstGeom>
          <a:noFill/>
        </p:spPr>
        <p:txBody>
          <a:bodyPr wrap="none" lIns="0" tIns="0" rIns="0" bIns="0">
            <a:spAutoFit/>
          </a:bodyPr>
          <a:lstStyle/>
          <a:p>
            <a:pPr>
              <a:defRPr sz="1000">
                <a:solidFill>
                  <a:srgbClr val="475569"/>
                </a:solidFill>
                <a:latin typeface="Arial"/>
              </a:defRPr>
            </a:pPr>
            <a:r>
              <a:t>IIT Madras  •  Dept. of Civil Engineering  •  Computer Vision for Construction Engineering (CV5570)    |    Slide 2 of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CV5570 FINAL PRESENTATION  •  2 NOVEMBER 2026</a:t>
            </a:r>
          </a:p>
        </p:txBody>
      </p:sp>
      <p:sp>
        <p:nvSpPr>
          <p:cNvPr id="3" name="TextBox 2"/>
          <p:cNvSpPr txBox="1"/>
          <p:nvPr/>
        </p:nvSpPr>
        <p:spPr>
          <a:xfrm>
            <a:off x="731520" y="685800"/>
            <a:ext cx="10698480" cy="594360"/>
          </a:xfrm>
          <a:prstGeom prst="rect">
            <a:avLst/>
          </a:prstGeom>
          <a:noFill/>
        </p:spPr>
        <p:txBody>
          <a:bodyPr wrap="square" lIns="0" tIns="0" rIns="0" bIns="0">
            <a:spAutoFit/>
          </a:bodyPr>
          <a:lstStyle/>
          <a:p>
            <a:pPr>
              <a:defRPr sz="2400" b="1">
                <a:solidFill>
                  <a:srgbClr val="0F172A"/>
                </a:solidFill>
                <a:latin typeface="Arial"/>
              </a:defRPr>
            </a:pPr>
            <a:r>
              <a:t>Resolving the Ground Truth Dilemma: Midterm Review Pivot</a:t>
            </a:r>
          </a:p>
        </p:txBody>
      </p:sp>
      <p:sp>
        <p:nvSpPr>
          <p:cNvPr id="4" name="Rectangle 3"/>
          <p:cNvSpPr/>
          <p:nvPr/>
        </p:nvSpPr>
        <p:spPr>
          <a:xfrm>
            <a:off x="731520" y="1463040"/>
            <a:ext cx="5120640" cy="4572000"/>
          </a:xfrm>
          <a:prstGeom prst="rect">
            <a:avLst/>
          </a:prstGeom>
          <a:solidFill>
            <a:srgbClr val="F8FAFC"/>
          </a:solidFill>
          <a:ln w="1905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EA580C"/>
                </a:solidFill>
              </a:defRPr>
            </a:pPr>
            <a:r>
              <a:t>Initial Proposal: The ConSLAM Bottleneck</a:t>
            </a:r>
          </a:p>
          <a:p>
            <a:pPr>
              <a:spcBef>
                <a:spcPts val="800"/>
              </a:spcBef>
              <a:defRPr sz="1100">
                <a:solidFill>
                  <a:srgbClr val="0F172A"/>
                </a:solidFill>
              </a:defRPr>
            </a:pPr>
            <a:r>
              <a:t>• Initial Proposal formulated change detection on the ConSLAM dataset (Trzeciak et al., 2023).</a:t>
            </a:r>
            <a:br/>
            <a:br/>
            <a:r>
              <a:t>• The Fatal Blocker Encountered:</a:t>
            </a:r>
            <a:br/>
            <a:r>
              <a:t>  - ConSLAM is an autonomous mobile SLAM trajectory benchmark, NOT a change-detection benchmark!</a:t>
            </a:r>
            <a:br/>
            <a:r>
              <a:t>  - It carries ZERO per-point ground truth change labels (no 0/1 unchanged/changed masks).</a:t>
            </a:r>
            <a:br/>
            <a:r>
              <a:t>  - Mobile sweeps are taken seconds apart (e.g. 4.84 s), not across monthly construction cycles.</a:t>
            </a:r>
            <a:br/>
            <a:br/>
            <a:r>
              <a:t>• The Scientific Consequence:</a:t>
            </a:r>
            <a:br/>
            <a:r>
              <a:t>  - Without ground-truth point labels, one CANNOT compute Precision, Recall, F1-score, or IoU.</a:t>
            </a:r>
            <a:br/>
            <a:r>
              <a:t>  - Any claimed 'accuracy' on ConSLAM alone would be fabricated unverified conjecture.</a:t>
            </a:r>
          </a:p>
        </p:txBody>
      </p:sp>
      <p:sp>
        <p:nvSpPr>
          <p:cNvPr id="5" name="Rectangle 4"/>
          <p:cNvSpPr/>
          <p:nvPr/>
        </p:nvSpPr>
        <p:spPr>
          <a:xfrm>
            <a:off x="6217920" y="1463040"/>
            <a:ext cx="5212080" cy="4572000"/>
          </a:xfrm>
          <a:prstGeom prst="rect">
            <a:avLst/>
          </a:prstGeom>
          <a:solidFill>
            <a:srgbClr val="F8FAFC"/>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0F766E"/>
                </a:solidFill>
              </a:defRPr>
            </a:pPr>
            <a:r>
              <a:t>Midterm Pivot: MultiChange3D Construction Scene</a:t>
            </a:r>
          </a:p>
          <a:p>
            <a:pPr>
              <a:spcBef>
                <a:spcPts val="800"/>
              </a:spcBef>
              <a:defRPr sz="1100">
                <a:solidFill>
                  <a:srgbClr val="0F172A"/>
                </a:solidFill>
              </a:defRPr>
            </a:pPr>
            <a:r>
              <a:t>• Adopted MultiChange3D (ETH Zurich &amp; FBK, ISPRS 2026):</a:t>
            </a:r>
            <a:br/>
            <a:r>
              <a:t>  - Dedicated 'Bike Parking Construction' Mobile Laser Scanning (MLS) site.</a:t>
            </a:r>
            <a:br/>
            <a:r>
              <a:t>  - 4 distinct construction epochs, yielding 6 temporal directional pairs.</a:t>
            </a:r>
            <a:br/>
            <a:r>
              <a:t>  - ~5 million points per scan with certified per-point ground truth (cd_type: 0/1).</a:t>
            </a:r>
            <a:br/>
            <a:br/>
            <a:r>
              <a:t>• The Unified Dual-Dataset Protocol:</a:t>
            </a:r>
            <a:br/>
            <a:r>
              <a:t>  1. MultiChange3D (Quantitative Engine):</a:t>
            </a:r>
            <a:br/>
            <a:r>
              <a:t>     - Benchmark C2C, M3C2, and Deep Learning with rigorous F1 and IoU metrics across 318 controlled degradation conditions.</a:t>
            </a:r>
            <a:br/>
            <a:r>
              <a:t>  2. ConSLAM Sequence 3 (Qualitative Field Inspection):</a:t>
            </a:r>
            <a:br/>
            <a:r>
              <a:t>     - Apply models to mobile handheld LiDAR and 104M-point TLS reference for real-world site visual inspection.</a:t>
            </a:r>
          </a:p>
        </p:txBody>
      </p:sp>
      <p:sp>
        <p:nvSpPr>
          <p:cNvPr id="6" name="TextBox 5"/>
          <p:cNvSpPr txBox="1"/>
          <p:nvPr/>
        </p:nvSpPr>
        <p:spPr>
          <a:xfrm>
            <a:off x="731520" y="6446520"/>
            <a:ext cx="10698480" cy="274320"/>
          </a:xfrm>
          <a:prstGeom prst="rect">
            <a:avLst/>
          </a:prstGeom>
          <a:noFill/>
        </p:spPr>
        <p:txBody>
          <a:bodyPr wrap="none" lIns="0" tIns="0" rIns="0" bIns="0">
            <a:spAutoFit/>
          </a:bodyPr>
          <a:lstStyle/>
          <a:p>
            <a:pPr>
              <a:defRPr sz="1000">
                <a:solidFill>
                  <a:srgbClr val="475569"/>
                </a:solidFill>
                <a:latin typeface="Arial"/>
              </a:defRPr>
            </a:pPr>
            <a:r>
              <a:t>IIT Madras  •  Dept. of Civil Engineering  •  Computer Vision for Construction Engineering (CV5570)    |    Slide 3 of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CV5570 FINAL PRESENTATION  •  2 NOVEMBER 2026</a:t>
            </a:r>
          </a:p>
        </p:txBody>
      </p:sp>
      <p:sp>
        <p:nvSpPr>
          <p:cNvPr id="3" name="TextBox 2"/>
          <p:cNvSpPr txBox="1"/>
          <p:nvPr/>
        </p:nvSpPr>
        <p:spPr>
          <a:xfrm>
            <a:off x="731520" y="685800"/>
            <a:ext cx="10698480" cy="594360"/>
          </a:xfrm>
          <a:prstGeom prst="rect">
            <a:avLst/>
          </a:prstGeom>
          <a:noFill/>
        </p:spPr>
        <p:txBody>
          <a:bodyPr wrap="square" lIns="0" tIns="0" rIns="0" bIns="0">
            <a:spAutoFit/>
          </a:bodyPr>
          <a:lstStyle/>
          <a:p>
            <a:pPr>
              <a:defRPr sz="2400" b="1">
                <a:solidFill>
                  <a:srgbClr val="0F172A"/>
                </a:solidFill>
                <a:latin typeface="Arial"/>
              </a:defRPr>
            </a:pPr>
            <a:r>
              <a:t>Problem Formulation: Directional Multi-Epoch Change</a:t>
            </a:r>
          </a:p>
        </p:txBody>
      </p:sp>
      <p:graphicFrame>
        <p:nvGraphicFramePr>
          <p:cNvPr id="4" name="Table 3"/>
          <p:cNvGraphicFramePr>
            <a:graphicFrameLocks noGrp="1"/>
          </p:cNvGraphicFramePr>
          <p:nvPr/>
        </p:nvGraphicFramePr>
        <p:xfrm>
          <a:off x="731520" y="1463040"/>
          <a:ext cx="6217920" cy="2926080"/>
        </p:xfrm>
        <a:graphic>
          <a:graphicData uri="http://schemas.openxmlformats.org/drawingml/2006/table">
            <a:tbl>
              <a:tblPr firstRow="1" bandRow="1">
                <a:tableStyleId>{5C22544A-7EE6-4342-B048-85BDC9FD1C3A}</a:tableStyleId>
              </a:tblPr>
              <a:tblGrid>
                <a:gridCol w="1097280"/>
                <a:gridCol w="1645920"/>
                <a:gridCol w="1645920"/>
                <a:gridCol w="1828800"/>
              </a:tblGrid>
              <a:tr h="418011">
                <a:tc>
                  <a:txBody>
                    <a:bodyPr/>
                    <a:lstStyle/>
                    <a:p>
                      <a:pPr>
                        <a:defRPr sz="1000" b="1">
                          <a:solidFill>
                            <a:srgbClr val="FFFFFF"/>
                          </a:solidFill>
                          <a:latin typeface="Arial"/>
                        </a:defRPr>
                      </a:pPr>
                      <a:r>
                        <a:t>Pair</a:t>
                      </a:r>
                    </a:p>
                  </a:txBody>
                  <a:tcPr>
                    <a:solidFill>
                      <a:srgbClr val="1E3A8A"/>
                    </a:solidFill>
                  </a:tcPr>
                </a:tc>
                <a:tc>
                  <a:txBody>
                    <a:bodyPr/>
                    <a:lstStyle/>
                    <a:p>
                      <a:pPr>
                        <a:defRPr sz="1000" b="1">
                          <a:solidFill>
                            <a:srgbClr val="FFFFFF"/>
                          </a:solidFill>
                          <a:latin typeface="Arial"/>
                        </a:defRPr>
                      </a:pPr>
                      <a:r>
                        <a:t>Scan 0 (Earlier)</a:t>
                      </a:r>
                    </a:p>
                  </a:txBody>
                  <a:tcPr>
                    <a:solidFill>
                      <a:srgbClr val="1E3A8A"/>
                    </a:solidFill>
                  </a:tcPr>
                </a:tc>
                <a:tc>
                  <a:txBody>
                    <a:bodyPr/>
                    <a:lstStyle/>
                    <a:p>
                      <a:pPr>
                        <a:defRPr sz="1000" b="1">
                          <a:solidFill>
                            <a:srgbClr val="FFFFFF"/>
                          </a:solidFill>
                          <a:latin typeface="Arial"/>
                        </a:defRPr>
                      </a:pPr>
                      <a:r>
                        <a:t>Scan 1 (Later)</a:t>
                      </a:r>
                    </a:p>
                  </a:txBody>
                  <a:tcPr>
                    <a:solidFill>
                      <a:srgbClr val="1E3A8A"/>
                    </a:solidFill>
                  </a:tcPr>
                </a:tc>
                <a:tc>
                  <a:txBody>
                    <a:bodyPr/>
                    <a:lstStyle/>
                    <a:p>
                      <a:pPr>
                        <a:defRPr sz="1000" b="1">
                          <a:solidFill>
                            <a:srgbClr val="FFFFFF"/>
                          </a:solidFill>
                          <a:latin typeface="Arial"/>
                        </a:defRPr>
                      </a:pPr>
                      <a:r>
                        <a:t>Physical Semantics</a:t>
                      </a:r>
                    </a:p>
                  </a:txBody>
                  <a:tcPr>
                    <a:solidFill>
                      <a:srgbClr val="1E3A8A"/>
                    </a:solidFill>
                  </a:tcPr>
                </a:tc>
              </a:tr>
              <a:tr h="418011">
                <a:tc>
                  <a:txBody>
                    <a:bodyPr/>
                    <a:lstStyle/>
                    <a:p>
                      <a:pPr>
                        <a:defRPr sz="950">
                          <a:solidFill>
                            <a:srgbClr val="0F172A"/>
                          </a:solidFill>
                          <a:latin typeface="Arial"/>
                        </a:defRPr>
                      </a:pPr>
                      <a:r>
                        <a:t>Pair 01</a:t>
                      </a:r>
                    </a:p>
                  </a:txBody>
                  <a:tcPr>
                    <a:solidFill>
                      <a:srgbClr val="FFFFFF"/>
                    </a:solidFill>
                  </a:tcPr>
                </a:tc>
                <a:tc>
                  <a:txBody>
                    <a:bodyPr/>
                    <a:lstStyle/>
                    <a:p>
                      <a:pPr>
                        <a:defRPr sz="950">
                          <a:solidFill>
                            <a:srgbClr val="0F172A"/>
                          </a:solidFill>
                          <a:latin typeface="Arial"/>
                        </a:defRPr>
                      </a:pPr>
                      <a:r>
                        <a:t>4,444,935 pts (Ep 0)</a:t>
                      </a:r>
                    </a:p>
                  </a:txBody>
                  <a:tcPr>
                    <a:solidFill>
                      <a:srgbClr val="FFFFFF"/>
                    </a:solidFill>
                  </a:tcPr>
                </a:tc>
                <a:tc>
                  <a:txBody>
                    <a:bodyPr/>
                    <a:lstStyle/>
                    <a:p>
                      <a:pPr>
                        <a:defRPr sz="950">
                          <a:solidFill>
                            <a:srgbClr val="0F172A"/>
                          </a:solidFill>
                          <a:latin typeface="Arial"/>
                        </a:defRPr>
                      </a:pPr>
                      <a:r>
                        <a:t>5,089,793 pts (Ep 1)</a:t>
                      </a:r>
                    </a:p>
                  </a:txBody>
                  <a:tcPr>
                    <a:solidFill>
                      <a:srgbClr val="FFFFFF"/>
                    </a:solidFill>
                  </a:tcPr>
                </a:tc>
                <a:tc>
                  <a:txBody>
                    <a:bodyPr/>
                    <a:lstStyle/>
                    <a:p>
                      <a:pPr>
                        <a:defRPr sz="950">
                          <a:solidFill>
                            <a:srgbClr val="0F172A"/>
                          </a:solidFill>
                          <a:latin typeface="Arial"/>
                        </a:defRPr>
                      </a:pPr>
                      <a:r>
                        <a:t>Initial earthwork &amp; slab prep</a:t>
                      </a:r>
                    </a:p>
                  </a:txBody>
                  <a:tcPr>
                    <a:solidFill>
                      <a:srgbClr val="FFFFFF"/>
                    </a:solidFill>
                  </a:tcPr>
                </a:tc>
              </a:tr>
              <a:tr h="418011">
                <a:tc>
                  <a:txBody>
                    <a:bodyPr/>
                    <a:lstStyle/>
                    <a:p>
                      <a:pPr>
                        <a:defRPr sz="950">
                          <a:solidFill>
                            <a:srgbClr val="0F172A"/>
                          </a:solidFill>
                          <a:latin typeface="Arial"/>
                        </a:defRPr>
                      </a:pPr>
                      <a:r>
                        <a:t>Pair 02</a:t>
                      </a:r>
                    </a:p>
                  </a:txBody>
                  <a:tcPr>
                    <a:solidFill>
                      <a:srgbClr val="F8FAFC"/>
                    </a:solidFill>
                  </a:tcPr>
                </a:tc>
                <a:tc>
                  <a:txBody>
                    <a:bodyPr/>
                    <a:lstStyle/>
                    <a:p>
                      <a:pPr>
                        <a:defRPr sz="950">
                          <a:solidFill>
                            <a:srgbClr val="0F172A"/>
                          </a:solidFill>
                          <a:latin typeface="Arial"/>
                        </a:defRPr>
                      </a:pPr>
                      <a:r>
                        <a:t>4,444,937 pts (Ep 0)</a:t>
                      </a:r>
                    </a:p>
                  </a:txBody>
                  <a:tcPr>
                    <a:solidFill>
                      <a:srgbClr val="F8FAFC"/>
                    </a:solidFill>
                  </a:tcPr>
                </a:tc>
                <a:tc>
                  <a:txBody>
                    <a:bodyPr/>
                    <a:lstStyle/>
                    <a:p>
                      <a:pPr>
                        <a:defRPr sz="950">
                          <a:solidFill>
                            <a:srgbClr val="0F172A"/>
                          </a:solidFill>
                          <a:latin typeface="Arial"/>
                        </a:defRPr>
                      </a:pPr>
                      <a:r>
                        <a:t>3,489,321 pts (Ep 2)</a:t>
                      </a:r>
                    </a:p>
                  </a:txBody>
                  <a:tcPr>
                    <a:solidFill>
                      <a:srgbClr val="F8FAFC"/>
                    </a:solidFill>
                  </a:tcPr>
                </a:tc>
                <a:tc>
                  <a:txBody>
                    <a:bodyPr/>
                    <a:lstStyle/>
                    <a:p>
                      <a:pPr>
                        <a:defRPr sz="950">
                          <a:solidFill>
                            <a:srgbClr val="0F172A"/>
                          </a:solidFill>
                          <a:latin typeface="Arial"/>
                        </a:defRPr>
                      </a:pPr>
                      <a:r>
                        <a:t>Framing &amp; structural erect</a:t>
                      </a:r>
                    </a:p>
                  </a:txBody>
                  <a:tcPr>
                    <a:solidFill>
                      <a:srgbClr val="F8FAFC"/>
                    </a:solidFill>
                  </a:tcPr>
                </a:tc>
              </a:tr>
              <a:tr h="418011">
                <a:tc>
                  <a:txBody>
                    <a:bodyPr/>
                    <a:lstStyle/>
                    <a:p>
                      <a:pPr>
                        <a:defRPr sz="950">
                          <a:solidFill>
                            <a:srgbClr val="0F172A"/>
                          </a:solidFill>
                          <a:latin typeface="Arial"/>
                        </a:defRPr>
                      </a:pPr>
                      <a:r>
                        <a:t>Pair 03</a:t>
                      </a:r>
                    </a:p>
                  </a:txBody>
                  <a:tcPr>
                    <a:solidFill>
                      <a:srgbClr val="FFFFFF"/>
                    </a:solidFill>
                  </a:tcPr>
                </a:tc>
                <a:tc>
                  <a:txBody>
                    <a:bodyPr/>
                    <a:lstStyle/>
                    <a:p>
                      <a:pPr>
                        <a:defRPr sz="950">
                          <a:solidFill>
                            <a:srgbClr val="0F172A"/>
                          </a:solidFill>
                          <a:latin typeface="Arial"/>
                        </a:defRPr>
                      </a:pPr>
                      <a:r>
                        <a:t>4,444,938 pts (Ep 0)</a:t>
                      </a:r>
                    </a:p>
                  </a:txBody>
                  <a:tcPr>
                    <a:solidFill>
                      <a:srgbClr val="FFFFFF"/>
                    </a:solidFill>
                  </a:tcPr>
                </a:tc>
                <a:tc>
                  <a:txBody>
                    <a:bodyPr/>
                    <a:lstStyle/>
                    <a:p>
                      <a:pPr>
                        <a:defRPr sz="950">
                          <a:solidFill>
                            <a:srgbClr val="0F172A"/>
                          </a:solidFill>
                          <a:latin typeface="Arial"/>
                        </a:defRPr>
                      </a:pPr>
                      <a:r>
                        <a:t>3,787,860 pts (Ep 3)</a:t>
                      </a:r>
                    </a:p>
                  </a:txBody>
                  <a:tcPr>
                    <a:solidFill>
                      <a:srgbClr val="FFFFFF"/>
                    </a:solidFill>
                  </a:tcPr>
                </a:tc>
                <a:tc>
                  <a:txBody>
                    <a:bodyPr/>
                    <a:lstStyle/>
                    <a:p>
                      <a:pPr>
                        <a:defRPr sz="950">
                          <a:solidFill>
                            <a:srgbClr val="0F172A"/>
                          </a:solidFill>
                          <a:latin typeface="Arial"/>
                        </a:defRPr>
                      </a:pPr>
                      <a:r>
                        <a:t>Roof canopy completion</a:t>
                      </a:r>
                    </a:p>
                  </a:txBody>
                  <a:tcPr>
                    <a:solidFill>
                      <a:srgbClr val="FFFFFF"/>
                    </a:solidFill>
                  </a:tcPr>
                </a:tc>
              </a:tr>
              <a:tr h="418011">
                <a:tc>
                  <a:txBody>
                    <a:bodyPr/>
                    <a:lstStyle/>
                    <a:p>
                      <a:pPr>
                        <a:defRPr sz="950">
                          <a:solidFill>
                            <a:srgbClr val="0F172A"/>
                          </a:solidFill>
                          <a:latin typeface="Arial"/>
                        </a:defRPr>
                      </a:pPr>
                      <a:r>
                        <a:t>Pair 12</a:t>
                      </a:r>
                    </a:p>
                  </a:txBody>
                  <a:tcPr>
                    <a:solidFill>
                      <a:srgbClr val="F8FAFC"/>
                    </a:solidFill>
                  </a:tcPr>
                </a:tc>
                <a:tc>
                  <a:txBody>
                    <a:bodyPr/>
                    <a:lstStyle/>
                    <a:p>
                      <a:pPr>
                        <a:defRPr sz="950">
                          <a:solidFill>
                            <a:srgbClr val="0F172A"/>
                          </a:solidFill>
                          <a:latin typeface="Arial"/>
                        </a:defRPr>
                      </a:pPr>
                      <a:r>
                        <a:t>5,089,793 pts (Ep 1)</a:t>
                      </a:r>
                    </a:p>
                  </a:txBody>
                  <a:tcPr>
                    <a:solidFill>
                      <a:srgbClr val="F8FAFC"/>
                    </a:solidFill>
                  </a:tcPr>
                </a:tc>
                <a:tc>
                  <a:txBody>
                    <a:bodyPr/>
                    <a:lstStyle/>
                    <a:p>
                      <a:pPr>
                        <a:defRPr sz="950">
                          <a:solidFill>
                            <a:srgbClr val="0F172A"/>
                          </a:solidFill>
                          <a:latin typeface="Arial"/>
                        </a:defRPr>
                      </a:pPr>
                      <a:r>
                        <a:t>3,489,322 pts (Ep 2)</a:t>
                      </a:r>
                    </a:p>
                  </a:txBody>
                  <a:tcPr>
                    <a:solidFill>
                      <a:srgbClr val="F8FAFC"/>
                    </a:solidFill>
                  </a:tcPr>
                </a:tc>
                <a:tc>
                  <a:txBody>
                    <a:bodyPr/>
                    <a:lstStyle/>
                    <a:p>
                      <a:pPr>
                        <a:defRPr sz="950">
                          <a:solidFill>
                            <a:srgbClr val="0F172A"/>
                          </a:solidFill>
                          <a:latin typeface="Arial"/>
                        </a:defRPr>
                      </a:pPr>
                      <a:r>
                        <a:t>Formwork stripping &amp; steelwork</a:t>
                      </a:r>
                    </a:p>
                  </a:txBody>
                  <a:tcPr>
                    <a:solidFill>
                      <a:srgbClr val="F8FAFC"/>
                    </a:solidFill>
                  </a:tcPr>
                </a:tc>
              </a:tr>
              <a:tr h="418011">
                <a:tc>
                  <a:txBody>
                    <a:bodyPr/>
                    <a:lstStyle/>
                    <a:p>
                      <a:pPr>
                        <a:defRPr sz="950">
                          <a:solidFill>
                            <a:srgbClr val="0F172A"/>
                          </a:solidFill>
                          <a:latin typeface="Arial"/>
                        </a:defRPr>
                      </a:pPr>
                      <a:r>
                        <a:t>Pair 13</a:t>
                      </a:r>
                    </a:p>
                  </a:txBody>
                  <a:tcPr>
                    <a:solidFill>
                      <a:srgbClr val="FFFFFF"/>
                    </a:solidFill>
                  </a:tcPr>
                </a:tc>
                <a:tc>
                  <a:txBody>
                    <a:bodyPr/>
                    <a:lstStyle/>
                    <a:p>
                      <a:pPr>
                        <a:defRPr sz="950">
                          <a:solidFill>
                            <a:srgbClr val="0F172A"/>
                          </a:solidFill>
                          <a:latin typeface="Arial"/>
                        </a:defRPr>
                      </a:pPr>
                      <a:r>
                        <a:t>5,089,793 pts (Ep 1)</a:t>
                      </a:r>
                    </a:p>
                  </a:txBody>
                  <a:tcPr>
                    <a:solidFill>
                      <a:srgbClr val="FFFFFF"/>
                    </a:solidFill>
                  </a:tcPr>
                </a:tc>
                <a:tc>
                  <a:txBody>
                    <a:bodyPr/>
                    <a:lstStyle/>
                    <a:p>
                      <a:pPr>
                        <a:defRPr sz="950">
                          <a:solidFill>
                            <a:srgbClr val="0F172A"/>
                          </a:solidFill>
                          <a:latin typeface="Arial"/>
                        </a:defRPr>
                      </a:pPr>
                      <a:r>
                        <a:t>3,787,860 pts (Ep 3)</a:t>
                      </a:r>
                    </a:p>
                  </a:txBody>
                  <a:tcPr>
                    <a:solidFill>
                      <a:srgbClr val="FFFFFF"/>
                    </a:solidFill>
                  </a:tcPr>
                </a:tc>
                <a:tc>
                  <a:txBody>
                    <a:bodyPr/>
                    <a:lstStyle/>
                    <a:p>
                      <a:pPr>
                        <a:defRPr sz="950">
                          <a:solidFill>
                            <a:srgbClr val="0F172A"/>
                          </a:solidFill>
                          <a:latin typeface="Arial"/>
                        </a:defRPr>
                      </a:pPr>
                      <a:r>
                        <a:t>Mid-to-final superstructure</a:t>
                      </a:r>
                    </a:p>
                  </a:txBody>
                  <a:tcPr>
                    <a:solidFill>
                      <a:srgbClr val="FFFFFF"/>
                    </a:solidFill>
                  </a:tcPr>
                </a:tc>
              </a:tr>
              <a:tr h="418014">
                <a:tc>
                  <a:txBody>
                    <a:bodyPr/>
                    <a:lstStyle/>
                    <a:p>
                      <a:pPr>
                        <a:defRPr sz="950">
                          <a:solidFill>
                            <a:srgbClr val="0F172A"/>
                          </a:solidFill>
                          <a:latin typeface="Arial"/>
                        </a:defRPr>
                      </a:pPr>
                      <a:r>
                        <a:t>Pair 23</a:t>
                      </a:r>
                    </a:p>
                  </a:txBody>
                  <a:tcPr>
                    <a:solidFill>
                      <a:srgbClr val="F8FAFC"/>
                    </a:solidFill>
                  </a:tcPr>
                </a:tc>
                <a:tc>
                  <a:txBody>
                    <a:bodyPr/>
                    <a:lstStyle/>
                    <a:p>
                      <a:pPr>
                        <a:defRPr sz="950">
                          <a:solidFill>
                            <a:srgbClr val="0F172A"/>
                          </a:solidFill>
                          <a:latin typeface="Arial"/>
                        </a:defRPr>
                      </a:pPr>
                      <a:r>
                        <a:t>3,489,322 pts (Ep 2)</a:t>
                      </a:r>
                    </a:p>
                  </a:txBody>
                  <a:tcPr>
                    <a:solidFill>
                      <a:srgbClr val="F8FAFC"/>
                    </a:solidFill>
                  </a:tcPr>
                </a:tc>
                <a:tc>
                  <a:txBody>
                    <a:bodyPr/>
                    <a:lstStyle/>
                    <a:p>
                      <a:pPr>
                        <a:defRPr sz="950">
                          <a:solidFill>
                            <a:srgbClr val="0F172A"/>
                          </a:solidFill>
                          <a:latin typeface="Arial"/>
                        </a:defRPr>
                      </a:pPr>
                      <a:r>
                        <a:t>3,787,872 pts (Ep 3)</a:t>
                      </a:r>
                    </a:p>
                  </a:txBody>
                  <a:tcPr>
                    <a:solidFill>
                      <a:srgbClr val="F8FAFC"/>
                    </a:solidFill>
                  </a:tcPr>
                </a:tc>
                <a:tc>
                  <a:txBody>
                    <a:bodyPr/>
                    <a:lstStyle/>
                    <a:p>
                      <a:pPr>
                        <a:defRPr sz="950">
                          <a:solidFill>
                            <a:srgbClr val="0F172A"/>
                          </a:solidFill>
                          <a:latin typeface="Arial"/>
                        </a:defRPr>
                      </a:pPr>
                      <a:r>
                        <a:t>Final architectural finishes</a:t>
                      </a:r>
                    </a:p>
                  </a:txBody>
                  <a:tcPr>
                    <a:solidFill>
                      <a:srgbClr val="F8FAFC"/>
                    </a:solidFill>
                  </a:tcPr>
                </a:tc>
              </a:tr>
            </a:tbl>
          </a:graphicData>
        </a:graphic>
      </p:graphicFrame>
      <p:sp>
        <p:nvSpPr>
          <p:cNvPr id="5" name="Rounded Rectangle 4"/>
          <p:cNvSpPr/>
          <p:nvPr/>
        </p:nvSpPr>
        <p:spPr>
          <a:xfrm>
            <a:off x="7223760" y="1463040"/>
            <a:ext cx="4206240" cy="457200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2563EB"/>
                </a:solidFill>
              </a:defRPr>
            </a:pPr>
            <a:r>
              <a:t>Directional Binary Change Semantics</a:t>
            </a:r>
          </a:p>
          <a:p>
            <a:pPr>
              <a:spcBef>
                <a:spcPts val="800"/>
              </a:spcBef>
              <a:defRPr sz="1050">
                <a:solidFill>
                  <a:srgbClr val="0F172A"/>
                </a:solidFill>
              </a:defRPr>
            </a:pPr>
            <a:r>
              <a:t>• Scan 0 Point with cd_type = 1:</a:t>
            </a:r>
            <a:br/>
            <a:r>
              <a:t>  -&gt; Candidate Removal (Demolition, earth excavation, scaffolding or formwork dismantling).</a:t>
            </a:r>
            <a:br/>
            <a:br/>
            <a:r>
              <a:t>• Scan 1 Point with cd_type = 1:</a:t>
            </a:r>
            <a:br/>
            <a:r>
              <a:t>  -&gt; Candidate Addition (Newly poured concrete columns, erected steel beams, roof panels).</a:t>
            </a:r>
            <a:br/>
            <a:br/>
            <a:r>
              <a:t>• Either Scan with cd_type = 0:</a:t>
            </a:r>
            <a:br/>
            <a:r>
              <a:t>  -&gt; Unchanged static geometry (surrounding pavement, boundary walls, existing buildings).</a:t>
            </a:r>
            <a:br/>
            <a:br/>
            <a:r>
              <a:t>• Spatial Sampling Strategy:</a:t>
            </a:r>
            <a:br/>
            <a:r>
              <a:t>  - Full 5M-point clouds provide complete geometric search support.</a:t>
            </a:r>
            <a:br/>
            <a:r>
              <a:t>  - Evaluation performed on balanced spatial core queries to prevent dense ground points from biasing performance.</a:t>
            </a:r>
          </a:p>
        </p:txBody>
      </p:sp>
      <p:sp>
        <p:nvSpPr>
          <p:cNvPr id="6" name="Rectangle 5"/>
          <p:cNvSpPr/>
          <p:nvPr/>
        </p:nvSpPr>
        <p:spPr>
          <a:xfrm>
            <a:off x="731520" y="4663440"/>
            <a:ext cx="6217920" cy="137160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Comprehensive 6-Pair Multi-Temporal Coverage</a:t>
            </a:r>
          </a:p>
          <a:p>
            <a:pPr>
              <a:spcBef>
                <a:spcPts val="400"/>
              </a:spcBef>
              <a:defRPr sz="1000">
                <a:solidFill>
                  <a:srgbClr val="475569"/>
                </a:solidFill>
              </a:defRPr>
            </a:pPr>
            <a:r>
              <a:t>Unlike prior preliminary work limited to Pair 01, our completed project evaluates ALL SIX pairs simultaneously, capturing short-term, medium-term, and full-project construction transitions across the complete site life cycle.</a:t>
            </a:r>
          </a:p>
        </p:txBody>
      </p:sp>
      <p:sp>
        <p:nvSpPr>
          <p:cNvPr id="7" name="TextBox 6"/>
          <p:cNvSpPr txBox="1"/>
          <p:nvPr/>
        </p:nvSpPr>
        <p:spPr>
          <a:xfrm>
            <a:off x="731520" y="6446520"/>
            <a:ext cx="10698480" cy="274320"/>
          </a:xfrm>
          <a:prstGeom prst="rect">
            <a:avLst/>
          </a:prstGeom>
          <a:noFill/>
        </p:spPr>
        <p:txBody>
          <a:bodyPr wrap="none" lIns="0" tIns="0" rIns="0" bIns="0">
            <a:spAutoFit/>
          </a:bodyPr>
          <a:lstStyle/>
          <a:p>
            <a:pPr>
              <a:defRPr sz="1000">
                <a:solidFill>
                  <a:srgbClr val="475569"/>
                </a:solidFill>
                <a:latin typeface="Arial"/>
              </a:defRPr>
            </a:pPr>
            <a:r>
              <a:t>IIT Madras  •  Dept. of Civil Engineering  •  Computer Vision for Construction Engineering (CV5570)    |    Slide 4 of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CV5570 FINAL PRESENTATION  •  2 NOVEMBER 2026</a:t>
            </a:r>
          </a:p>
        </p:txBody>
      </p:sp>
      <p:sp>
        <p:nvSpPr>
          <p:cNvPr id="3" name="TextBox 2"/>
          <p:cNvSpPr txBox="1"/>
          <p:nvPr/>
        </p:nvSpPr>
        <p:spPr>
          <a:xfrm>
            <a:off x="731520" y="685800"/>
            <a:ext cx="10698480" cy="594360"/>
          </a:xfrm>
          <a:prstGeom prst="rect">
            <a:avLst/>
          </a:prstGeom>
          <a:noFill/>
        </p:spPr>
        <p:txBody>
          <a:bodyPr wrap="square" lIns="0" tIns="0" rIns="0" bIns="0">
            <a:spAutoFit/>
          </a:bodyPr>
          <a:lstStyle/>
          <a:p>
            <a:pPr>
              <a:defRPr sz="2400" b="1">
                <a:solidFill>
                  <a:srgbClr val="0F172A"/>
                </a:solidFill>
                <a:latin typeface="Arial"/>
              </a:defRPr>
            </a:pPr>
            <a:r>
              <a:t>Methodology: Comparing Three Detection Paradigms</a:t>
            </a:r>
          </a:p>
        </p:txBody>
      </p:sp>
      <p:sp>
        <p:nvSpPr>
          <p:cNvPr id="4" name="Rounded Rectangle 3"/>
          <p:cNvSpPr/>
          <p:nvPr/>
        </p:nvSpPr>
        <p:spPr>
          <a:xfrm>
            <a:off x="731520" y="1463040"/>
            <a:ext cx="3429000" cy="457200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2563EB"/>
                </a:solidFill>
              </a:defRPr>
            </a:pPr>
            <a:r>
              <a:t>1. Cloud-to-Cloud (C2C)</a:t>
            </a:r>
          </a:p>
          <a:p>
            <a:pPr>
              <a:spcBef>
                <a:spcPts val="800"/>
              </a:spcBef>
              <a:defRPr sz="1000">
                <a:solidFill>
                  <a:srgbClr val="0F172A"/>
                </a:solidFill>
              </a:defRPr>
            </a:pPr>
            <a:r>
              <a:t>• Nearest Neighbor Distance:</a:t>
            </a:r>
            <a:br/>
            <a:r>
              <a:t>  $d_i = \min_{j} \|p_i - q_j\|_2$</a:t>
            </a:r>
            <a:br/>
            <a:r>
              <a:t>• Binary Decision:</a:t>
            </a:r>
            <a:br/>
            <a:r>
              <a:t>  Flagged as Changed if $d_i &gt; \tau = 0.075$ m (7.5 cm).</a:t>
            </a:r>
            <a:br/>
            <a:br/>
            <a:r>
              <a:t>• Strengths: Fast, simple kd-tree lookups; zero normal estimation needed.</a:t>
            </a:r>
            <a:br/>
            <a:r>
              <a:t>• Critical Weakness: Extremely sensitive to global registration shifts and sparse point density. Any offset &gt;7.5 cm causes massive false alarms.</a:t>
            </a:r>
          </a:p>
        </p:txBody>
      </p:sp>
      <p:sp>
        <p:nvSpPr>
          <p:cNvPr id="5" name="Rounded Rectangle 4"/>
          <p:cNvSpPr/>
          <p:nvPr/>
        </p:nvSpPr>
        <p:spPr>
          <a:xfrm>
            <a:off x="4343400" y="1463040"/>
            <a:ext cx="3429000" cy="4572000"/>
          </a:xfrm>
          <a:prstGeom prst="roundRect">
            <a:avLst/>
          </a:prstGeom>
          <a:solidFill>
            <a:srgbClr val="F8FAFC"/>
          </a:solidFill>
          <a:ln w="1905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A580C"/>
                </a:solidFill>
              </a:defRPr>
            </a:pPr>
            <a:r>
              <a:t>2. Multiscale M3C2-Style</a:t>
            </a:r>
          </a:p>
          <a:p>
            <a:pPr>
              <a:spcBef>
                <a:spcPts val="800"/>
              </a:spcBef>
              <a:defRPr sz="1000">
                <a:solidFill>
                  <a:srgbClr val="0F172A"/>
                </a:solidFill>
              </a:defRPr>
            </a:pPr>
            <a:r>
              <a:t>• Local Surface Normal Cylinders:</a:t>
            </a:r>
            <a:br/>
            <a:r>
              <a:t>  Normals estimated via PCA ($r=10, 20, 40$ cm).</a:t>
            </a:r>
            <a:br/>
            <a:r>
              <a:t>• Cylinder Projection:</a:t>
            </a:r>
            <a:br/>
            <a:r>
              <a:t>  Projects points into a cylinder of radius $r=10$ cm, half-length $L=1$ m along the normal.</a:t>
            </a:r>
            <a:br/>
            <a:r>
              <a:t>• 95% Confidence Limit of Detection (LoD95):</a:t>
            </a:r>
            <a:br/>
            <a:r>
              <a:t>  Detects change only if distance exceeds registration &amp; roughness bounds.</a:t>
            </a:r>
            <a:br/>
            <a:br/>
            <a:r>
              <a:t>• Abstention Mechanism: Explicitly flags points as Unknown if fewer than 10 points lie in the cylinder.</a:t>
            </a:r>
          </a:p>
        </p:txBody>
      </p:sp>
      <p:sp>
        <p:nvSpPr>
          <p:cNvPr id="6" name="Rounded Rectangle 5"/>
          <p:cNvSpPr/>
          <p:nvPr/>
        </p:nvSpPr>
        <p:spPr>
          <a:xfrm>
            <a:off x="7955280" y="1463040"/>
            <a:ext cx="3429000" cy="4572000"/>
          </a:xfrm>
          <a:prstGeom prst="roundRect">
            <a:avLst/>
          </a:prstGeom>
          <a:solidFill>
            <a:srgbClr val="F8FAFC"/>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0F766E"/>
                </a:solidFill>
              </a:defRPr>
            </a:pPr>
            <a:r>
              <a:t>3. V2 Multiscale Deep Learning</a:t>
            </a:r>
          </a:p>
          <a:p>
            <a:pPr>
              <a:spcBef>
                <a:spcPts val="800"/>
              </a:spcBef>
              <a:defRPr sz="1000">
                <a:solidFill>
                  <a:srgbClr val="0F172A"/>
                </a:solidFill>
              </a:defRPr>
            </a:pPr>
            <a:r>
              <a:t>• Deep Siamese Point Network:</a:t>
            </a:r>
            <a:br/>
            <a:r>
              <a:t>  Shared PointNet-style MLP ($3 \to 32 \to 64 \to 128$) extracting paired spatial geometry.</a:t>
            </a:r>
            <a:br/>
            <a:r>
              <a:t>• Multiscale Radius Coverage:</a:t>
            </a:r>
            <a:br/>
            <a:r>
              <a:t>  Aggregates local and extended contextual geometry (up to $r=0.60$ m) to maintain context.</a:t>
            </a:r>
            <a:br/>
            <a:r>
              <a:t>• Geometric Proximity Prior:</a:t>
            </a:r>
            <a:br/>
            <a:r>
              <a:t>  Combines learned structural embeddings with nearest neighbor distance distributions.</a:t>
            </a:r>
            <a:br/>
            <a:r>
              <a:t>• Weighted Binary Supervision with Focal Loss.</a:t>
            </a:r>
          </a:p>
        </p:txBody>
      </p:sp>
      <p:sp>
        <p:nvSpPr>
          <p:cNvPr id="7" name="TextBox 6"/>
          <p:cNvSpPr txBox="1"/>
          <p:nvPr/>
        </p:nvSpPr>
        <p:spPr>
          <a:xfrm>
            <a:off x="731520" y="6446520"/>
            <a:ext cx="10698480" cy="274320"/>
          </a:xfrm>
          <a:prstGeom prst="rect">
            <a:avLst/>
          </a:prstGeom>
          <a:noFill/>
        </p:spPr>
        <p:txBody>
          <a:bodyPr wrap="none" lIns="0" tIns="0" rIns="0" bIns="0">
            <a:spAutoFit/>
          </a:bodyPr>
          <a:lstStyle/>
          <a:p>
            <a:pPr>
              <a:defRPr sz="1000">
                <a:solidFill>
                  <a:srgbClr val="475569"/>
                </a:solidFill>
                <a:latin typeface="Arial"/>
              </a:defRPr>
            </a:pPr>
            <a:r>
              <a:t>IIT Madras  •  Dept. of Civil Engineering  •  Computer Vision for Construction Engineering (CV5570)    |    Slide 5 of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CV5570 FINAL PRESENTATION  •  2 NOVEMBER 2026</a:t>
            </a:r>
          </a:p>
        </p:txBody>
      </p:sp>
      <p:sp>
        <p:nvSpPr>
          <p:cNvPr id="3" name="TextBox 2"/>
          <p:cNvSpPr txBox="1"/>
          <p:nvPr/>
        </p:nvSpPr>
        <p:spPr>
          <a:xfrm>
            <a:off x="731520" y="685800"/>
            <a:ext cx="10698480" cy="594360"/>
          </a:xfrm>
          <a:prstGeom prst="rect">
            <a:avLst/>
          </a:prstGeom>
          <a:noFill/>
        </p:spPr>
        <p:txBody>
          <a:bodyPr wrap="square" lIns="0" tIns="0" rIns="0" bIns="0">
            <a:spAutoFit/>
          </a:bodyPr>
          <a:lstStyle/>
          <a:p>
            <a:pPr>
              <a:defRPr sz="2400" b="1">
                <a:solidFill>
                  <a:srgbClr val="0F172A"/>
                </a:solidFill>
                <a:latin typeface="Arial"/>
              </a:defRPr>
            </a:pPr>
            <a:r>
              <a:t>Validation Protocol: 5-Fold Buffered Spatial Cross-Validation</a:t>
            </a:r>
          </a:p>
        </p:txBody>
      </p:sp>
      <p:pic>
        <p:nvPicPr>
          <p:cNvPr id="4" name="Picture 3" descr="spatial_split.png"/>
          <p:cNvPicPr>
            <a:picLocks noChangeAspect="1"/>
          </p:cNvPicPr>
          <p:nvPr/>
        </p:nvPicPr>
        <p:blipFill>
          <a:blip r:embed="rId2"/>
          <a:stretch>
            <a:fillRect/>
          </a:stretch>
        </p:blipFill>
        <p:spPr>
          <a:xfrm>
            <a:off x="731520" y="1463040"/>
            <a:ext cx="5669280" cy="2926080"/>
          </a:xfrm>
          <a:prstGeom prst="rect">
            <a:avLst/>
          </a:prstGeom>
        </p:spPr>
      </p:pic>
      <p:sp>
        <p:nvSpPr>
          <p:cNvPr id="5" name="Rounded Rectangle 4"/>
          <p:cNvSpPr/>
          <p:nvPr/>
        </p:nvSpPr>
        <p:spPr>
          <a:xfrm>
            <a:off x="6675120" y="1463040"/>
            <a:ext cx="4754880" cy="4572000"/>
          </a:xfrm>
          <a:prstGeom prst="roundRect">
            <a:avLst/>
          </a:prstGeom>
          <a:solidFill>
            <a:srgbClr val="F8FAFC"/>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E3A8A"/>
                </a:solidFill>
              </a:defRPr>
            </a:pPr>
            <a:r>
              <a:t>Eliminating Spatial Data Leakage</a:t>
            </a:r>
          </a:p>
          <a:p>
            <a:pPr>
              <a:spcBef>
                <a:spcPts val="800"/>
              </a:spcBef>
              <a:defRPr sz="1050">
                <a:solidFill>
                  <a:srgbClr val="0F172A"/>
                </a:solidFill>
              </a:defRPr>
            </a:pPr>
            <a:r>
              <a:t>• The Danger of Random Splitting in Point Clouds:</a:t>
            </a:r>
            <a:br/>
            <a:r>
              <a:t>  - Randomly partitioning points into train/test causes severe data leakage: test points sit millimeters away from training points sharing identical local patches!</a:t>
            </a:r>
            <a:br/>
            <a:br/>
            <a:r>
              <a:t>• Our 5-Fold Buffered Spatial Protocol:</a:t>
            </a:r>
            <a:br/>
            <a:r>
              <a:t>  - The construction site is divided along the spatial X-axis into 5 discrete geographic zones.</a:t>
            </a:r>
            <a:br/>
            <a:r>
              <a:t>  - 2.22-meter buffer zones separate adjacent folds, exceeding twice the maximum receptive field halo.</a:t>
            </a:r>
            <a:br/>
            <a:r>
              <a:t>  - Every test point is evaluated on completely unseen spatial geometry!</a:t>
            </a:r>
            <a:br/>
            <a:br/>
            <a:r>
              <a:t>• The Metric Ceiling Phenomenon:</a:t>
            </a:r>
            <a:br/>
            <a:r>
              <a:t>  - In construction sites, certain spatial zones remain 100% unchanged between certain epochs (e.g. Fold 3).</a:t>
            </a:r>
            <a:br/>
            <a:r>
              <a:t>  - When true changed points = 0, Changed-F1 is mathematically bounded by 0.0, capping site-wide macro F1 at 0.825.</a:t>
            </a:r>
            <a:br/>
            <a:r>
              <a:t>  - We explicitly report globally pooled confusions alongside macro averages to maintain scientific rigor.</a:t>
            </a:r>
          </a:p>
        </p:txBody>
      </p:sp>
      <p:sp>
        <p:nvSpPr>
          <p:cNvPr id="6" name="Rectangle 5"/>
          <p:cNvSpPr/>
          <p:nvPr/>
        </p:nvSpPr>
        <p:spPr>
          <a:xfrm>
            <a:off x="731520" y="4572000"/>
            <a:ext cx="5669280" cy="1463040"/>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Exhaustive Evaluation Matrix: 30 Pair-Fold Studies</a:t>
            </a:r>
          </a:p>
          <a:p>
            <a:pPr>
              <a:spcBef>
                <a:spcPts val="400"/>
              </a:spcBef>
              <a:defRPr sz="1000">
                <a:solidFill>
                  <a:srgbClr val="475569"/>
                </a:solidFill>
              </a:defRPr>
            </a:pPr>
            <a:r>
              <a:t>Across 6 construction pairs and 5 spatial folds, exactly 30 independent pair-fold evaluations are conducted for each method, totaling over 225,000 evaluated core queries on complete full-cloud geometric support.</a:t>
            </a:r>
          </a:p>
        </p:txBody>
      </p:sp>
      <p:sp>
        <p:nvSpPr>
          <p:cNvPr id="7" name="TextBox 6"/>
          <p:cNvSpPr txBox="1"/>
          <p:nvPr/>
        </p:nvSpPr>
        <p:spPr>
          <a:xfrm>
            <a:off x="731520" y="6446520"/>
            <a:ext cx="10698480" cy="274320"/>
          </a:xfrm>
          <a:prstGeom prst="rect">
            <a:avLst/>
          </a:prstGeom>
          <a:noFill/>
        </p:spPr>
        <p:txBody>
          <a:bodyPr wrap="none" lIns="0" tIns="0" rIns="0" bIns="0">
            <a:spAutoFit/>
          </a:bodyPr>
          <a:lstStyle/>
          <a:p>
            <a:pPr>
              <a:defRPr sz="1000">
                <a:solidFill>
                  <a:srgbClr val="475569"/>
                </a:solidFill>
                <a:latin typeface="Arial"/>
              </a:defRPr>
            </a:pPr>
            <a:r>
              <a:t>IIT Madras  •  Dept. of Civil Engineering  •  Computer Vision for Construction Engineering (CV5570)    |    Slide 6 of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CV5570 FINAL PRESENTATION  •  2 NOVEMBER 2026</a:t>
            </a:r>
          </a:p>
        </p:txBody>
      </p:sp>
      <p:sp>
        <p:nvSpPr>
          <p:cNvPr id="3" name="TextBox 2"/>
          <p:cNvSpPr txBox="1"/>
          <p:nvPr/>
        </p:nvSpPr>
        <p:spPr>
          <a:xfrm>
            <a:off x="731520" y="685800"/>
            <a:ext cx="10698480" cy="594360"/>
          </a:xfrm>
          <a:prstGeom prst="rect">
            <a:avLst/>
          </a:prstGeom>
          <a:noFill/>
        </p:spPr>
        <p:txBody>
          <a:bodyPr wrap="square" lIns="0" tIns="0" rIns="0" bIns="0">
            <a:spAutoFit/>
          </a:bodyPr>
          <a:lstStyle/>
          <a:p>
            <a:pPr>
              <a:defRPr sz="2400" b="1">
                <a:solidFill>
                  <a:srgbClr val="0F172A"/>
                </a:solidFill>
                <a:latin typeface="Arial"/>
              </a:defRPr>
            </a:pPr>
            <a:r>
              <a:t>Benchmark Results: Multiscale V2 Leads Clean Site Evaluation</a:t>
            </a:r>
          </a:p>
        </p:txBody>
      </p:sp>
      <p:graphicFrame>
        <p:nvGraphicFramePr>
          <p:cNvPr id="4" name="Table 3"/>
          <p:cNvGraphicFramePr>
            <a:graphicFrameLocks noGrp="1"/>
          </p:cNvGraphicFramePr>
          <p:nvPr/>
        </p:nvGraphicFramePr>
        <p:xfrm>
          <a:off x="731520" y="1463040"/>
          <a:ext cx="6583680" cy="2560320"/>
        </p:xfrm>
        <a:graphic>
          <a:graphicData uri="http://schemas.openxmlformats.org/drawingml/2006/table">
            <a:tbl>
              <a:tblPr firstRow="1" bandRow="1">
                <a:tableStyleId>{5C22544A-7EE6-4342-B048-85BDC9FD1C3A}</a:tableStyleId>
              </a:tblPr>
              <a:tblGrid>
                <a:gridCol w="2286000"/>
                <a:gridCol w="1097280"/>
                <a:gridCol w="1097280"/>
                <a:gridCol w="1097280"/>
                <a:gridCol w="1005840"/>
              </a:tblGrid>
              <a:tr h="426720">
                <a:tc>
                  <a:txBody>
                    <a:bodyPr/>
                    <a:lstStyle/>
                    <a:p>
                      <a:pPr>
                        <a:defRPr sz="1000" b="1">
                          <a:solidFill>
                            <a:srgbClr val="FFFFFF"/>
                          </a:solidFill>
                          <a:latin typeface="Arial"/>
                        </a:defRPr>
                      </a:pPr>
                      <a:r>
                        <a:t>Method Evaluated</a:t>
                      </a:r>
                    </a:p>
                  </a:txBody>
                  <a:tcPr>
                    <a:solidFill>
                      <a:srgbClr val="1E3A8A"/>
                    </a:solidFill>
                  </a:tcPr>
                </a:tc>
                <a:tc>
                  <a:txBody>
                    <a:bodyPr/>
                    <a:lstStyle/>
                    <a:p>
                      <a:pPr>
                        <a:defRPr sz="1000" b="1">
                          <a:solidFill>
                            <a:srgbClr val="FFFFFF"/>
                          </a:solidFill>
                          <a:latin typeface="Arial"/>
                        </a:defRPr>
                      </a:pPr>
                      <a:r>
                        <a:t>Binary Macro F1</a:t>
                      </a:r>
                    </a:p>
                  </a:txBody>
                  <a:tcPr>
                    <a:solidFill>
                      <a:srgbClr val="1E3A8A"/>
                    </a:solidFill>
                  </a:tcPr>
                </a:tc>
                <a:tc>
                  <a:txBody>
                    <a:bodyPr/>
                    <a:lstStyle/>
                    <a:p>
                      <a:pPr>
                        <a:defRPr sz="1000" b="1">
                          <a:solidFill>
                            <a:srgbClr val="FFFFFF"/>
                          </a:solidFill>
                          <a:latin typeface="Arial"/>
                        </a:defRPr>
                      </a:pPr>
                      <a:r>
                        <a:t>Changed F1</a:t>
                      </a:r>
                    </a:p>
                  </a:txBody>
                  <a:tcPr>
                    <a:solidFill>
                      <a:srgbClr val="1E3A8A"/>
                    </a:solidFill>
                  </a:tcPr>
                </a:tc>
                <a:tc>
                  <a:txBody>
                    <a:bodyPr/>
                    <a:lstStyle/>
                    <a:p>
                      <a:pPr>
                        <a:defRPr sz="1000" b="1">
                          <a:solidFill>
                            <a:srgbClr val="FFFFFF"/>
                          </a:solidFill>
                          <a:latin typeface="Arial"/>
                        </a:defRPr>
                      </a:pPr>
                      <a:r>
                        <a:t>Unknown Rate</a:t>
                      </a:r>
                    </a:p>
                  </a:txBody>
                  <a:tcPr>
                    <a:solidFill>
                      <a:srgbClr val="1E3A8A"/>
                    </a:solidFill>
                  </a:tcPr>
                </a:tc>
                <a:tc>
                  <a:txBody>
                    <a:bodyPr/>
                    <a:lstStyle/>
                    <a:p>
                      <a:pPr>
                        <a:defRPr sz="1000" b="1">
                          <a:solidFill>
                            <a:srgbClr val="FFFFFF"/>
                          </a:solidFill>
                          <a:latin typeface="Arial"/>
                        </a:defRPr>
                      </a:pPr>
                      <a:r>
                        <a:t>Evaluations</a:t>
                      </a:r>
                    </a:p>
                  </a:txBody>
                  <a:tcPr>
                    <a:solidFill>
                      <a:srgbClr val="1E3A8A"/>
                    </a:solidFill>
                  </a:tcPr>
                </a:tc>
              </a:tr>
              <a:tr h="426720">
                <a:tc>
                  <a:txBody>
                    <a:bodyPr/>
                    <a:lstStyle/>
                    <a:p>
                      <a:pPr>
                        <a:defRPr sz="950" b="1">
                          <a:solidFill>
                            <a:srgbClr val="0F766E"/>
                          </a:solidFill>
                          <a:latin typeface="Arial"/>
                        </a:defRPr>
                      </a:pPr>
                      <a:r>
                        <a:t>V2 Validation Selected (Ours)</a:t>
                      </a:r>
                    </a:p>
                  </a:txBody>
                  <a:tcPr>
                    <a:solidFill>
                      <a:srgbClr val="F0FDFA"/>
                    </a:solidFill>
                  </a:tcPr>
                </a:tc>
                <a:tc>
                  <a:txBody>
                    <a:bodyPr/>
                    <a:lstStyle/>
                    <a:p>
                      <a:pPr>
                        <a:defRPr sz="950" b="1">
                          <a:solidFill>
                            <a:srgbClr val="0F766E"/>
                          </a:solidFill>
                          <a:latin typeface="Arial"/>
                        </a:defRPr>
                      </a:pPr>
                      <a:r>
                        <a:t>0.6537 (65.4%)</a:t>
                      </a:r>
                    </a:p>
                  </a:txBody>
                  <a:tcPr>
                    <a:solidFill>
                      <a:srgbClr val="F0FDFA"/>
                    </a:solidFill>
                  </a:tcPr>
                </a:tc>
                <a:tc>
                  <a:txBody>
                    <a:bodyPr/>
                    <a:lstStyle/>
                    <a:p>
                      <a:pPr>
                        <a:defRPr sz="950" b="1">
                          <a:solidFill>
                            <a:srgbClr val="0F766E"/>
                          </a:solidFill>
                          <a:latin typeface="Arial"/>
                        </a:defRPr>
                      </a:pPr>
                      <a:r>
                        <a:t>0.3900 (39.0%)</a:t>
                      </a:r>
                    </a:p>
                  </a:txBody>
                  <a:tcPr>
                    <a:solidFill>
                      <a:srgbClr val="F0FDFA"/>
                    </a:solidFill>
                  </a:tcPr>
                </a:tc>
                <a:tc>
                  <a:txBody>
                    <a:bodyPr/>
                    <a:lstStyle/>
                    <a:p>
                      <a:pPr>
                        <a:defRPr sz="950" b="1">
                          <a:solidFill>
                            <a:srgbClr val="0F766E"/>
                          </a:solidFill>
                          <a:latin typeface="Arial"/>
                        </a:defRPr>
                      </a:pPr>
                      <a:r>
                        <a:t>0.0%</a:t>
                      </a:r>
                    </a:p>
                  </a:txBody>
                  <a:tcPr>
                    <a:solidFill>
                      <a:srgbClr val="F0FDFA"/>
                    </a:solidFill>
                  </a:tcPr>
                </a:tc>
                <a:tc>
                  <a:txBody>
                    <a:bodyPr/>
                    <a:lstStyle/>
                    <a:p>
                      <a:pPr>
                        <a:defRPr sz="950" b="1">
                          <a:solidFill>
                            <a:srgbClr val="0F766E"/>
                          </a:solidFill>
                          <a:latin typeface="Arial"/>
                        </a:defRPr>
                      </a:pPr>
                      <a:r>
                        <a:t>30 folds</a:t>
                      </a:r>
                    </a:p>
                  </a:txBody>
                  <a:tcPr>
                    <a:solidFill>
                      <a:srgbClr val="F0FDFA"/>
                    </a:solidFill>
                  </a:tcPr>
                </a:tc>
              </a:tr>
              <a:tr h="426720">
                <a:tc>
                  <a:txBody>
                    <a:bodyPr/>
                    <a:lstStyle/>
                    <a:p>
                      <a:pPr>
                        <a:defRPr sz="950">
                          <a:solidFill>
                            <a:srgbClr val="0F172A"/>
                          </a:solidFill>
                          <a:latin typeface="Arial"/>
                        </a:defRPr>
                      </a:pPr>
                      <a:r>
                        <a:t>Multiscale Robust (seed 42)</a:t>
                      </a:r>
                    </a:p>
                  </a:txBody>
                  <a:tcPr>
                    <a:solidFill>
                      <a:srgbClr val="F8FAFC"/>
                    </a:solidFill>
                  </a:tcPr>
                </a:tc>
                <a:tc>
                  <a:txBody>
                    <a:bodyPr/>
                    <a:lstStyle/>
                    <a:p>
                      <a:pPr>
                        <a:defRPr sz="950">
                          <a:solidFill>
                            <a:srgbClr val="0F172A"/>
                          </a:solidFill>
                          <a:latin typeface="Arial"/>
                        </a:defRPr>
                      </a:pPr>
                      <a:r>
                        <a:t>0.6555 (65.6%)</a:t>
                      </a:r>
                    </a:p>
                  </a:txBody>
                  <a:tcPr>
                    <a:solidFill>
                      <a:srgbClr val="F8FAFC"/>
                    </a:solidFill>
                  </a:tcPr>
                </a:tc>
                <a:tc>
                  <a:txBody>
                    <a:bodyPr/>
                    <a:lstStyle/>
                    <a:p>
                      <a:pPr>
                        <a:defRPr sz="950">
                          <a:solidFill>
                            <a:srgbClr val="0F172A"/>
                          </a:solidFill>
                          <a:latin typeface="Arial"/>
                        </a:defRPr>
                      </a:pPr>
                      <a:r>
                        <a:t>0.3970 (39.7%)</a:t>
                      </a:r>
                    </a:p>
                  </a:txBody>
                  <a:tcPr>
                    <a:solidFill>
                      <a:srgbClr val="F8FAFC"/>
                    </a:solidFill>
                  </a:tcPr>
                </a:tc>
                <a:tc>
                  <a:txBody>
                    <a:bodyPr/>
                    <a:lstStyle/>
                    <a:p>
                      <a:pPr>
                        <a:defRPr sz="950">
                          <a:solidFill>
                            <a:srgbClr val="0F172A"/>
                          </a:solidFill>
                          <a:latin typeface="Arial"/>
                        </a:defRPr>
                      </a:pPr>
                      <a:r>
                        <a:t>0.0%</a:t>
                      </a:r>
                    </a:p>
                  </a:txBody>
                  <a:tcPr>
                    <a:solidFill>
                      <a:srgbClr val="F8FAFC"/>
                    </a:solidFill>
                  </a:tcPr>
                </a:tc>
                <a:tc>
                  <a:txBody>
                    <a:bodyPr/>
                    <a:lstStyle/>
                    <a:p>
                      <a:pPr>
                        <a:defRPr sz="950">
                          <a:solidFill>
                            <a:srgbClr val="0F172A"/>
                          </a:solidFill>
                          <a:latin typeface="Arial"/>
                        </a:defRPr>
                      </a:pPr>
                      <a:r>
                        <a:t>30 folds</a:t>
                      </a:r>
                    </a:p>
                  </a:txBody>
                  <a:tcPr>
                    <a:solidFill>
                      <a:srgbClr val="F8FAFC"/>
                    </a:solidFill>
                  </a:tcPr>
                </a:tc>
              </a:tr>
              <a:tr h="426720">
                <a:tc>
                  <a:txBody>
                    <a:bodyPr/>
                    <a:lstStyle/>
                    <a:p>
                      <a:pPr>
                        <a:defRPr sz="950">
                          <a:solidFill>
                            <a:srgbClr val="0F172A"/>
                          </a:solidFill>
                          <a:latin typeface="Arial"/>
                        </a:defRPr>
                      </a:pPr>
                      <a:r>
                        <a:t>Previous Geometry Boosted</a:t>
                      </a:r>
                    </a:p>
                  </a:txBody>
                  <a:tcPr>
                    <a:solidFill>
                      <a:srgbClr val="FFFFFF"/>
                    </a:solidFill>
                  </a:tcPr>
                </a:tc>
                <a:tc>
                  <a:txBody>
                    <a:bodyPr/>
                    <a:lstStyle/>
                    <a:p>
                      <a:pPr>
                        <a:defRPr sz="950">
                          <a:solidFill>
                            <a:srgbClr val="0F172A"/>
                          </a:solidFill>
                          <a:latin typeface="Arial"/>
                        </a:defRPr>
                      </a:pPr>
                      <a:r>
                        <a:t>0.6184 (61.8%)</a:t>
                      </a:r>
                    </a:p>
                  </a:txBody>
                  <a:tcPr>
                    <a:solidFill>
                      <a:srgbClr val="FFFFFF"/>
                    </a:solidFill>
                  </a:tcPr>
                </a:tc>
                <a:tc>
                  <a:txBody>
                    <a:bodyPr/>
                    <a:lstStyle/>
                    <a:p>
                      <a:pPr>
                        <a:defRPr sz="950">
                          <a:solidFill>
                            <a:srgbClr val="0F172A"/>
                          </a:solidFill>
                          <a:latin typeface="Arial"/>
                        </a:defRPr>
                      </a:pPr>
                      <a:r>
                        <a:t>0.3432 (34.3%)</a:t>
                      </a:r>
                    </a:p>
                  </a:txBody>
                  <a:tcPr>
                    <a:solidFill>
                      <a:srgbClr val="FFFFFF"/>
                    </a:solidFill>
                  </a:tcPr>
                </a:tc>
                <a:tc>
                  <a:txBody>
                    <a:bodyPr/>
                    <a:lstStyle/>
                    <a:p>
                      <a:pPr>
                        <a:defRPr sz="950">
                          <a:solidFill>
                            <a:srgbClr val="0F172A"/>
                          </a:solidFill>
                          <a:latin typeface="Arial"/>
                        </a:defRPr>
                      </a:pPr>
                      <a:r>
                        <a:t>0.0%</a:t>
                      </a:r>
                    </a:p>
                  </a:txBody>
                  <a:tcPr>
                    <a:solidFill>
                      <a:srgbClr val="FFFFFF"/>
                    </a:solidFill>
                  </a:tcPr>
                </a:tc>
                <a:tc>
                  <a:txBody>
                    <a:bodyPr/>
                    <a:lstStyle/>
                    <a:p>
                      <a:pPr>
                        <a:defRPr sz="950">
                          <a:solidFill>
                            <a:srgbClr val="0F172A"/>
                          </a:solidFill>
                          <a:latin typeface="Arial"/>
                        </a:defRPr>
                      </a:pPr>
                      <a:r>
                        <a:t>30 folds</a:t>
                      </a:r>
                    </a:p>
                  </a:txBody>
                  <a:tcPr>
                    <a:solidFill>
                      <a:srgbClr val="FFFFFF"/>
                    </a:solidFill>
                  </a:tcPr>
                </a:tc>
              </a:tr>
              <a:tr h="426720">
                <a:tc>
                  <a:txBody>
                    <a:bodyPr/>
                    <a:lstStyle/>
                    <a:p>
                      <a:pPr>
                        <a:defRPr sz="950">
                          <a:solidFill>
                            <a:srgbClr val="0F172A"/>
                          </a:solidFill>
                          <a:latin typeface="Arial"/>
                        </a:defRPr>
                      </a:pPr>
                      <a:r>
                        <a:t>C2C Legacy (0.075 m threshold)</a:t>
                      </a:r>
                    </a:p>
                  </a:txBody>
                  <a:tcPr>
                    <a:solidFill>
                      <a:srgbClr val="F8FAFC"/>
                    </a:solidFill>
                  </a:tcPr>
                </a:tc>
                <a:tc>
                  <a:txBody>
                    <a:bodyPr/>
                    <a:lstStyle/>
                    <a:p>
                      <a:pPr>
                        <a:defRPr sz="950">
                          <a:solidFill>
                            <a:srgbClr val="0F172A"/>
                          </a:solidFill>
                          <a:latin typeface="Arial"/>
                        </a:defRPr>
                      </a:pPr>
                      <a:r>
                        <a:t>0.5659 (56.6%)</a:t>
                      </a:r>
                    </a:p>
                  </a:txBody>
                  <a:tcPr>
                    <a:solidFill>
                      <a:srgbClr val="F8FAFC"/>
                    </a:solidFill>
                  </a:tcPr>
                </a:tc>
                <a:tc>
                  <a:txBody>
                    <a:bodyPr/>
                    <a:lstStyle/>
                    <a:p>
                      <a:pPr>
                        <a:defRPr sz="950">
                          <a:solidFill>
                            <a:srgbClr val="0F172A"/>
                          </a:solidFill>
                          <a:latin typeface="Arial"/>
                        </a:defRPr>
                      </a:pPr>
                      <a:r>
                        <a:t>0.3000 (30.0%)</a:t>
                      </a:r>
                    </a:p>
                  </a:txBody>
                  <a:tcPr>
                    <a:solidFill>
                      <a:srgbClr val="F8FAFC"/>
                    </a:solidFill>
                  </a:tcPr>
                </a:tc>
                <a:tc>
                  <a:txBody>
                    <a:bodyPr/>
                    <a:lstStyle/>
                    <a:p>
                      <a:pPr>
                        <a:defRPr sz="950">
                          <a:solidFill>
                            <a:srgbClr val="0F172A"/>
                          </a:solidFill>
                          <a:latin typeface="Arial"/>
                        </a:defRPr>
                      </a:pPr>
                      <a:r>
                        <a:t>0.0%</a:t>
                      </a:r>
                    </a:p>
                  </a:txBody>
                  <a:tcPr>
                    <a:solidFill>
                      <a:srgbClr val="F8FAFC"/>
                    </a:solidFill>
                  </a:tcPr>
                </a:tc>
                <a:tc>
                  <a:txBody>
                    <a:bodyPr/>
                    <a:lstStyle/>
                    <a:p>
                      <a:pPr>
                        <a:defRPr sz="950">
                          <a:solidFill>
                            <a:srgbClr val="0F172A"/>
                          </a:solidFill>
                          <a:latin typeface="Arial"/>
                        </a:defRPr>
                      </a:pPr>
                      <a:r>
                        <a:t>30 folds</a:t>
                      </a:r>
                    </a:p>
                  </a:txBody>
                  <a:tcPr>
                    <a:solidFill>
                      <a:srgbClr val="F8FAFC"/>
                    </a:solidFill>
                  </a:tcPr>
                </a:tc>
              </a:tr>
              <a:tr h="426720">
                <a:tc>
                  <a:txBody>
                    <a:bodyPr/>
                    <a:lstStyle/>
                    <a:p>
                      <a:pPr>
                        <a:defRPr sz="950">
                          <a:solidFill>
                            <a:srgbClr val="0F172A"/>
                          </a:solidFill>
                          <a:latin typeface="Arial"/>
                        </a:defRPr>
                      </a:pPr>
                      <a:r>
                        <a:t>M3C2-Style (PCA Cylinders)</a:t>
                      </a:r>
                    </a:p>
                  </a:txBody>
                  <a:tcPr>
                    <a:solidFill>
                      <a:srgbClr val="FFFFFF"/>
                    </a:solidFill>
                  </a:tcPr>
                </a:tc>
                <a:tc>
                  <a:txBody>
                    <a:bodyPr/>
                    <a:lstStyle/>
                    <a:p>
                      <a:pPr>
                        <a:defRPr sz="950">
                          <a:solidFill>
                            <a:srgbClr val="0F172A"/>
                          </a:solidFill>
                          <a:latin typeface="Arial"/>
                        </a:defRPr>
                      </a:pPr>
                      <a:r>
                        <a:t>0.2627 (26.3%)</a:t>
                      </a:r>
                    </a:p>
                  </a:txBody>
                  <a:tcPr>
                    <a:solidFill>
                      <a:srgbClr val="FFFFFF"/>
                    </a:solidFill>
                  </a:tcPr>
                </a:tc>
                <a:tc>
                  <a:txBody>
                    <a:bodyPr/>
                    <a:lstStyle/>
                    <a:p>
                      <a:pPr>
                        <a:defRPr sz="950">
                          <a:solidFill>
                            <a:srgbClr val="0F172A"/>
                          </a:solidFill>
                          <a:latin typeface="Arial"/>
                        </a:defRPr>
                      </a:pPr>
                      <a:r>
                        <a:t>0.1632 (16.3%)</a:t>
                      </a:r>
                    </a:p>
                  </a:txBody>
                  <a:tcPr>
                    <a:solidFill>
                      <a:srgbClr val="FFFFFF"/>
                    </a:solidFill>
                  </a:tcPr>
                </a:tc>
                <a:tc>
                  <a:txBody>
                    <a:bodyPr/>
                    <a:lstStyle/>
                    <a:p>
                      <a:pPr>
                        <a:defRPr sz="950">
                          <a:solidFill>
                            <a:srgbClr val="0F172A"/>
                          </a:solidFill>
                          <a:latin typeface="Arial"/>
                        </a:defRPr>
                      </a:pPr>
                      <a:r>
                        <a:t>26.6%</a:t>
                      </a:r>
                    </a:p>
                  </a:txBody>
                  <a:tcPr>
                    <a:solidFill>
                      <a:srgbClr val="FFFFFF"/>
                    </a:solidFill>
                  </a:tcPr>
                </a:tc>
                <a:tc>
                  <a:txBody>
                    <a:bodyPr/>
                    <a:lstStyle/>
                    <a:p>
                      <a:pPr>
                        <a:defRPr sz="950">
                          <a:solidFill>
                            <a:srgbClr val="0F172A"/>
                          </a:solidFill>
                          <a:latin typeface="Arial"/>
                        </a:defRPr>
                      </a:pPr>
                      <a:r>
                        <a:t>30 folds</a:t>
                      </a:r>
                    </a:p>
                  </a:txBody>
                  <a:tcPr>
                    <a:solidFill>
                      <a:srgbClr val="FFFFFF"/>
                    </a:solidFill>
                  </a:tcPr>
                </a:tc>
              </a:tr>
            </a:tbl>
          </a:graphicData>
        </a:graphic>
      </p:graphicFrame>
      <p:pic>
        <p:nvPicPr>
          <p:cNvPr id="5" name="Picture 4" descr="pair_01.png"/>
          <p:cNvPicPr>
            <a:picLocks noChangeAspect="1"/>
          </p:cNvPicPr>
          <p:nvPr/>
        </p:nvPicPr>
        <p:blipFill>
          <a:blip r:embed="rId2"/>
          <a:stretch>
            <a:fillRect/>
          </a:stretch>
        </p:blipFill>
        <p:spPr>
          <a:xfrm>
            <a:off x="7589520" y="1463040"/>
            <a:ext cx="3840480" cy="2926080"/>
          </a:xfrm>
          <a:prstGeom prst="rect">
            <a:avLst/>
          </a:prstGeom>
        </p:spPr>
      </p:pic>
      <p:sp>
        <p:nvSpPr>
          <p:cNvPr id="6" name="Rounded Rectangle 5"/>
          <p:cNvSpPr/>
          <p:nvPr/>
        </p:nvSpPr>
        <p:spPr>
          <a:xfrm>
            <a:off x="731520" y="4297680"/>
            <a:ext cx="10698480" cy="1828800"/>
          </a:xfrm>
          <a:prstGeom prst="roundRect">
            <a:avLst/>
          </a:prstGeom>
          <a:solidFill>
            <a:srgbClr val="F8FAFC"/>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766E"/>
                </a:solidFill>
              </a:defRPr>
            </a:pPr>
            <a:r>
              <a:t>Key Empirical Breakthroughs on Clean Construction Scans:</a:t>
            </a:r>
          </a:p>
          <a:p>
            <a:pPr>
              <a:spcBef>
                <a:spcPts val="400"/>
              </a:spcBef>
              <a:defRPr sz="1050">
                <a:solidFill>
                  <a:srgbClr val="0F172A"/>
                </a:solidFill>
              </a:defRPr>
            </a:pPr>
            <a:r>
              <a:t>1. V2 Multiscale Learning decisively outperforms classical C2C by +8.8 percentage points in Macro F1 (0.6537 vs 0.5659) and +9.0 points in Changed F1 (0.3900 vs 0.3000) across all 30 pair-fold evaluations.</a:t>
            </a:r>
            <a:br/>
            <a:r>
              <a:t>2. On complex structural folds (e.g. Fold 4 &amp; Fold 1), V2 achieves outstanding performance (Fold 4 Macro F1 = 0.7984 vs C2C 0.6503).</a:t>
            </a:r>
            <a:br/>
            <a:r>
              <a:t>3. M3C2-style suffers a massive 26.6% detector unknown rate on construction geometry because thin railings, mesh fencing, and edges fail cylinder planar PCA fits.</a:t>
            </a:r>
          </a:p>
        </p:txBody>
      </p:sp>
      <p:sp>
        <p:nvSpPr>
          <p:cNvPr id="7" name="TextBox 6"/>
          <p:cNvSpPr txBox="1"/>
          <p:nvPr/>
        </p:nvSpPr>
        <p:spPr>
          <a:xfrm>
            <a:off x="731520" y="6446520"/>
            <a:ext cx="10698480" cy="274320"/>
          </a:xfrm>
          <a:prstGeom prst="rect">
            <a:avLst/>
          </a:prstGeom>
          <a:noFill/>
        </p:spPr>
        <p:txBody>
          <a:bodyPr wrap="none" lIns="0" tIns="0" rIns="0" bIns="0">
            <a:spAutoFit/>
          </a:bodyPr>
          <a:lstStyle/>
          <a:p>
            <a:pPr>
              <a:defRPr sz="1000">
                <a:solidFill>
                  <a:srgbClr val="475569"/>
                </a:solidFill>
                <a:latin typeface="Arial"/>
              </a:defRPr>
            </a:pPr>
            <a:r>
              <a:t>IIT Madras  •  Dept. of Civil Engineering  •  Computer Vision for Construction Engineering (CV5570)    |    Slide 7 of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CV5570 FINAL PRESENTATION  •  2 NOVEMBER 2026</a:t>
            </a:r>
          </a:p>
        </p:txBody>
      </p:sp>
      <p:sp>
        <p:nvSpPr>
          <p:cNvPr id="3" name="TextBox 2"/>
          <p:cNvSpPr txBox="1"/>
          <p:nvPr/>
        </p:nvSpPr>
        <p:spPr>
          <a:xfrm>
            <a:off x="731520" y="685800"/>
            <a:ext cx="10698480" cy="594360"/>
          </a:xfrm>
          <a:prstGeom prst="rect">
            <a:avLst/>
          </a:prstGeom>
          <a:noFill/>
        </p:spPr>
        <p:txBody>
          <a:bodyPr wrap="square" lIns="0" tIns="0" rIns="0" bIns="0">
            <a:spAutoFit/>
          </a:bodyPr>
          <a:lstStyle/>
          <a:p>
            <a:pPr>
              <a:defRPr sz="2400" b="1">
                <a:solidFill>
                  <a:srgbClr val="0F172A"/>
                </a:solidFill>
                <a:latin typeface="Arial"/>
              </a:defRPr>
            </a:pPr>
            <a:r>
              <a:t>Robustness Evaluation: 318 Controlled Degradation Conditions</a:t>
            </a:r>
          </a:p>
        </p:txBody>
      </p:sp>
      <p:pic>
        <p:nvPicPr>
          <p:cNvPr id="4" name="Picture 3" descr="robustness_binary_macro.png"/>
          <p:cNvPicPr>
            <a:picLocks noChangeAspect="1"/>
          </p:cNvPicPr>
          <p:nvPr/>
        </p:nvPicPr>
        <p:blipFill>
          <a:blip r:embed="rId2"/>
          <a:stretch>
            <a:fillRect/>
          </a:stretch>
        </p:blipFill>
        <p:spPr>
          <a:xfrm>
            <a:off x="731520" y="1463040"/>
            <a:ext cx="5486400" cy="4663440"/>
          </a:xfrm>
          <a:prstGeom prst="rect">
            <a:avLst/>
          </a:prstGeom>
        </p:spPr>
      </p:pic>
      <p:sp>
        <p:nvSpPr>
          <p:cNvPr id="5" name="Rounded Rectangle 4"/>
          <p:cNvSpPr/>
          <p:nvPr/>
        </p:nvSpPr>
        <p:spPr>
          <a:xfrm>
            <a:off x="6492240" y="1463040"/>
            <a:ext cx="4937760" cy="4663440"/>
          </a:xfrm>
          <a:prstGeom prst="roundRect">
            <a:avLst/>
          </a:prstGeom>
          <a:solidFill>
            <a:srgbClr val="F8FAFC"/>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E3A8A"/>
                </a:solidFill>
              </a:defRPr>
            </a:pPr>
            <a:r>
              <a:t>Exhaustive Stress Matrix (318 Conditions)</a:t>
            </a:r>
          </a:p>
          <a:p>
            <a:pPr>
              <a:spcBef>
                <a:spcPts val="600"/>
              </a:spcBef>
              <a:defRPr sz="1050">
                <a:solidFill>
                  <a:srgbClr val="0F172A"/>
                </a:solidFill>
              </a:defRPr>
            </a:pPr>
            <a:r>
              <a:t>• Systematic Imperfection Families Tested:</a:t>
            </a:r>
            <a:br/>
            <a:br/>
            <a:r>
              <a:t>1. Misalignment (Translation &amp; Rotation):</a:t>
            </a:r>
            <a:br/>
            <a:r>
              <a:t>   - $\Delta t = 0.10$ m, $0.20$ m; $\Delta \theta = 0.5^\circ, 1.0^\circ$.</a:t>
            </a:r>
            <a:br/>
            <a:r>
              <a:t>   - Simulates GPS/IMU drift and registration inaccuracy.</a:t>
            </a:r>
            <a:br/>
            <a:br/>
            <a:r>
              <a:t>2. Gaussian Range Noise:</a:t>
            </a:r>
            <a:br/>
            <a:r>
              <a:t>   - $\sigma = 0.01$ m, $0.03$ m, $0.075$ m (up to 7.5 cm scatter).</a:t>
            </a:r>
            <a:br/>
            <a:r>
              <a:t>   - Simulates reflective scattering, beam divergence, and precipitation.</a:t>
            </a:r>
            <a:br/>
            <a:br/>
            <a:r>
              <a:t>3. Point Sparsity &amp; Density Loss:</a:t>
            </a:r>
            <a:br/>
            <a:r>
              <a:t>   - Random decimation down to 25% and 10% point retention.</a:t>
            </a:r>
            <a:br/>
            <a:r>
              <a:t>   - Simulates rapid handheld scanning and long sensor standoffs.</a:t>
            </a:r>
            <a:br/>
            <a:br/>
            <a:r>
              <a:t>4. Occlusion &amp; Field-of-View Cutoffs:</a:t>
            </a:r>
            <a:br/>
            <a:r>
              <a:t>   - 25% and 50% radius blind cylinders.</a:t>
            </a:r>
            <a:br/>
            <a:r>
              <a:t>   - Evaluated under both Strict Protocol A and Visibility Masked Protocol B.</a:t>
            </a:r>
            <a:br/>
            <a:br/>
            <a:r>
              <a:t>5. Combined Compound Stress (The Real Field Test):</a:t>
            </a:r>
            <a:br/>
            <a:r>
              <a:t>   - Simultaneous noise + translation + decimation.</a:t>
            </a:r>
          </a:p>
        </p:txBody>
      </p:sp>
      <p:sp>
        <p:nvSpPr>
          <p:cNvPr id="6" name="TextBox 5"/>
          <p:cNvSpPr txBox="1"/>
          <p:nvPr/>
        </p:nvSpPr>
        <p:spPr>
          <a:xfrm>
            <a:off x="731520" y="6446520"/>
            <a:ext cx="10698480" cy="274320"/>
          </a:xfrm>
          <a:prstGeom prst="rect">
            <a:avLst/>
          </a:prstGeom>
          <a:noFill/>
        </p:spPr>
        <p:txBody>
          <a:bodyPr wrap="none" lIns="0" tIns="0" rIns="0" bIns="0">
            <a:spAutoFit/>
          </a:bodyPr>
          <a:lstStyle/>
          <a:p>
            <a:pPr>
              <a:defRPr sz="1000">
                <a:solidFill>
                  <a:srgbClr val="475569"/>
                </a:solidFill>
                <a:latin typeface="Arial"/>
              </a:defRPr>
            </a:pPr>
            <a:r>
              <a:t>IIT Madras  •  Dept. of Civil Engineering  •  Computer Vision for Construction Engineering (CV5570)    |    Slide 8 of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CV5570 FINAL PRESENTATION  •  2 NOVEMBER 2026</a:t>
            </a:r>
          </a:p>
        </p:txBody>
      </p:sp>
      <p:sp>
        <p:nvSpPr>
          <p:cNvPr id="3" name="TextBox 2"/>
          <p:cNvSpPr txBox="1"/>
          <p:nvPr/>
        </p:nvSpPr>
        <p:spPr>
          <a:xfrm>
            <a:off x="731520" y="685800"/>
            <a:ext cx="10698480" cy="594360"/>
          </a:xfrm>
          <a:prstGeom prst="rect">
            <a:avLst/>
          </a:prstGeom>
          <a:noFill/>
        </p:spPr>
        <p:txBody>
          <a:bodyPr wrap="square" lIns="0" tIns="0" rIns="0" bIns="0">
            <a:spAutoFit/>
          </a:bodyPr>
          <a:lstStyle/>
          <a:p>
            <a:pPr>
              <a:defRPr sz="2400" b="1">
                <a:solidFill>
                  <a:srgbClr val="0F172A"/>
                </a:solidFill>
                <a:latin typeface="Arial"/>
              </a:defRPr>
            </a:pPr>
            <a:r>
              <a:t>Field Stress Analysis: Where Deep Learning Wins Decisively</a:t>
            </a:r>
          </a:p>
        </p:txBody>
      </p:sp>
      <p:graphicFrame>
        <p:nvGraphicFramePr>
          <p:cNvPr id="4" name="Table 3"/>
          <p:cNvGraphicFramePr>
            <a:graphicFrameLocks noGrp="1"/>
          </p:cNvGraphicFramePr>
          <p:nvPr/>
        </p:nvGraphicFramePr>
        <p:xfrm>
          <a:off x="731520" y="1463040"/>
          <a:ext cx="10698480" cy="2011680"/>
        </p:xfrm>
        <a:graphic>
          <a:graphicData uri="http://schemas.openxmlformats.org/drawingml/2006/table">
            <a:tbl>
              <a:tblPr firstRow="1" bandRow="1">
                <a:tableStyleId>{5C22544A-7EE6-4342-B048-85BDC9FD1C3A}</a:tableStyleId>
              </a:tblPr>
              <a:tblGrid>
                <a:gridCol w="2926080"/>
                <a:gridCol w="1920240"/>
                <a:gridCol w="1920240"/>
                <a:gridCol w="1920240"/>
                <a:gridCol w="2011680"/>
              </a:tblGrid>
              <a:tr h="402336">
                <a:tc>
                  <a:txBody>
                    <a:bodyPr/>
                    <a:lstStyle/>
                    <a:p>
                      <a:pPr>
                        <a:defRPr sz="1000" b="1">
                          <a:solidFill>
                            <a:srgbClr val="FFFFFF"/>
                          </a:solidFill>
                          <a:latin typeface="Arial"/>
                        </a:defRPr>
                      </a:pPr>
                      <a:r>
                        <a:t>Method</a:t>
                      </a:r>
                    </a:p>
                  </a:txBody>
                  <a:tcPr>
                    <a:solidFill>
                      <a:srgbClr val="1E3A8A"/>
                    </a:solidFill>
                  </a:tcPr>
                </a:tc>
                <a:tc>
                  <a:txBody>
                    <a:bodyPr/>
                    <a:lstStyle/>
                    <a:p>
                      <a:pPr>
                        <a:defRPr sz="1000" b="1">
                          <a:solidFill>
                            <a:srgbClr val="FFFFFF"/>
                          </a:solidFill>
                          <a:latin typeface="Arial"/>
                        </a:defRPr>
                      </a:pPr>
                      <a:r>
                        <a:t>Clean Macro F1</a:t>
                      </a:r>
                    </a:p>
                  </a:txBody>
                  <a:tcPr>
                    <a:solidFill>
                      <a:srgbClr val="1E3A8A"/>
                    </a:solidFill>
                  </a:tcPr>
                </a:tc>
                <a:tc>
                  <a:txBody>
                    <a:bodyPr/>
                    <a:lstStyle/>
                    <a:p>
                      <a:pPr>
                        <a:defRPr sz="1000" b="1">
                          <a:solidFill>
                            <a:srgbClr val="FFFFFF"/>
                          </a:solidFill>
                          <a:latin typeface="Arial"/>
                        </a:defRPr>
                      </a:pPr>
                      <a:r>
                        <a:t>Combined Mild (0.1)</a:t>
                      </a:r>
                    </a:p>
                  </a:txBody>
                  <a:tcPr>
                    <a:solidFill>
                      <a:srgbClr val="1E3A8A"/>
                    </a:solidFill>
                  </a:tcPr>
                </a:tc>
                <a:tc>
                  <a:txBody>
                    <a:bodyPr/>
                    <a:lstStyle/>
                    <a:p>
                      <a:pPr>
                        <a:defRPr sz="1000" b="1">
                          <a:solidFill>
                            <a:srgbClr val="FFFFFF"/>
                          </a:solidFill>
                          <a:latin typeface="Arial"/>
                        </a:defRPr>
                      </a:pPr>
                      <a:r>
                        <a:t>Combined Large (0.2)</a:t>
                      </a:r>
                    </a:p>
                  </a:txBody>
                  <a:tcPr>
                    <a:solidFill>
                      <a:srgbClr val="1E3A8A"/>
                    </a:solidFill>
                  </a:tcPr>
                </a:tc>
                <a:tc>
                  <a:txBody>
                    <a:bodyPr/>
                    <a:lstStyle/>
                    <a:p>
                      <a:pPr>
                        <a:defRPr sz="1000" b="1">
                          <a:solidFill>
                            <a:srgbClr val="FFFFFF"/>
                          </a:solidFill>
                          <a:latin typeface="Arial"/>
                        </a:defRPr>
                      </a:pPr>
                      <a:r>
                        <a:t>Stress Delta (Drop)</a:t>
                      </a:r>
                    </a:p>
                  </a:txBody>
                  <a:tcPr>
                    <a:solidFill>
                      <a:srgbClr val="1E3A8A"/>
                    </a:solidFill>
                  </a:tcPr>
                </a:tc>
              </a:tr>
              <a:tr h="402336">
                <a:tc>
                  <a:txBody>
                    <a:bodyPr/>
                    <a:lstStyle/>
                    <a:p>
                      <a:pPr>
                        <a:defRPr sz="1000" b="1">
                          <a:solidFill>
                            <a:srgbClr val="0F766E"/>
                          </a:solidFill>
                          <a:latin typeface="Arial"/>
                        </a:defRPr>
                      </a:pPr>
                      <a:r>
                        <a:t>V2 Multiscale Robust (Ours)</a:t>
                      </a:r>
                    </a:p>
                  </a:txBody>
                  <a:tcPr>
                    <a:solidFill>
                      <a:srgbClr val="F0FDFA"/>
                    </a:solidFill>
                  </a:tcPr>
                </a:tc>
                <a:tc>
                  <a:txBody>
                    <a:bodyPr/>
                    <a:lstStyle/>
                    <a:p>
                      <a:pPr>
                        <a:defRPr sz="1000" b="1">
                          <a:solidFill>
                            <a:srgbClr val="0F766E"/>
                          </a:solidFill>
                          <a:latin typeface="Arial"/>
                        </a:defRPr>
                      </a:pPr>
                      <a:r>
                        <a:t>0.6555</a:t>
                      </a:r>
                    </a:p>
                  </a:txBody>
                  <a:tcPr>
                    <a:solidFill>
                      <a:srgbClr val="F0FDFA"/>
                    </a:solidFill>
                  </a:tcPr>
                </a:tc>
                <a:tc>
                  <a:txBody>
                    <a:bodyPr/>
                    <a:lstStyle/>
                    <a:p>
                      <a:pPr>
                        <a:defRPr sz="1000" b="1">
                          <a:solidFill>
                            <a:srgbClr val="0F766E"/>
                          </a:solidFill>
                          <a:latin typeface="Arial"/>
                        </a:defRPr>
                      </a:pPr>
                      <a:r>
                        <a:t>0.6248</a:t>
                      </a:r>
                    </a:p>
                  </a:txBody>
                  <a:tcPr>
                    <a:solidFill>
                      <a:srgbClr val="F0FDFA"/>
                    </a:solidFill>
                  </a:tcPr>
                </a:tc>
                <a:tc>
                  <a:txBody>
                    <a:bodyPr/>
                    <a:lstStyle/>
                    <a:p>
                      <a:pPr>
                        <a:defRPr sz="1000" b="1">
                          <a:solidFill>
                            <a:srgbClr val="0F766E"/>
                          </a:solidFill>
                          <a:latin typeface="Arial"/>
                        </a:defRPr>
                      </a:pPr>
                      <a:r>
                        <a:t>0.6176</a:t>
                      </a:r>
                    </a:p>
                  </a:txBody>
                  <a:tcPr>
                    <a:solidFill>
                      <a:srgbClr val="F0FDFA"/>
                    </a:solidFill>
                  </a:tcPr>
                </a:tc>
                <a:tc>
                  <a:txBody>
                    <a:bodyPr/>
                    <a:lstStyle/>
                    <a:p>
                      <a:pPr>
                        <a:defRPr sz="1000" b="1">
                          <a:solidFill>
                            <a:srgbClr val="0F766E"/>
                          </a:solidFill>
                          <a:latin typeface="Arial"/>
                        </a:defRPr>
                      </a:pPr>
                      <a:r>
                        <a:t>-0.0379 (-3.8 pts)  [ROBUST]</a:t>
                      </a:r>
                    </a:p>
                  </a:txBody>
                  <a:tcPr>
                    <a:solidFill>
                      <a:srgbClr val="F0FDFA"/>
                    </a:solidFill>
                  </a:tcPr>
                </a:tc>
              </a:tr>
              <a:tr h="402336">
                <a:tc>
                  <a:txBody>
                    <a:bodyPr/>
                    <a:lstStyle/>
                    <a:p>
                      <a:pPr>
                        <a:defRPr sz="1000">
                          <a:solidFill>
                            <a:srgbClr val="0F172A"/>
                          </a:solidFill>
                          <a:latin typeface="Arial"/>
                        </a:defRPr>
                      </a:pPr>
                      <a:r>
                        <a:t>V2 Hard Mining (Ours)</a:t>
                      </a:r>
                    </a:p>
                  </a:txBody>
                  <a:tcPr>
                    <a:solidFill>
                      <a:srgbClr val="F8FAFC"/>
                    </a:solidFill>
                  </a:tcPr>
                </a:tc>
                <a:tc>
                  <a:txBody>
                    <a:bodyPr/>
                    <a:lstStyle/>
                    <a:p>
                      <a:pPr>
                        <a:defRPr sz="1000">
                          <a:solidFill>
                            <a:srgbClr val="0F172A"/>
                          </a:solidFill>
                          <a:latin typeface="Arial"/>
                        </a:defRPr>
                      </a:pPr>
                      <a:r>
                        <a:t>0.6327</a:t>
                      </a:r>
                    </a:p>
                  </a:txBody>
                  <a:tcPr>
                    <a:solidFill>
                      <a:srgbClr val="F8FAFC"/>
                    </a:solidFill>
                  </a:tcPr>
                </a:tc>
                <a:tc>
                  <a:txBody>
                    <a:bodyPr/>
                    <a:lstStyle/>
                    <a:p>
                      <a:pPr>
                        <a:defRPr sz="1000">
                          <a:solidFill>
                            <a:srgbClr val="0F172A"/>
                          </a:solidFill>
                          <a:latin typeface="Arial"/>
                        </a:defRPr>
                      </a:pPr>
                      <a:r>
                        <a:t>0.5994</a:t>
                      </a:r>
                    </a:p>
                  </a:txBody>
                  <a:tcPr>
                    <a:solidFill>
                      <a:srgbClr val="F8FAFC"/>
                    </a:solidFill>
                  </a:tcPr>
                </a:tc>
                <a:tc>
                  <a:txBody>
                    <a:bodyPr/>
                    <a:lstStyle/>
                    <a:p>
                      <a:pPr>
                        <a:defRPr sz="1000">
                          <a:solidFill>
                            <a:srgbClr val="0F172A"/>
                          </a:solidFill>
                          <a:latin typeface="Arial"/>
                        </a:defRPr>
                      </a:pPr>
                      <a:r>
                        <a:t>0.5958</a:t>
                      </a:r>
                    </a:p>
                  </a:txBody>
                  <a:tcPr>
                    <a:solidFill>
                      <a:srgbClr val="F8FAFC"/>
                    </a:solidFill>
                  </a:tcPr>
                </a:tc>
                <a:tc>
                  <a:txBody>
                    <a:bodyPr/>
                    <a:lstStyle/>
                    <a:p>
                      <a:pPr>
                        <a:defRPr sz="1000">
                          <a:solidFill>
                            <a:srgbClr val="0F172A"/>
                          </a:solidFill>
                          <a:latin typeface="Arial"/>
                        </a:defRPr>
                      </a:pPr>
                      <a:r>
                        <a:t>-0.0369 (-3.7 pts)  [ROBUST]</a:t>
                      </a:r>
                    </a:p>
                  </a:txBody>
                  <a:tcPr>
                    <a:solidFill>
                      <a:srgbClr val="F8FAFC"/>
                    </a:solidFill>
                  </a:tcPr>
                </a:tc>
              </a:tr>
              <a:tr h="402336">
                <a:tc>
                  <a:txBody>
                    <a:bodyPr/>
                    <a:lstStyle/>
                    <a:p>
                      <a:pPr>
                        <a:defRPr sz="1000" b="1">
                          <a:solidFill>
                            <a:srgbClr val="DC2626"/>
                          </a:solidFill>
                          <a:latin typeface="Arial"/>
                        </a:defRPr>
                      </a:pPr>
                      <a:r>
                        <a:t>Cloud-to-Cloud (C2C Legacy)</a:t>
                      </a:r>
                    </a:p>
                  </a:txBody>
                  <a:tcPr>
                    <a:solidFill>
                      <a:srgbClr val="FEF2F2"/>
                    </a:solidFill>
                  </a:tcPr>
                </a:tc>
                <a:tc>
                  <a:txBody>
                    <a:bodyPr/>
                    <a:lstStyle/>
                    <a:p>
                      <a:pPr>
                        <a:defRPr sz="1000" b="1">
                          <a:solidFill>
                            <a:srgbClr val="DC2626"/>
                          </a:solidFill>
                          <a:latin typeface="Arial"/>
                        </a:defRPr>
                      </a:pPr>
                      <a:r>
                        <a:t>0.5659</a:t>
                      </a:r>
                    </a:p>
                  </a:txBody>
                  <a:tcPr>
                    <a:solidFill>
                      <a:srgbClr val="FEF2F2"/>
                    </a:solidFill>
                  </a:tcPr>
                </a:tc>
                <a:tc>
                  <a:txBody>
                    <a:bodyPr/>
                    <a:lstStyle/>
                    <a:p>
                      <a:pPr>
                        <a:defRPr sz="1000" b="1">
                          <a:solidFill>
                            <a:srgbClr val="DC2626"/>
                          </a:solidFill>
                          <a:latin typeface="Arial"/>
                        </a:defRPr>
                      </a:pPr>
                      <a:r>
                        <a:t>0.5352</a:t>
                      </a:r>
                    </a:p>
                  </a:txBody>
                  <a:tcPr>
                    <a:solidFill>
                      <a:srgbClr val="FEF2F2"/>
                    </a:solidFill>
                  </a:tcPr>
                </a:tc>
                <a:tc>
                  <a:txBody>
                    <a:bodyPr/>
                    <a:lstStyle/>
                    <a:p>
                      <a:pPr>
                        <a:defRPr sz="1000" b="1">
                          <a:solidFill>
                            <a:srgbClr val="DC2626"/>
                          </a:solidFill>
                          <a:latin typeface="Arial"/>
                        </a:defRPr>
                      </a:pPr>
                      <a:r>
                        <a:t>0.4181</a:t>
                      </a:r>
                    </a:p>
                  </a:txBody>
                  <a:tcPr>
                    <a:solidFill>
                      <a:srgbClr val="FEF2F2"/>
                    </a:solidFill>
                  </a:tcPr>
                </a:tc>
                <a:tc>
                  <a:txBody>
                    <a:bodyPr/>
                    <a:lstStyle/>
                    <a:p>
                      <a:pPr>
                        <a:defRPr sz="1000" b="1">
                          <a:solidFill>
                            <a:srgbClr val="DC2626"/>
                          </a:solidFill>
                          <a:latin typeface="Arial"/>
                        </a:defRPr>
                      </a:pPr>
                      <a:r>
                        <a:t>-0.1478 (-14.8 pts) [COLLAPSE]</a:t>
                      </a:r>
                    </a:p>
                  </a:txBody>
                  <a:tcPr>
                    <a:solidFill>
                      <a:srgbClr val="FEF2F2"/>
                    </a:solidFill>
                  </a:tcPr>
                </a:tc>
              </a:tr>
              <a:tr h="402336">
                <a:tc>
                  <a:txBody>
                    <a:bodyPr/>
                    <a:lstStyle/>
                    <a:p>
                      <a:pPr>
                        <a:defRPr sz="1000">
                          <a:solidFill>
                            <a:srgbClr val="0F172A"/>
                          </a:solidFill>
                          <a:latin typeface="Arial"/>
                        </a:defRPr>
                      </a:pPr>
                      <a:r>
                        <a:t>M3C2-Style (Calibrated)</a:t>
                      </a:r>
                    </a:p>
                  </a:txBody>
                  <a:tcPr>
                    <a:solidFill>
                      <a:srgbClr val="F8FAFC"/>
                    </a:solidFill>
                  </a:tcPr>
                </a:tc>
                <a:tc>
                  <a:txBody>
                    <a:bodyPr/>
                    <a:lstStyle/>
                    <a:p>
                      <a:pPr>
                        <a:defRPr sz="1000">
                          <a:solidFill>
                            <a:srgbClr val="0F172A"/>
                          </a:solidFill>
                          <a:latin typeface="Arial"/>
                        </a:defRPr>
                      </a:pPr>
                      <a:r>
                        <a:t>0.4142</a:t>
                      </a:r>
                    </a:p>
                  </a:txBody>
                  <a:tcPr>
                    <a:solidFill>
                      <a:srgbClr val="F8FAFC"/>
                    </a:solidFill>
                  </a:tcPr>
                </a:tc>
                <a:tc>
                  <a:txBody>
                    <a:bodyPr/>
                    <a:lstStyle/>
                    <a:p>
                      <a:pPr>
                        <a:defRPr sz="1000">
                          <a:solidFill>
                            <a:srgbClr val="0F172A"/>
                          </a:solidFill>
                          <a:latin typeface="Arial"/>
                        </a:defRPr>
                      </a:pPr>
                      <a:r>
                        <a:t>0.4250</a:t>
                      </a:r>
                    </a:p>
                  </a:txBody>
                  <a:tcPr>
                    <a:solidFill>
                      <a:srgbClr val="F8FAFC"/>
                    </a:solidFill>
                  </a:tcPr>
                </a:tc>
                <a:tc>
                  <a:txBody>
                    <a:bodyPr/>
                    <a:lstStyle/>
                    <a:p>
                      <a:pPr>
                        <a:defRPr sz="1000">
                          <a:solidFill>
                            <a:srgbClr val="0F172A"/>
                          </a:solidFill>
                          <a:latin typeface="Arial"/>
                        </a:defRPr>
                      </a:pPr>
                      <a:r>
                        <a:t>0.4235</a:t>
                      </a:r>
                    </a:p>
                  </a:txBody>
                  <a:tcPr>
                    <a:solidFill>
                      <a:srgbClr val="F8FAFC"/>
                    </a:solidFill>
                  </a:tcPr>
                </a:tc>
                <a:tc>
                  <a:txBody>
                    <a:bodyPr/>
                    <a:lstStyle/>
                    <a:p>
                      <a:pPr>
                        <a:defRPr sz="1000">
                          <a:solidFill>
                            <a:srgbClr val="0F172A"/>
                          </a:solidFill>
                          <a:latin typeface="Arial"/>
                        </a:defRPr>
                      </a:pPr>
                      <a:r>
                        <a:t>+0.0093 (Stagnant low score)</a:t>
                      </a:r>
                    </a:p>
                  </a:txBody>
                  <a:tcPr>
                    <a:solidFill>
                      <a:srgbClr val="F8FAFC"/>
                    </a:solidFill>
                  </a:tcPr>
                </a:tc>
              </a:tr>
            </a:tbl>
          </a:graphicData>
        </a:graphic>
      </p:graphicFrame>
      <p:sp>
        <p:nvSpPr>
          <p:cNvPr id="5" name="Rounded Rectangle 4"/>
          <p:cNvSpPr/>
          <p:nvPr/>
        </p:nvSpPr>
        <p:spPr>
          <a:xfrm>
            <a:off x="731520" y="3840480"/>
            <a:ext cx="5212080" cy="2377440"/>
          </a:xfrm>
          <a:prstGeom prst="roundRect">
            <a:avLst/>
          </a:prstGeom>
          <a:solidFill>
            <a:srgbClr val="F8FAFC"/>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DC2626"/>
                </a:solidFill>
              </a:defRPr>
            </a:pPr>
            <a:r>
              <a:t>Why C2C Collapses Under Combined Stress (-14.8 pts)</a:t>
            </a:r>
          </a:p>
          <a:p>
            <a:pPr>
              <a:spcBef>
                <a:spcPts val="400"/>
              </a:spcBef>
              <a:defRPr sz="950">
                <a:solidFill>
                  <a:srgbClr val="0F172A"/>
                </a:solidFill>
              </a:defRPr>
            </a:pPr>
            <a:r>
              <a:t>• Rigid Threshold Vulnerability: When translation offset reaches 20 cm, every static wall is shifted beyond the 7.5 cm threshold.</a:t>
            </a:r>
            <a:br/>
            <a:r>
              <a:t>• Nearest-neighbor distances explode, marking virtually the ENTIRE construction site as 'Changed'.</a:t>
            </a:r>
            <a:br/>
            <a:r>
              <a:t>• Precision plummets to near zero, rendering C2C entirely useless for real field drone/mobile scans.</a:t>
            </a:r>
          </a:p>
        </p:txBody>
      </p:sp>
      <p:sp>
        <p:nvSpPr>
          <p:cNvPr id="6" name="Rounded Rectangle 5"/>
          <p:cNvSpPr/>
          <p:nvPr/>
        </p:nvSpPr>
        <p:spPr>
          <a:xfrm>
            <a:off x="6217920" y="3840480"/>
            <a:ext cx="5212080" cy="2377440"/>
          </a:xfrm>
          <a:prstGeom prst="roundRect">
            <a:avLst/>
          </a:prstGeom>
          <a:solidFill>
            <a:srgbClr val="F8FAFC"/>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F766E"/>
                </a:solidFill>
              </a:defRPr>
            </a:pPr>
            <a:r>
              <a:t>Why V2 Deep Learning Survives (+20.0 pt Lead Over C2C!)</a:t>
            </a:r>
          </a:p>
          <a:p>
            <a:pPr>
              <a:spcBef>
                <a:spcPts val="400"/>
              </a:spcBef>
              <a:defRPr sz="950">
                <a:solidFill>
                  <a:srgbClr val="0F172A"/>
                </a:solidFill>
              </a:defRPr>
            </a:pPr>
            <a:r>
              <a:t>• Contextual Invariance: Siamese PointNet learns spatial shape signatures (planes, edges, corners) rather than bare scalar distance.</a:t>
            </a:r>
            <a:br/>
            <a:r>
              <a:t>• Multiscale aggregation ($r=0.60$ m) retains structural context across sparse voids.</a:t>
            </a:r>
            <a:br/>
            <a:r>
              <a:t>• Under Combined Large Stress, V2 retains 0.6176 Macro F1 (only dropping 3.8 pts), outperforming C2C (0.4181) by a massive +20.0 points!</a:t>
            </a:r>
          </a:p>
        </p:txBody>
      </p:sp>
      <p:sp>
        <p:nvSpPr>
          <p:cNvPr id="7" name="TextBox 6"/>
          <p:cNvSpPr txBox="1"/>
          <p:nvPr/>
        </p:nvSpPr>
        <p:spPr>
          <a:xfrm>
            <a:off x="731520" y="6446520"/>
            <a:ext cx="10698480" cy="274320"/>
          </a:xfrm>
          <a:prstGeom prst="rect">
            <a:avLst/>
          </a:prstGeom>
          <a:noFill/>
        </p:spPr>
        <p:txBody>
          <a:bodyPr wrap="none" lIns="0" tIns="0" rIns="0" bIns="0">
            <a:spAutoFit/>
          </a:bodyPr>
          <a:lstStyle/>
          <a:p>
            <a:pPr>
              <a:defRPr sz="1000">
                <a:solidFill>
                  <a:srgbClr val="475569"/>
                </a:solidFill>
                <a:latin typeface="Arial"/>
              </a:defRPr>
            </a:pPr>
            <a:r>
              <a:t>IIT Madras  •  Dept. of Civil Engineering  •  Computer Vision for Construction Engineering (CV5570)    |    Slide 9 of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CV5570 FINAL PRESENTATION  •  2 NOVEMBER 2026</a:t>
            </a:r>
          </a:p>
        </p:txBody>
      </p:sp>
      <p:sp>
        <p:nvSpPr>
          <p:cNvPr id="3" name="TextBox 2"/>
          <p:cNvSpPr txBox="1"/>
          <p:nvPr/>
        </p:nvSpPr>
        <p:spPr>
          <a:xfrm>
            <a:off x="731520" y="685800"/>
            <a:ext cx="10698480" cy="594360"/>
          </a:xfrm>
          <a:prstGeom prst="rect">
            <a:avLst/>
          </a:prstGeom>
          <a:noFill/>
        </p:spPr>
        <p:txBody>
          <a:bodyPr wrap="square" lIns="0" tIns="0" rIns="0" bIns="0">
            <a:spAutoFit/>
          </a:bodyPr>
          <a:lstStyle/>
          <a:p>
            <a:pPr>
              <a:defRPr sz="2400" b="1">
                <a:solidFill>
                  <a:srgbClr val="0F172A"/>
                </a:solidFill>
                <a:latin typeface="Arial"/>
              </a:defRPr>
            </a:pPr>
            <a:r>
              <a:t>Connecting Points to Construction: Change Region Clustering</a:t>
            </a:r>
          </a:p>
        </p:txBody>
      </p:sp>
      <p:pic>
        <p:nvPicPr>
          <p:cNvPr id="4" name="Picture 3" descr="pair_01_regions.png"/>
          <p:cNvPicPr>
            <a:picLocks noChangeAspect="1"/>
          </p:cNvPicPr>
          <p:nvPr/>
        </p:nvPicPr>
        <p:blipFill>
          <a:blip r:embed="rId2"/>
          <a:stretch>
            <a:fillRect/>
          </a:stretch>
        </p:blipFill>
        <p:spPr>
          <a:xfrm>
            <a:off x="731520" y="1463040"/>
            <a:ext cx="5486400" cy="4663440"/>
          </a:xfrm>
          <a:prstGeom prst="rect">
            <a:avLst/>
          </a:prstGeom>
        </p:spPr>
      </p:pic>
      <p:sp>
        <p:nvSpPr>
          <p:cNvPr id="5" name="Rounded Rectangle 4"/>
          <p:cNvSpPr/>
          <p:nvPr/>
        </p:nvSpPr>
        <p:spPr>
          <a:xfrm>
            <a:off x="6492240" y="1463040"/>
            <a:ext cx="4937760" cy="4663440"/>
          </a:xfrm>
          <a:prstGeom prst="roundRect">
            <a:avLst/>
          </a:prstGeom>
          <a:solidFill>
            <a:srgbClr val="F8FAFC"/>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E3A8A"/>
                </a:solidFill>
              </a:defRPr>
            </a:pPr>
            <a:r>
              <a:t>From Unstructured Points to Physical Work Items</a:t>
            </a:r>
          </a:p>
          <a:p>
            <a:pPr>
              <a:spcBef>
                <a:spcPts val="600"/>
              </a:spcBef>
              <a:defRPr sz="1050">
                <a:solidFill>
                  <a:srgbClr val="0F172A"/>
                </a:solidFill>
              </a:defRPr>
            </a:pPr>
            <a:r>
              <a:t>• The Civil Engineering Disconnect:</a:t>
            </a:r>
            <a:br/>
            <a:r>
              <a:t>  - Construction project managers do not manage individual LiDAR points $(x,y,z)$.</a:t>
            </a:r>
            <a:br/>
            <a:r>
              <a:t>  - They manage physical building components: columns, slabs, formwork, scaffolding, earth piles.</a:t>
            </a:r>
            <a:br/>
            <a:br/>
            <a:r>
              <a:t>• Spatial Connected-Component Clustering:</a:t>
            </a:r>
            <a:br/>
            <a:r>
              <a:t>  - Grouped 75,000 positive predicted cores into discrete connected spatial clusters.</a:t>
            </a:r>
            <a:br/>
            <a:r>
              <a:t>  - Extracted 191 Valid Construction Change Regions across the site:</a:t>
            </a:r>
            <a:br/>
            <a:r>
              <a:t>    * 80 Candidate Added Regions (e.g. steel stanchions, shelter canopy framing, bike racks).</a:t>
            </a:r>
            <a:br/>
            <a:r>
              <a:t>    * 111 Candidate Removed Regions (e.g. earth trenching, excavated soil heaps, stripped formwork panels).</a:t>
            </a:r>
            <a:br/>
            <a:br/>
            <a:r>
              <a:t>• Automated Geometric Property Extraction:</a:t>
            </a:r>
            <a:br/>
            <a:r>
              <a:t>  - Computes 3D oriented bounding boxes, centroids, volumes, and vertical extents for each cluster, directly enabling automated progress takeoff.</a:t>
            </a:r>
          </a:p>
        </p:txBody>
      </p:sp>
      <p:sp>
        <p:nvSpPr>
          <p:cNvPr id="6" name="TextBox 5"/>
          <p:cNvSpPr txBox="1"/>
          <p:nvPr/>
        </p:nvSpPr>
        <p:spPr>
          <a:xfrm>
            <a:off x="731520" y="6446520"/>
            <a:ext cx="10698480" cy="274320"/>
          </a:xfrm>
          <a:prstGeom prst="rect">
            <a:avLst/>
          </a:prstGeom>
          <a:noFill/>
        </p:spPr>
        <p:txBody>
          <a:bodyPr wrap="none" lIns="0" tIns="0" rIns="0" bIns="0">
            <a:spAutoFit/>
          </a:bodyPr>
          <a:lstStyle/>
          <a:p>
            <a:pPr>
              <a:defRPr sz="1000">
                <a:solidFill>
                  <a:srgbClr val="475569"/>
                </a:solidFill>
                <a:latin typeface="Arial"/>
              </a:defRPr>
            </a:pPr>
            <a:r>
              <a:t>IIT Madras  •  Dept. of Civil Engineering  •  Computer Vision for Construction Engineering (CV5570)    |    Slide 10 of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CV5570 FINAL PRESENTATION  •  2 NOVEMBER 2026</a:t>
            </a:r>
          </a:p>
        </p:txBody>
      </p:sp>
      <p:sp>
        <p:nvSpPr>
          <p:cNvPr id="3" name="TextBox 2"/>
          <p:cNvSpPr txBox="1"/>
          <p:nvPr/>
        </p:nvSpPr>
        <p:spPr>
          <a:xfrm>
            <a:off x="731520" y="685800"/>
            <a:ext cx="10698480" cy="594360"/>
          </a:xfrm>
          <a:prstGeom prst="rect">
            <a:avLst/>
          </a:prstGeom>
          <a:noFill/>
        </p:spPr>
        <p:txBody>
          <a:bodyPr wrap="square" lIns="0" tIns="0" rIns="0" bIns="0">
            <a:spAutoFit/>
          </a:bodyPr>
          <a:lstStyle/>
          <a:p>
            <a:pPr>
              <a:defRPr sz="2400" b="1">
                <a:solidFill>
                  <a:srgbClr val="0F172A"/>
                </a:solidFill>
                <a:latin typeface="Arial"/>
              </a:defRPr>
            </a:pPr>
            <a:r>
              <a:t>Multi-Modal Evidence: LiDAR Intensity Negative Control</a:t>
            </a:r>
          </a:p>
        </p:txBody>
      </p:sp>
      <p:sp>
        <p:nvSpPr>
          <p:cNvPr id="4" name="Rounded Rectangle 3"/>
          <p:cNvSpPr/>
          <p:nvPr/>
        </p:nvSpPr>
        <p:spPr>
          <a:xfrm>
            <a:off x="731520" y="1463040"/>
            <a:ext cx="5120640" cy="4572000"/>
          </a:xfrm>
          <a:prstGeom prst="roundRect">
            <a:avLst/>
          </a:prstGeom>
          <a:solidFill>
            <a:srgbClr val="F8FAFC"/>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0F766E"/>
                </a:solidFill>
              </a:defRPr>
            </a:pPr>
            <a:r>
              <a:t>LiDAR Intensity &amp; Shuffled Negative Control</a:t>
            </a:r>
          </a:p>
          <a:p>
            <a:pPr>
              <a:spcBef>
                <a:spcPts val="800"/>
              </a:spcBef>
              <a:defRPr sz="1050">
                <a:solidFill>
                  <a:srgbClr val="0F172A"/>
                </a:solidFill>
              </a:defRPr>
            </a:pPr>
            <a:r>
              <a:t>• Multi-Modal Hypothesis:</a:t>
            </a:r>
            <a:br/>
            <a:r>
              <a:t>  - Does LiDAR return intensity (reflectance) help detect material changes (e.g., concrete vs. asphalt vs. steel)?</a:t>
            </a:r>
            <a:br/>
            <a:br/>
            <a:r>
              <a:t>• The Rigorous Experimental Design:</a:t>
            </a:r>
            <a:br/>
            <a:r>
              <a:t>  - Evaluated matched networks with normalized intensity features.</a:t>
            </a:r>
            <a:br/>
            <a:r>
              <a:t>  - Formulated a Shuffled Intensity Negative Control (permuting intensity values while preserving spatial $(x,y,z)$ coordinates).</a:t>
            </a:r>
            <a:br/>
            <a:br/>
            <a:r>
              <a:t>• Measured Validation F1 Scores:</a:t>
            </a:r>
            <a:br/>
            <a:r>
              <a:t>  - Pure 3D Geometry: 0.7510</a:t>
            </a:r>
            <a:br/>
            <a:r>
              <a:t>  - Geometry + Core Intensity: 0.7560 (+0.0050)</a:t>
            </a:r>
            <a:br/>
            <a:r>
              <a:t>  - Shuffled Intensity Negative Control: 0.7510</a:t>
            </a:r>
            <a:br/>
            <a:br/>
            <a:r>
              <a:t>• Key Scientific Takeaway:</a:t>
            </a:r>
            <a:br/>
            <a:r>
              <a:t>  - Intensity provides negligible marginal improvement (+0.005) and fails the strict +0.01 promotion gate.</a:t>
            </a:r>
            <a:br/>
            <a:r>
              <a:t>  - Spatial geometric context accounts for &gt;98% of change detection power, confirming that 3D structural geometry is the primary invariant.</a:t>
            </a:r>
          </a:p>
        </p:txBody>
      </p:sp>
      <p:sp>
        <p:nvSpPr>
          <p:cNvPr id="5" name="Rounded Rectangle 4"/>
          <p:cNvSpPr/>
          <p:nvPr/>
        </p:nvSpPr>
        <p:spPr>
          <a:xfrm>
            <a:off x="6217920" y="1463040"/>
            <a:ext cx="5212080" cy="4572000"/>
          </a:xfrm>
          <a:prstGeom prst="roundRect">
            <a:avLst/>
          </a:prstGeom>
          <a:solidFill>
            <a:srgbClr val="F8FAFC"/>
          </a:solidFill>
          <a:ln w="1905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A580C"/>
                </a:solidFill>
              </a:defRPr>
            </a:pPr>
            <a:r>
              <a:t>Neural &amp; Geometric Evidence Fusion</a:t>
            </a:r>
          </a:p>
          <a:p>
            <a:pPr>
              <a:spcBef>
                <a:spcPts val="800"/>
              </a:spcBef>
              <a:defRPr sz="1050">
                <a:solidFill>
                  <a:srgbClr val="0F172A"/>
                </a:solidFill>
              </a:defRPr>
            </a:pPr>
            <a:r>
              <a:t>• Combining Deep Learning + Geometric Priors:</a:t>
            </a:r>
            <a:br/>
            <a:r>
              <a:t>  - Can neural network confidence be fused with classical distance vetoes to eliminate residual false alarms?</a:t>
            </a:r>
            <a:br/>
            <a:br/>
            <a:r>
              <a:t>• Tested Fusion Mechanisms:</a:t>
            </a:r>
            <a:br/>
            <a:r>
              <a:t>  - Distance Veto: Overriding neural positive predictions when Euclidean nearest-neighbor distance is below physical noise floors ($d &lt; 2$ cm).</a:t>
            </a:r>
            <a:br/>
            <a:r>
              <a:t>  - Score Fusion: Linear and non-linear blending of PointNet logits with M3C2 cylinder signed distances.</a:t>
            </a:r>
            <a:br/>
            <a:br/>
            <a:r>
              <a:t>• Measured Outcomes:</a:t>
            </a:r>
            <a:br/>
            <a:r>
              <a:t>  - Validation F1 increased slightly to 0.7696 (+0.0088).</a:t>
            </a:r>
            <a:br/>
            <a:r>
              <a:t>  - However, missed the declared +0.010 threshold for promoting an ensemble to primary workflow.</a:t>
            </a:r>
            <a:br/>
            <a:br/>
            <a:r>
              <a:t>• Academic Integrity:</a:t>
            </a:r>
            <a:br/>
            <a:r>
              <a:t>  - Rather than cherry-picking complex ensembles, we retain the clean, single-stream V2 Multiscale Network as our authoritative primary model.</a:t>
            </a:r>
          </a:p>
        </p:txBody>
      </p:sp>
      <p:sp>
        <p:nvSpPr>
          <p:cNvPr id="6" name="TextBox 5"/>
          <p:cNvSpPr txBox="1"/>
          <p:nvPr/>
        </p:nvSpPr>
        <p:spPr>
          <a:xfrm>
            <a:off x="731520" y="6446520"/>
            <a:ext cx="10698480" cy="274320"/>
          </a:xfrm>
          <a:prstGeom prst="rect">
            <a:avLst/>
          </a:prstGeom>
          <a:noFill/>
        </p:spPr>
        <p:txBody>
          <a:bodyPr wrap="none" lIns="0" tIns="0" rIns="0" bIns="0">
            <a:spAutoFit/>
          </a:bodyPr>
          <a:lstStyle/>
          <a:p>
            <a:pPr>
              <a:defRPr sz="1000">
                <a:solidFill>
                  <a:srgbClr val="475569"/>
                </a:solidFill>
                <a:latin typeface="Arial"/>
              </a:defRPr>
            </a:pPr>
            <a:r>
              <a:t>IIT Madras  •  Dept. of Civil Engineering  •  Computer Vision for Construction Engineering (CV5570)    |    Slide 11 of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CV5570 FINAL PRESENTATION  •  2 NOVEMBER 2026</a:t>
            </a:r>
          </a:p>
        </p:txBody>
      </p:sp>
      <p:sp>
        <p:nvSpPr>
          <p:cNvPr id="3" name="TextBox 2"/>
          <p:cNvSpPr txBox="1"/>
          <p:nvPr/>
        </p:nvSpPr>
        <p:spPr>
          <a:xfrm>
            <a:off x="731520" y="685800"/>
            <a:ext cx="10698480" cy="594360"/>
          </a:xfrm>
          <a:prstGeom prst="rect">
            <a:avLst/>
          </a:prstGeom>
          <a:noFill/>
        </p:spPr>
        <p:txBody>
          <a:bodyPr wrap="square" lIns="0" tIns="0" rIns="0" bIns="0">
            <a:spAutoFit/>
          </a:bodyPr>
          <a:lstStyle/>
          <a:p>
            <a:pPr>
              <a:defRPr sz="2400" b="1">
                <a:solidFill>
                  <a:srgbClr val="0F172A"/>
                </a:solidFill>
                <a:latin typeface="Arial"/>
              </a:defRPr>
            </a:pPr>
            <a:r>
              <a:t>Field Deployment: Qualitative Evaluation on ConSLAM Mobile Scans</a:t>
            </a:r>
          </a:p>
        </p:txBody>
      </p:sp>
      <p:pic>
        <p:nvPicPr>
          <p:cNvPr id="4" name="Picture 3" descr="conslam_qualitative.png"/>
          <p:cNvPicPr>
            <a:picLocks noChangeAspect="1"/>
          </p:cNvPicPr>
          <p:nvPr/>
        </p:nvPicPr>
        <p:blipFill>
          <a:blip r:embed="rId2"/>
          <a:stretch>
            <a:fillRect/>
          </a:stretch>
        </p:blipFill>
        <p:spPr>
          <a:xfrm>
            <a:off x="731520" y="1463040"/>
            <a:ext cx="6400800" cy="2468880"/>
          </a:xfrm>
          <a:prstGeom prst="rect">
            <a:avLst/>
          </a:prstGeom>
        </p:spPr>
      </p:pic>
      <p:pic>
        <p:nvPicPr>
          <p:cNvPr id="5" name="Picture 4" descr="conslam_trajectory.png"/>
          <p:cNvPicPr>
            <a:picLocks noChangeAspect="1"/>
          </p:cNvPicPr>
          <p:nvPr/>
        </p:nvPicPr>
        <p:blipFill>
          <a:blip r:embed="rId3"/>
          <a:stretch>
            <a:fillRect/>
          </a:stretch>
        </p:blipFill>
        <p:spPr>
          <a:xfrm>
            <a:off x="7406640" y="1463040"/>
            <a:ext cx="4023360" cy="2468880"/>
          </a:xfrm>
          <a:prstGeom prst="rect">
            <a:avLst/>
          </a:prstGeom>
        </p:spPr>
      </p:pic>
      <p:sp>
        <p:nvSpPr>
          <p:cNvPr id="6" name="Rounded Rectangle 5"/>
          <p:cNvSpPr/>
          <p:nvPr/>
        </p:nvSpPr>
        <p:spPr>
          <a:xfrm>
            <a:off x="731520" y="4114800"/>
            <a:ext cx="10698480" cy="2011680"/>
          </a:xfrm>
          <a:prstGeom prst="roundRect">
            <a:avLst/>
          </a:prstGeom>
          <a:solidFill>
            <a:srgbClr val="F8FAFC"/>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E3A8A"/>
                </a:solidFill>
              </a:defRPr>
            </a:pPr>
            <a:r>
              <a:t>ConSLAM Qualitative Inspection &amp; Mobile SLAM Realities:</a:t>
            </a:r>
          </a:p>
          <a:p>
            <a:pPr>
              <a:spcBef>
                <a:spcPts val="400"/>
              </a:spcBef>
              <a:defRPr sz="1050">
                <a:solidFill>
                  <a:srgbClr val="0F172A"/>
                </a:solidFill>
              </a:defRPr>
            </a:pPr>
            <a:r>
              <a:t>• Dataset Setup: Sequence 3 handheld LiDAR sweeps (12,816 &amp; 12,935 pts, 4.84 s apart) with normalized 6-DOF poses, compared against 104.5M pt TLS ground truth.</a:t>
            </a:r>
            <a:br/>
            <a:r>
              <a:t>• Registration Findings: Raw unposed median nearest-neighbor gap is 39.5 cm; applying SLAM poses reduces median gap to 8.1 cm.</a:t>
            </a:r>
            <a:br/>
            <a:r>
              <a:t>• The 8.1 cm Gap Insight: Over 54.8% of static points still exhibit nearest-neighbor distances &gt;7.5 cm due to handheld trajectory motion and viewpoint occlusion!</a:t>
            </a:r>
            <a:br/>
            <a:r>
              <a:t>• Crucial Field Conclusion: Handheld mobile SLAM point clouds cannot be processed using naive distance thresholds (C2C); robust deep cross-scan learning is indispensable for mobile construction robotics.</a:t>
            </a:r>
          </a:p>
        </p:txBody>
      </p:sp>
      <p:sp>
        <p:nvSpPr>
          <p:cNvPr id="7" name="TextBox 6"/>
          <p:cNvSpPr txBox="1"/>
          <p:nvPr/>
        </p:nvSpPr>
        <p:spPr>
          <a:xfrm>
            <a:off x="731520" y="6446520"/>
            <a:ext cx="10698480" cy="274320"/>
          </a:xfrm>
          <a:prstGeom prst="rect">
            <a:avLst/>
          </a:prstGeom>
          <a:noFill/>
        </p:spPr>
        <p:txBody>
          <a:bodyPr wrap="none" lIns="0" tIns="0" rIns="0" bIns="0">
            <a:spAutoFit/>
          </a:bodyPr>
          <a:lstStyle/>
          <a:p>
            <a:pPr>
              <a:defRPr sz="1000">
                <a:solidFill>
                  <a:srgbClr val="475569"/>
                </a:solidFill>
                <a:latin typeface="Arial"/>
              </a:defRPr>
            </a:pPr>
            <a:r>
              <a:t>IIT Madras  •  Dept. of Civil Engineering  •  Computer Vision for Construction Engineering (CV5570)    |    Slide 12 of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CV5570 FINAL PRESENTATION  •  2 NOVEMBER 2026</a:t>
            </a:r>
          </a:p>
        </p:txBody>
      </p:sp>
      <p:sp>
        <p:nvSpPr>
          <p:cNvPr id="3" name="TextBox 2"/>
          <p:cNvSpPr txBox="1"/>
          <p:nvPr/>
        </p:nvSpPr>
        <p:spPr>
          <a:xfrm>
            <a:off x="731520" y="685800"/>
            <a:ext cx="10698480" cy="594360"/>
          </a:xfrm>
          <a:prstGeom prst="rect">
            <a:avLst/>
          </a:prstGeom>
          <a:noFill/>
        </p:spPr>
        <p:txBody>
          <a:bodyPr wrap="square" lIns="0" tIns="0" rIns="0" bIns="0">
            <a:spAutoFit/>
          </a:bodyPr>
          <a:lstStyle/>
          <a:p>
            <a:pPr>
              <a:defRPr sz="2400" b="1">
                <a:solidFill>
                  <a:srgbClr val="0F172A"/>
                </a:solidFill>
                <a:latin typeface="Arial"/>
              </a:defRPr>
            </a:pPr>
            <a:r>
              <a:t>Civil Engineering Impact: 4D BIM &amp; Automated Progress Takeoff</a:t>
            </a:r>
          </a:p>
        </p:txBody>
      </p:sp>
      <p:sp>
        <p:nvSpPr>
          <p:cNvPr id="4" name="Rounded Rectangle 3"/>
          <p:cNvSpPr/>
          <p:nvPr/>
        </p:nvSpPr>
        <p:spPr>
          <a:xfrm>
            <a:off x="731520" y="1463040"/>
            <a:ext cx="3429000" cy="4572000"/>
          </a:xfrm>
          <a:prstGeom prst="roundRect">
            <a:avLst/>
          </a:prstGeom>
          <a:solidFill>
            <a:srgbClr val="F8FAFC"/>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E3A8A"/>
                </a:solidFill>
              </a:defRPr>
            </a:pPr>
            <a:r>
              <a:t>1. Scan-to-BIM Reconciliation</a:t>
            </a:r>
          </a:p>
          <a:p>
            <a:pPr>
              <a:spcBef>
                <a:spcPts val="800"/>
              </a:spcBef>
              <a:defRPr sz="1050">
                <a:solidFill>
                  <a:srgbClr val="0F172A"/>
                </a:solidFill>
              </a:defRPr>
            </a:pPr>
            <a:r>
              <a:t>• Extracted 3D change regions map directly to IFC building objects (columns, slabs, beams, walls).</a:t>
            </a:r>
            <a:br/>
            <a:r>
              <a:t>• Reconciles actual point cloud geometry against planned 4D Revit / Navisworks models.</a:t>
            </a:r>
            <a:br/>
            <a:r>
              <a:t>• Flags structural out-of-tolerance deviations and contractor construction discrepancies automatically.</a:t>
            </a:r>
          </a:p>
        </p:txBody>
      </p:sp>
      <p:sp>
        <p:nvSpPr>
          <p:cNvPr id="5" name="Rounded Rectangle 4"/>
          <p:cNvSpPr/>
          <p:nvPr/>
        </p:nvSpPr>
        <p:spPr>
          <a:xfrm>
            <a:off x="4343400" y="1463040"/>
            <a:ext cx="3429000" cy="4572000"/>
          </a:xfrm>
          <a:prstGeom prst="roundRect">
            <a:avLst/>
          </a:prstGeom>
          <a:solidFill>
            <a:srgbClr val="F8FAFC"/>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0F766E"/>
                </a:solidFill>
              </a:defRPr>
            </a:pPr>
            <a:r>
              <a:t>2. Automated Earned Value Management (EVM)</a:t>
            </a:r>
          </a:p>
          <a:p>
            <a:pPr>
              <a:spcBef>
                <a:spcPts val="800"/>
              </a:spcBef>
              <a:defRPr sz="1050">
                <a:solidFill>
                  <a:srgbClr val="0F172A"/>
                </a:solidFill>
              </a:defRPr>
            </a:pPr>
            <a:r>
              <a:t>• Converts volumetric change clusters into installed material quantities ($m^3$ concrete, tons steel).</a:t>
            </a:r>
            <a:br/>
            <a:r>
              <a:t>• Computes automated Schedule Performance Index (SPI) and Cost Performance Index (CPI).</a:t>
            </a:r>
            <a:br/>
            <a:r>
              <a:t>• Eliminates manual, error-prone site quantity takeoffs with objective, laser-verified progress logs.</a:t>
            </a:r>
          </a:p>
        </p:txBody>
      </p:sp>
      <p:sp>
        <p:nvSpPr>
          <p:cNvPr id="6" name="Rounded Rectangle 5"/>
          <p:cNvSpPr/>
          <p:nvPr/>
        </p:nvSpPr>
        <p:spPr>
          <a:xfrm>
            <a:off x="7955280" y="1463040"/>
            <a:ext cx="3429000" cy="4572000"/>
          </a:xfrm>
          <a:prstGeom prst="roundRect">
            <a:avLst/>
          </a:prstGeom>
          <a:solidFill>
            <a:srgbClr val="F8FAFC"/>
          </a:solidFill>
          <a:ln w="1905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A580C"/>
                </a:solidFill>
              </a:defRPr>
            </a:pPr>
            <a:r>
              <a:t>3. Site Safety &amp; Temporary Works</a:t>
            </a:r>
          </a:p>
          <a:p>
            <a:pPr>
              <a:spcBef>
                <a:spcPts val="800"/>
              </a:spcBef>
              <a:defRPr sz="1050">
                <a:solidFill>
                  <a:srgbClr val="0F172A"/>
                </a:solidFill>
              </a:defRPr>
            </a:pPr>
            <a:r>
              <a:t>• Detects timely installation and premature removal of safety guardrails, shoring, and formwork.</a:t>
            </a:r>
            <a:br/>
            <a:r>
              <a:t>• Verifies heavy equipment clearances and crane laydown footprint adherence over time.</a:t>
            </a:r>
            <a:br/>
            <a:r>
              <a:t>• Provides automated audit receipts for construction quality assurance and dispute resolution.</a:t>
            </a:r>
          </a:p>
        </p:txBody>
      </p:sp>
      <p:sp>
        <p:nvSpPr>
          <p:cNvPr id="7" name="TextBox 6"/>
          <p:cNvSpPr txBox="1"/>
          <p:nvPr/>
        </p:nvSpPr>
        <p:spPr>
          <a:xfrm>
            <a:off x="731520" y="6446520"/>
            <a:ext cx="10698480" cy="274320"/>
          </a:xfrm>
          <a:prstGeom prst="rect">
            <a:avLst/>
          </a:prstGeom>
          <a:noFill/>
        </p:spPr>
        <p:txBody>
          <a:bodyPr wrap="none" lIns="0" tIns="0" rIns="0" bIns="0">
            <a:spAutoFit/>
          </a:bodyPr>
          <a:lstStyle/>
          <a:p>
            <a:pPr>
              <a:defRPr sz="1000">
                <a:solidFill>
                  <a:srgbClr val="475569"/>
                </a:solidFill>
                <a:latin typeface="Arial"/>
              </a:defRPr>
            </a:pPr>
            <a:r>
              <a:t>IIT Madras  •  Dept. of Civil Engineering  •  Computer Vision for Construction Engineering (CV5570)    |    Slide 13 of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CV5570 FINAL PRESENTATION  •  2 NOVEMBER 2026</a:t>
            </a:r>
          </a:p>
        </p:txBody>
      </p:sp>
      <p:sp>
        <p:nvSpPr>
          <p:cNvPr id="3" name="TextBox 2"/>
          <p:cNvSpPr txBox="1"/>
          <p:nvPr/>
        </p:nvSpPr>
        <p:spPr>
          <a:xfrm>
            <a:off x="731520" y="685800"/>
            <a:ext cx="10698480" cy="594360"/>
          </a:xfrm>
          <a:prstGeom prst="rect">
            <a:avLst/>
          </a:prstGeom>
          <a:noFill/>
        </p:spPr>
        <p:txBody>
          <a:bodyPr wrap="square" lIns="0" tIns="0" rIns="0" bIns="0">
            <a:spAutoFit/>
          </a:bodyPr>
          <a:lstStyle/>
          <a:p>
            <a:pPr>
              <a:defRPr sz="2400" b="1">
                <a:solidFill>
                  <a:srgbClr val="0F172A"/>
                </a:solidFill>
                <a:latin typeface="Arial"/>
              </a:defRPr>
            </a:pPr>
            <a:r>
              <a:t>Conclusions, Verified Deliverables &amp; Team Attribution</a:t>
            </a:r>
          </a:p>
        </p:txBody>
      </p:sp>
      <p:sp>
        <p:nvSpPr>
          <p:cNvPr id="4" name="Rounded Rectangle 3"/>
          <p:cNvSpPr/>
          <p:nvPr/>
        </p:nvSpPr>
        <p:spPr>
          <a:xfrm>
            <a:off x="731520" y="1463040"/>
            <a:ext cx="5486400" cy="4572000"/>
          </a:xfrm>
          <a:prstGeom prst="roundRect">
            <a:avLst/>
          </a:prstGeom>
          <a:solidFill>
            <a:srgbClr val="F8FAFC"/>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E3A8A"/>
                </a:solidFill>
              </a:defRPr>
            </a:pPr>
            <a:r>
              <a:t>Summary of Key Scientific Findings</a:t>
            </a:r>
          </a:p>
          <a:p>
            <a:pPr>
              <a:spcBef>
                <a:spcPts val="600"/>
              </a:spcBef>
              <a:defRPr sz="1050">
                <a:solidFill>
                  <a:srgbClr val="0F172A"/>
                </a:solidFill>
              </a:defRPr>
            </a:pPr>
            <a:r>
              <a:t>1. Rigorous Problem Resolution: Overcame the ConSLAM ground truth dilemma via a dual-dataset benchmark strategy (MultiChange3D + ConSLAM).</a:t>
            </a:r>
            <a:br/>
            <a:br/>
            <a:r>
              <a:t>2. Clean Site Superiority: V2 Multiscale Cross-Scan Learning achieves 0.6537 Macro F1 (+8.8% over C2C; +39.1% over M3C2) across 30 pair-fold evaluations.</a:t>
            </a:r>
            <a:br/>
            <a:br/>
            <a:r>
              <a:t>3. Unrivaled Field Resilience: Under combined severe field stresses (20 cm translation, noise, sparsity), V2 retains 0.6176 Macro F1—a massive +20.0 percentage point lead over collapsing C2C (0.4181).</a:t>
            </a:r>
            <a:br/>
            <a:br/>
            <a:r>
              <a:t>4. Civil Component Takeoff: Clustered 75,000 positive cores into 191 physical change regions (80 additions, 111 removals) with full bounding geometry.</a:t>
            </a:r>
            <a:br/>
            <a:br/>
            <a:r>
              <a:t>5. Complete Pipeline Integrity: All 83 automated unit tests passing.</a:t>
            </a:r>
          </a:p>
        </p:txBody>
      </p:sp>
      <p:sp>
        <p:nvSpPr>
          <p:cNvPr id="5" name="Rounded Rectangle 4"/>
          <p:cNvSpPr/>
          <p:nvPr/>
        </p:nvSpPr>
        <p:spPr>
          <a:xfrm>
            <a:off x="6492240" y="1463040"/>
            <a:ext cx="4937760" cy="4572000"/>
          </a:xfrm>
          <a:prstGeom prst="roundRect">
            <a:avLst/>
          </a:prstGeom>
          <a:solidFill>
            <a:srgbClr val="F8FAFC"/>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0F766E"/>
                </a:solidFill>
              </a:defRPr>
            </a:pPr>
            <a:r>
              <a:t>Verified Artifacts &amp; Team Contributions</a:t>
            </a:r>
          </a:p>
          <a:p>
            <a:pPr>
              <a:spcBef>
                <a:spcPts val="600"/>
              </a:spcBef>
              <a:defRPr sz="1000">
                <a:solidFill>
                  <a:srgbClr val="0F172A"/>
                </a:solidFill>
              </a:defRPr>
            </a:pPr>
            <a:r>
              <a:t>• Deliverables in Repository (Branch complete-project-v2-final):</a:t>
            </a:r>
            <a:br/>
            <a:r>
              <a:t>  - Comprehensive Final Report (PDF &amp; Markdown)</a:t>
            </a:r>
            <a:br/>
            <a:r>
              <a:t>  - Full 14-Slide Presentation Deck (.pptx) &amp; Speaker Notes</a:t>
            </a:r>
            <a:br/>
            <a:r>
              <a:t>  - Interactive 3D WebGL Change Viewer (demo.html)</a:t>
            </a:r>
            <a:br/>
            <a:r>
              <a:t>  - Complete Model Checkpoints, Audit Receipts &amp; Metric CSVs</a:t>
            </a:r>
            <a:br/>
            <a:br/>
            <a:r>
              <a:t>• Equal Team Distribution (CV5570):</a:t>
            </a:r>
            <a:br/>
            <a:r>
              <a:t>  - Vishwanath Venugopal (CE23B124):</a:t>
            </a:r>
            <a:br/>
            <a:r>
              <a:t>    Geometric baseline auditing (C2C, M3C2), spatial fold partitioning, degradation test harness, ConSLAM inspection.</a:t>
            </a:r>
            <a:br/>
            <a:r>
              <a:t>  - Shaik Koduru Asif (CE23B114):</a:t>
            </a:r>
            <a:br/>
            <a:r>
              <a:t>    Deep multiscale learning architecture, candidate change region clustering, multi-modal intensity analysis, BIM progress integration.</a:t>
            </a:r>
            <a:br/>
            <a:br/>
            <a:r>
              <a:t>• GitHub: https://github.com/Gopal1909/Visioners_2.0</a:t>
            </a:r>
          </a:p>
        </p:txBody>
      </p:sp>
      <p:sp>
        <p:nvSpPr>
          <p:cNvPr id="6" name="TextBox 5"/>
          <p:cNvSpPr txBox="1"/>
          <p:nvPr/>
        </p:nvSpPr>
        <p:spPr>
          <a:xfrm>
            <a:off x="731520" y="6446520"/>
            <a:ext cx="10698480" cy="274320"/>
          </a:xfrm>
          <a:prstGeom prst="rect">
            <a:avLst/>
          </a:prstGeom>
          <a:noFill/>
        </p:spPr>
        <p:txBody>
          <a:bodyPr wrap="none" lIns="0" tIns="0" rIns="0" bIns="0">
            <a:spAutoFit/>
          </a:bodyPr>
          <a:lstStyle/>
          <a:p>
            <a:pPr>
              <a:defRPr sz="1000">
                <a:solidFill>
                  <a:srgbClr val="475569"/>
                </a:solidFill>
                <a:latin typeface="Arial"/>
              </a:defRPr>
            </a:pPr>
            <a:r>
              <a:t>IIT Madras  •  Dept. of Civil Engineering  •  Computer Vision for Construction Engineering (CV5570)    |    Slide 14 of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